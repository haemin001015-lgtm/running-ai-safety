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Paperlogy 3 Light" pitchFamily="2" charset="-127"/>
      <p:regular r:id="rId20"/>
    </p:embeddedFont>
    <p:embeddedFont>
      <p:font typeface="Paperlogy 4 Regular" pitchFamily="2" charset="-127"/>
      <p:regular r:id="rId21"/>
    </p:embeddedFont>
    <p:embeddedFont>
      <p:font typeface="Paperlogy 5 Medium" pitchFamily="2" charset="-127"/>
      <p:regular r:id="rId22"/>
    </p:embeddedFont>
    <p:embeddedFont>
      <p:font typeface="Paperlogy 6 SemiBold" pitchFamily="2" charset="-127"/>
      <p:regular r:id="rId23"/>
      <p:bold r:id="rId24"/>
    </p:embeddedFont>
    <p:embeddedFont>
      <p:font typeface="Paperlogy 7 Bold" pitchFamily="2" charset="-127"/>
      <p:bold r:id="rId25"/>
    </p:embeddedFont>
    <p:embeddedFont>
      <p:font typeface="Paperlogy 8 ExtraBold" pitchFamily="2" charset="-127"/>
      <p:bold r:id="rId26"/>
    </p:embeddedFont>
    <p:embeddedFont>
      <p:font typeface="Paperlogy 9 Black" pitchFamily="2" charset="-127"/>
      <p:bold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43"/>
  </p:normalViewPr>
  <p:slideViewPr>
    <p:cSldViewPr snapToGrid="0" snapToObjects="1">
      <p:cViewPr>
        <p:scale>
          <a:sx n="86" d="100"/>
          <a:sy n="86" d="100"/>
        </p:scale>
        <p:origin x="576" y="7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선"/>
          <p:cNvSpPr/>
          <p:nvPr/>
        </p:nvSpPr>
        <p:spPr>
          <a:xfrm>
            <a:off x="7381875" y="381000"/>
            <a:ext cx="0" cy="5994400"/>
          </a:xfrm>
          <a:custGeom>
            <a:avLst/>
            <a:gdLst/>
            <a:ahLst/>
            <a:cxnLst/>
            <a:rect l="l" t="t" r="r" b="b"/>
            <a:pathLst>
              <a:path h="5994400">
                <a:moveTo>
                  <a:pt x="0" y="0"/>
                </a:moveTo>
                <a:lnTo>
                  <a:pt x="0" y="599440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35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선"/>
          <p:cNvSpPr/>
          <p:nvPr/>
        </p:nvSpPr>
        <p:spPr>
          <a:xfrm>
            <a:off x="6731000" y="1130300"/>
            <a:ext cx="5207000" cy="0"/>
          </a:xfrm>
          <a:custGeom>
            <a:avLst/>
            <a:gdLst/>
            <a:ahLst/>
            <a:cxnLst/>
            <a:rect l="l" t="t" r="r" b="b"/>
            <a:pathLst>
              <a:path w="5207000">
                <a:moveTo>
                  <a:pt x="0" y="0"/>
                </a:moveTo>
                <a:lnTo>
                  <a:pt x="5207000" y="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35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선"/>
          <p:cNvSpPr/>
          <p:nvPr/>
        </p:nvSpPr>
        <p:spPr>
          <a:xfrm>
            <a:off x="8032750" y="381000"/>
            <a:ext cx="0" cy="5994400"/>
          </a:xfrm>
          <a:custGeom>
            <a:avLst/>
            <a:gdLst/>
            <a:ahLst/>
            <a:cxnLst/>
            <a:rect l="l" t="t" r="r" b="b"/>
            <a:pathLst>
              <a:path h="5994400">
                <a:moveTo>
                  <a:pt x="0" y="0"/>
                </a:moveTo>
                <a:lnTo>
                  <a:pt x="0" y="599440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35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선"/>
          <p:cNvSpPr/>
          <p:nvPr/>
        </p:nvSpPr>
        <p:spPr>
          <a:xfrm>
            <a:off x="6731000" y="1879600"/>
            <a:ext cx="5207000" cy="0"/>
          </a:xfrm>
          <a:custGeom>
            <a:avLst/>
            <a:gdLst/>
            <a:ahLst/>
            <a:cxnLst/>
            <a:rect l="l" t="t" r="r" b="b"/>
            <a:pathLst>
              <a:path w="5207000">
                <a:moveTo>
                  <a:pt x="0" y="0"/>
                </a:moveTo>
                <a:lnTo>
                  <a:pt x="5207000" y="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35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선"/>
          <p:cNvSpPr/>
          <p:nvPr/>
        </p:nvSpPr>
        <p:spPr>
          <a:xfrm>
            <a:off x="8683625" y="381000"/>
            <a:ext cx="0" cy="5994400"/>
          </a:xfrm>
          <a:custGeom>
            <a:avLst/>
            <a:gdLst/>
            <a:ahLst/>
            <a:cxnLst/>
            <a:rect l="l" t="t" r="r" b="b"/>
            <a:pathLst>
              <a:path h="5994400">
                <a:moveTo>
                  <a:pt x="0" y="0"/>
                </a:moveTo>
                <a:lnTo>
                  <a:pt x="0" y="599440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35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선"/>
          <p:cNvSpPr/>
          <p:nvPr/>
        </p:nvSpPr>
        <p:spPr>
          <a:xfrm>
            <a:off x="6731000" y="2628900"/>
            <a:ext cx="5207000" cy="0"/>
          </a:xfrm>
          <a:custGeom>
            <a:avLst/>
            <a:gdLst/>
            <a:ahLst/>
            <a:cxnLst/>
            <a:rect l="l" t="t" r="r" b="b"/>
            <a:pathLst>
              <a:path w="5207000">
                <a:moveTo>
                  <a:pt x="0" y="0"/>
                </a:moveTo>
                <a:lnTo>
                  <a:pt x="5207000" y="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35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선"/>
          <p:cNvSpPr/>
          <p:nvPr/>
        </p:nvSpPr>
        <p:spPr>
          <a:xfrm>
            <a:off x="9334500" y="381000"/>
            <a:ext cx="0" cy="5994400"/>
          </a:xfrm>
          <a:custGeom>
            <a:avLst/>
            <a:gdLst/>
            <a:ahLst/>
            <a:cxnLst/>
            <a:rect l="l" t="t" r="r" b="b"/>
            <a:pathLst>
              <a:path h="5994400">
                <a:moveTo>
                  <a:pt x="0" y="0"/>
                </a:moveTo>
                <a:lnTo>
                  <a:pt x="0" y="599440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35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선"/>
          <p:cNvSpPr/>
          <p:nvPr/>
        </p:nvSpPr>
        <p:spPr>
          <a:xfrm>
            <a:off x="6731000" y="3378200"/>
            <a:ext cx="5207000" cy="0"/>
          </a:xfrm>
          <a:custGeom>
            <a:avLst/>
            <a:gdLst/>
            <a:ahLst/>
            <a:cxnLst/>
            <a:rect l="l" t="t" r="r" b="b"/>
            <a:pathLst>
              <a:path w="5207000">
                <a:moveTo>
                  <a:pt x="0" y="0"/>
                </a:moveTo>
                <a:lnTo>
                  <a:pt x="5207000" y="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35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선"/>
          <p:cNvSpPr/>
          <p:nvPr/>
        </p:nvSpPr>
        <p:spPr>
          <a:xfrm>
            <a:off x="9985375" y="381000"/>
            <a:ext cx="0" cy="5994400"/>
          </a:xfrm>
          <a:custGeom>
            <a:avLst/>
            <a:gdLst/>
            <a:ahLst/>
            <a:cxnLst/>
            <a:rect l="l" t="t" r="r" b="b"/>
            <a:pathLst>
              <a:path h="5994400">
                <a:moveTo>
                  <a:pt x="0" y="0"/>
                </a:moveTo>
                <a:lnTo>
                  <a:pt x="0" y="599440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35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선"/>
          <p:cNvSpPr/>
          <p:nvPr/>
        </p:nvSpPr>
        <p:spPr>
          <a:xfrm>
            <a:off x="6731000" y="4127500"/>
            <a:ext cx="5207000" cy="0"/>
          </a:xfrm>
          <a:custGeom>
            <a:avLst/>
            <a:gdLst/>
            <a:ahLst/>
            <a:cxnLst/>
            <a:rect l="l" t="t" r="r" b="b"/>
            <a:pathLst>
              <a:path w="5207000">
                <a:moveTo>
                  <a:pt x="0" y="0"/>
                </a:moveTo>
                <a:lnTo>
                  <a:pt x="5207000" y="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35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선"/>
          <p:cNvSpPr/>
          <p:nvPr/>
        </p:nvSpPr>
        <p:spPr>
          <a:xfrm>
            <a:off x="10636250" y="381000"/>
            <a:ext cx="0" cy="5994400"/>
          </a:xfrm>
          <a:custGeom>
            <a:avLst/>
            <a:gdLst/>
            <a:ahLst/>
            <a:cxnLst/>
            <a:rect l="l" t="t" r="r" b="b"/>
            <a:pathLst>
              <a:path h="5994400">
                <a:moveTo>
                  <a:pt x="0" y="0"/>
                </a:moveTo>
                <a:lnTo>
                  <a:pt x="0" y="599440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35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선"/>
          <p:cNvSpPr/>
          <p:nvPr/>
        </p:nvSpPr>
        <p:spPr>
          <a:xfrm>
            <a:off x="6731000" y="4876800"/>
            <a:ext cx="5207000" cy="0"/>
          </a:xfrm>
          <a:custGeom>
            <a:avLst/>
            <a:gdLst/>
            <a:ahLst/>
            <a:cxnLst/>
            <a:rect l="l" t="t" r="r" b="b"/>
            <a:pathLst>
              <a:path w="5207000">
                <a:moveTo>
                  <a:pt x="0" y="0"/>
                </a:moveTo>
                <a:lnTo>
                  <a:pt x="5207000" y="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35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선"/>
          <p:cNvSpPr/>
          <p:nvPr/>
        </p:nvSpPr>
        <p:spPr>
          <a:xfrm>
            <a:off x="11287125" y="381000"/>
            <a:ext cx="0" cy="5994400"/>
          </a:xfrm>
          <a:custGeom>
            <a:avLst/>
            <a:gdLst/>
            <a:ahLst/>
            <a:cxnLst/>
            <a:rect l="l" t="t" r="r" b="b"/>
            <a:pathLst>
              <a:path h="5994400">
                <a:moveTo>
                  <a:pt x="0" y="0"/>
                </a:moveTo>
                <a:lnTo>
                  <a:pt x="0" y="599440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35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선"/>
          <p:cNvSpPr/>
          <p:nvPr/>
        </p:nvSpPr>
        <p:spPr>
          <a:xfrm>
            <a:off x="6731000" y="5626100"/>
            <a:ext cx="5207000" cy="0"/>
          </a:xfrm>
          <a:custGeom>
            <a:avLst/>
            <a:gdLst/>
            <a:ahLst/>
            <a:cxnLst/>
            <a:rect l="l" t="t" r="r" b="b"/>
            <a:pathLst>
              <a:path w="5207000">
                <a:moveTo>
                  <a:pt x="0" y="0"/>
                </a:moveTo>
                <a:lnTo>
                  <a:pt x="5207000" y="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35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선"/>
          <p:cNvSpPr/>
          <p:nvPr/>
        </p:nvSpPr>
        <p:spPr>
          <a:xfrm>
            <a:off x="8163560" y="1047115"/>
            <a:ext cx="2142490" cy="4662170"/>
          </a:xfrm>
          <a:custGeom>
            <a:avLst/>
            <a:gdLst/>
            <a:ahLst/>
            <a:cxnLst/>
            <a:rect l="l" t="t" r="r" b="b"/>
            <a:pathLst>
              <a:path w="2142490" h="4662170">
                <a:moveTo>
                  <a:pt x="354965" y="0"/>
                </a:moveTo>
                <a:lnTo>
                  <a:pt x="782320" y="578485"/>
                </a:lnTo>
                <a:lnTo>
                  <a:pt x="1209675" y="1480185"/>
                </a:lnTo>
                <a:lnTo>
                  <a:pt x="1640205" y="2298065"/>
                </a:lnTo>
                <a:lnTo>
                  <a:pt x="2142490" y="2553335"/>
                </a:lnTo>
                <a:lnTo>
                  <a:pt x="0" y="2994660"/>
                </a:lnTo>
                <a:lnTo>
                  <a:pt x="199390" y="3848100"/>
                </a:lnTo>
                <a:lnTo>
                  <a:pt x="976630" y="4144010"/>
                </a:lnTo>
                <a:lnTo>
                  <a:pt x="2142490" y="4662170"/>
                </a:lnTo>
              </a:path>
            </a:pathLst>
          </a:custGeom>
          <a:noFill/>
          <a:ln w="31750" cap="rnd">
            <a:solidFill>
              <a:srgbClr val="8C6BF7">
                <a:alpha val="90000"/>
              </a:srgbClr>
            </a:solidFill>
            <a:custDash>
              <a:ds d="280000" sp="240000"/>
            </a:custDash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원"/>
          <p:cNvSpPr/>
          <p:nvPr/>
        </p:nvSpPr>
        <p:spPr>
          <a:xfrm>
            <a:off x="9511665" y="3053080"/>
            <a:ext cx="584200" cy="584200"/>
          </a:xfrm>
          <a:prstGeom prst="ellipse">
            <a:avLst/>
          </a:prstGeom>
          <a:solidFill>
            <a:srgbClr val="FF7B9C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원"/>
          <p:cNvSpPr/>
          <p:nvPr/>
        </p:nvSpPr>
        <p:spPr>
          <a:xfrm>
            <a:off x="9759315" y="3300730"/>
            <a:ext cx="88900" cy="88900"/>
          </a:xfrm>
          <a:prstGeom prst="ellipse">
            <a:avLst/>
          </a:prstGeom>
          <a:solidFill>
            <a:srgbClr val="FF7B9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원"/>
          <p:cNvSpPr/>
          <p:nvPr/>
        </p:nvSpPr>
        <p:spPr>
          <a:xfrm>
            <a:off x="7871460" y="3749675"/>
            <a:ext cx="584200" cy="584200"/>
          </a:xfrm>
          <a:prstGeom prst="ellipse">
            <a:avLst/>
          </a:prstGeom>
          <a:solidFill>
            <a:srgbClr val="FF7B9C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원"/>
          <p:cNvSpPr/>
          <p:nvPr/>
        </p:nvSpPr>
        <p:spPr>
          <a:xfrm>
            <a:off x="8119110" y="3997325"/>
            <a:ext cx="88900" cy="88900"/>
          </a:xfrm>
          <a:prstGeom prst="ellipse">
            <a:avLst/>
          </a:prstGeom>
          <a:solidFill>
            <a:srgbClr val="FF7B9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원"/>
          <p:cNvSpPr/>
          <p:nvPr/>
        </p:nvSpPr>
        <p:spPr>
          <a:xfrm>
            <a:off x="8653780" y="1333500"/>
            <a:ext cx="584200" cy="584200"/>
          </a:xfrm>
          <a:prstGeom prst="ellipse">
            <a:avLst/>
          </a:prstGeom>
          <a:solidFill>
            <a:srgbClr val="FF7B9C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원"/>
          <p:cNvSpPr/>
          <p:nvPr/>
        </p:nvSpPr>
        <p:spPr>
          <a:xfrm>
            <a:off x="8901430" y="1581150"/>
            <a:ext cx="88900" cy="88900"/>
          </a:xfrm>
          <a:prstGeom prst="ellipse">
            <a:avLst/>
          </a:prstGeom>
          <a:solidFill>
            <a:srgbClr val="FF7B9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원"/>
          <p:cNvSpPr/>
          <p:nvPr/>
        </p:nvSpPr>
        <p:spPr>
          <a:xfrm>
            <a:off x="9271000" y="2859405"/>
            <a:ext cx="889000" cy="889000"/>
          </a:xfrm>
          <a:prstGeom prst="ellipse">
            <a:avLst/>
          </a:prstGeom>
          <a:gradFill rotWithShape="1">
            <a:gsLst>
              <a:gs pos="0">
                <a:srgbClr val="FFC97A">
                  <a:alpha val="38500"/>
                </a:srgbClr>
              </a:gs>
              <a:gs pos="100000">
                <a:srgbClr val="FFC97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원"/>
          <p:cNvSpPr/>
          <p:nvPr/>
        </p:nvSpPr>
        <p:spPr>
          <a:xfrm>
            <a:off x="9677400" y="3265805"/>
            <a:ext cx="76200" cy="7620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원"/>
          <p:cNvSpPr/>
          <p:nvPr/>
        </p:nvSpPr>
        <p:spPr>
          <a:xfrm>
            <a:off x="9861550" y="3155950"/>
            <a:ext cx="889000" cy="889000"/>
          </a:xfrm>
          <a:prstGeom prst="ellipse">
            <a:avLst/>
          </a:prstGeom>
          <a:gradFill rotWithShape="1">
            <a:gsLst>
              <a:gs pos="0">
                <a:srgbClr val="FFC97A">
                  <a:alpha val="38500"/>
                </a:srgbClr>
              </a:gs>
              <a:gs pos="100000">
                <a:srgbClr val="FFC97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원"/>
          <p:cNvSpPr/>
          <p:nvPr/>
        </p:nvSpPr>
        <p:spPr>
          <a:xfrm>
            <a:off x="10267950" y="3562350"/>
            <a:ext cx="76200" cy="7620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원"/>
          <p:cNvSpPr/>
          <p:nvPr/>
        </p:nvSpPr>
        <p:spPr>
          <a:xfrm>
            <a:off x="7623175" y="3651250"/>
            <a:ext cx="889000" cy="889000"/>
          </a:xfrm>
          <a:prstGeom prst="ellipse">
            <a:avLst/>
          </a:prstGeom>
          <a:gradFill rotWithShape="1">
            <a:gsLst>
              <a:gs pos="0">
                <a:srgbClr val="FFC97A">
                  <a:alpha val="38500"/>
                </a:srgbClr>
              </a:gs>
              <a:gs pos="100000">
                <a:srgbClr val="FFC97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원"/>
          <p:cNvSpPr/>
          <p:nvPr/>
        </p:nvSpPr>
        <p:spPr>
          <a:xfrm>
            <a:off x="8029575" y="4057650"/>
            <a:ext cx="76200" cy="7620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원"/>
          <p:cNvSpPr/>
          <p:nvPr/>
        </p:nvSpPr>
        <p:spPr>
          <a:xfrm>
            <a:off x="9861550" y="5264785"/>
            <a:ext cx="889000" cy="889000"/>
          </a:xfrm>
          <a:prstGeom prst="ellipse">
            <a:avLst/>
          </a:prstGeom>
          <a:gradFill rotWithShape="1">
            <a:gsLst>
              <a:gs pos="0">
                <a:srgbClr val="FFC97A">
                  <a:alpha val="38500"/>
                </a:srgbClr>
              </a:gs>
              <a:gs pos="100000">
                <a:srgbClr val="FFC97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원"/>
          <p:cNvSpPr/>
          <p:nvPr/>
        </p:nvSpPr>
        <p:spPr>
          <a:xfrm>
            <a:off x="10267950" y="5671185"/>
            <a:ext cx="76200" cy="7620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원"/>
          <p:cNvSpPr/>
          <p:nvPr/>
        </p:nvSpPr>
        <p:spPr>
          <a:xfrm>
            <a:off x="8695690" y="4746625"/>
            <a:ext cx="889000" cy="889000"/>
          </a:xfrm>
          <a:prstGeom prst="ellipse">
            <a:avLst/>
          </a:prstGeom>
          <a:gradFill rotWithShape="1">
            <a:gsLst>
              <a:gs pos="0">
                <a:srgbClr val="FFC97A">
                  <a:alpha val="38500"/>
                </a:srgbClr>
              </a:gs>
              <a:gs pos="100000">
                <a:srgbClr val="FFC97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원"/>
          <p:cNvSpPr/>
          <p:nvPr/>
        </p:nvSpPr>
        <p:spPr>
          <a:xfrm>
            <a:off x="9102090" y="5153025"/>
            <a:ext cx="76200" cy="7620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텍스트"/>
          <p:cNvSpPr txBox="1"/>
          <p:nvPr/>
        </p:nvSpPr>
        <p:spPr>
          <a:xfrm>
            <a:off x="2754561" y="706438"/>
            <a:ext cx="1455390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6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AI × 공공·사회데이터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806450" y="712788"/>
            <a:ext cx="2017192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4">
                <a:solidFill>
                  <a:srgbClr val="B7A2FF"/>
                </a:solidFill>
                <a:latin typeface="Paperlogy 7 Bold"/>
                <a:ea typeface="Paperlogy 7 Bold"/>
                <a:cs typeface="Paperlogy 7 Bold"/>
              </a:rPr>
              <a:t>2026 자원봉사 아이디어톤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806450" y="1295226"/>
            <a:ext cx="5382379" cy="165804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6527"/>
              </a:lnSpc>
              <a:spcBef>
                <a:spcPts val="0"/>
              </a:spcBef>
              <a:spcAft>
                <a:spcPts val="0"/>
              </a:spcAft>
            </a:pPr>
            <a:r>
              <a:rPr sz="6400" b="0" i="0" spc="-288">
                <a:solidFill>
                  <a:srgbClr val="EEEAFB"/>
                </a:solidFill>
                <a:latin typeface="Paperlogy 9 Black"/>
                <a:ea typeface="Paperlogy 9 Black"/>
                <a:cs typeface="Paperlogy 9 Black"/>
              </a:rPr>
              <a:t>러닝으로 만드는</a:t>
            </a:r>
          </a:p>
          <a:p>
            <a:pPr algn="l">
              <a:lnSpc>
                <a:spcPts val="6527"/>
              </a:lnSpc>
              <a:spcBef>
                <a:spcPts val="0"/>
              </a:spcBef>
              <a:spcAft>
                <a:spcPts val="0"/>
              </a:spcAft>
            </a:pPr>
            <a:r>
              <a:rPr sz="6400" b="0" i="0" spc="-288">
                <a:solidFill>
                  <a:srgbClr val="B7A2FF"/>
                </a:solidFill>
                <a:latin typeface="Paperlogy 9 Black"/>
                <a:ea typeface="Paperlogy 9 Black"/>
                <a:cs typeface="Paperlogy 9 Black"/>
              </a:rPr>
              <a:t>AI 생활안전망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806450" y="3232845"/>
            <a:ext cx="4517112" cy="685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spc="-18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청년러닝방범대가 달리며 위험을 기록하고,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spc="-18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AI가 민원 작성부터 개선 확인까지 연결합니다.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806450" y="4095750"/>
            <a:ext cx="1233190" cy="238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중앙청년LAB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0507712" y="6415088"/>
            <a:ext cx="1017538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대상 지역 · 안양시</a:t>
            </a:r>
          </a:p>
        </p:txBody>
      </p:sp>
      <p:sp>
        <p:nvSpPr>
          <p:cNvPr id="33" name="도형">
            <a:extLst>
              <a:ext uri="{FF2B5EF4-FFF2-40B4-BE49-F238E27FC236}">
                <a16:creationId xmlns:a16="http://schemas.microsoft.com/office/drawing/2014/main" id="{C2C751B3-AE1B-C70A-3DB2-336B582B4DC9}"/>
              </a:ext>
            </a:extLst>
          </p:cNvPr>
          <p:cNvSpPr/>
          <p:nvPr/>
        </p:nvSpPr>
        <p:spPr>
          <a:xfrm>
            <a:off x="812800" y="4937125"/>
            <a:ext cx="1397000" cy="139700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QR 코드">
            <a:extLst>
              <a:ext uri="{FF2B5EF4-FFF2-40B4-BE49-F238E27FC236}">
                <a16:creationId xmlns:a16="http://schemas.microsoft.com/office/drawing/2014/main" id="{D6C58278-05AA-01F9-4156-2D1C473E5A10}"/>
              </a:ext>
            </a:extLst>
          </p:cNvPr>
          <p:cNvSpPr/>
          <p:nvPr/>
        </p:nvSpPr>
        <p:spPr>
          <a:xfrm>
            <a:off x="889000" y="5013325"/>
            <a:ext cx="1244600" cy="1244600"/>
          </a:xfrm>
          <a:custGeom>
            <a:avLst/>
            <a:gdLst/>
            <a:ahLst/>
            <a:cxnLst/>
            <a:rect l="l" t="t" r="r" b="b"/>
            <a:pathLst>
              <a:path w="1244600" h="1244600">
                <a:moveTo>
                  <a:pt x="0" y="0"/>
                </a:moveTo>
                <a:lnTo>
                  <a:pt x="264006" y="0"/>
                </a:lnTo>
                <a:lnTo>
                  <a:pt x="264006" y="37715"/>
                </a:lnTo>
                <a:lnTo>
                  <a:pt x="0" y="37715"/>
                </a:lnTo>
                <a:close/>
                <a:moveTo>
                  <a:pt x="339436" y="0"/>
                </a:moveTo>
                <a:lnTo>
                  <a:pt x="377152" y="0"/>
                </a:lnTo>
                <a:lnTo>
                  <a:pt x="377152" y="37715"/>
                </a:lnTo>
                <a:lnTo>
                  <a:pt x="339436" y="37715"/>
                </a:lnTo>
                <a:close/>
                <a:moveTo>
                  <a:pt x="452582" y="0"/>
                </a:moveTo>
                <a:lnTo>
                  <a:pt x="490297" y="0"/>
                </a:lnTo>
                <a:lnTo>
                  <a:pt x="490297" y="37715"/>
                </a:lnTo>
                <a:lnTo>
                  <a:pt x="452582" y="37715"/>
                </a:lnTo>
                <a:close/>
                <a:moveTo>
                  <a:pt x="603442" y="0"/>
                </a:moveTo>
                <a:lnTo>
                  <a:pt x="829733" y="0"/>
                </a:lnTo>
                <a:lnTo>
                  <a:pt x="829733" y="37715"/>
                </a:lnTo>
                <a:lnTo>
                  <a:pt x="603442" y="37715"/>
                </a:lnTo>
                <a:close/>
                <a:moveTo>
                  <a:pt x="867448" y="0"/>
                </a:moveTo>
                <a:lnTo>
                  <a:pt x="905164" y="0"/>
                </a:lnTo>
                <a:lnTo>
                  <a:pt x="905164" y="37715"/>
                </a:lnTo>
                <a:lnTo>
                  <a:pt x="867448" y="37715"/>
                </a:lnTo>
                <a:close/>
                <a:moveTo>
                  <a:pt x="980594" y="0"/>
                </a:moveTo>
                <a:lnTo>
                  <a:pt x="1244600" y="0"/>
                </a:lnTo>
                <a:lnTo>
                  <a:pt x="1244600" y="37715"/>
                </a:lnTo>
                <a:lnTo>
                  <a:pt x="980594" y="37715"/>
                </a:lnTo>
                <a:close/>
                <a:moveTo>
                  <a:pt x="0" y="37715"/>
                </a:moveTo>
                <a:lnTo>
                  <a:pt x="37715" y="37715"/>
                </a:lnTo>
                <a:lnTo>
                  <a:pt x="37715" y="75430"/>
                </a:lnTo>
                <a:lnTo>
                  <a:pt x="0" y="75430"/>
                </a:lnTo>
                <a:close/>
                <a:moveTo>
                  <a:pt x="226291" y="37715"/>
                </a:moveTo>
                <a:lnTo>
                  <a:pt x="264006" y="37715"/>
                </a:lnTo>
                <a:lnTo>
                  <a:pt x="264006" y="75430"/>
                </a:lnTo>
                <a:lnTo>
                  <a:pt x="226291" y="75430"/>
                </a:lnTo>
                <a:close/>
                <a:moveTo>
                  <a:pt x="377152" y="37715"/>
                </a:moveTo>
                <a:lnTo>
                  <a:pt x="490297" y="37715"/>
                </a:lnTo>
                <a:lnTo>
                  <a:pt x="490297" y="75430"/>
                </a:lnTo>
                <a:lnTo>
                  <a:pt x="377152" y="75430"/>
                </a:lnTo>
                <a:close/>
                <a:moveTo>
                  <a:pt x="565727" y="37715"/>
                </a:moveTo>
                <a:lnTo>
                  <a:pt x="603442" y="37715"/>
                </a:lnTo>
                <a:lnTo>
                  <a:pt x="603442" y="75430"/>
                </a:lnTo>
                <a:lnTo>
                  <a:pt x="565727" y="75430"/>
                </a:lnTo>
                <a:close/>
                <a:moveTo>
                  <a:pt x="678873" y="37715"/>
                </a:moveTo>
                <a:lnTo>
                  <a:pt x="716588" y="37715"/>
                </a:lnTo>
                <a:lnTo>
                  <a:pt x="716588" y="75430"/>
                </a:lnTo>
                <a:lnTo>
                  <a:pt x="678873" y="75430"/>
                </a:lnTo>
                <a:close/>
                <a:moveTo>
                  <a:pt x="754303" y="37715"/>
                </a:moveTo>
                <a:lnTo>
                  <a:pt x="829733" y="37715"/>
                </a:lnTo>
                <a:lnTo>
                  <a:pt x="829733" y="75430"/>
                </a:lnTo>
                <a:lnTo>
                  <a:pt x="754303" y="75430"/>
                </a:lnTo>
                <a:close/>
                <a:moveTo>
                  <a:pt x="980594" y="37715"/>
                </a:moveTo>
                <a:lnTo>
                  <a:pt x="1018309" y="37715"/>
                </a:lnTo>
                <a:lnTo>
                  <a:pt x="1018309" y="75430"/>
                </a:lnTo>
                <a:lnTo>
                  <a:pt x="980594" y="75430"/>
                </a:lnTo>
                <a:close/>
                <a:moveTo>
                  <a:pt x="1206885" y="37715"/>
                </a:moveTo>
                <a:lnTo>
                  <a:pt x="1244600" y="37715"/>
                </a:lnTo>
                <a:lnTo>
                  <a:pt x="1244600" y="75430"/>
                </a:lnTo>
                <a:lnTo>
                  <a:pt x="1206885" y="75430"/>
                </a:lnTo>
                <a:close/>
                <a:moveTo>
                  <a:pt x="0" y="75430"/>
                </a:moveTo>
                <a:lnTo>
                  <a:pt x="37715" y="75430"/>
                </a:lnTo>
                <a:lnTo>
                  <a:pt x="37715" y="113145"/>
                </a:lnTo>
                <a:lnTo>
                  <a:pt x="0" y="113145"/>
                </a:lnTo>
                <a:close/>
                <a:moveTo>
                  <a:pt x="75430" y="75430"/>
                </a:moveTo>
                <a:lnTo>
                  <a:pt x="188576" y="75430"/>
                </a:lnTo>
                <a:lnTo>
                  <a:pt x="188576" y="113145"/>
                </a:lnTo>
                <a:lnTo>
                  <a:pt x="75430" y="113145"/>
                </a:lnTo>
                <a:close/>
                <a:moveTo>
                  <a:pt x="226291" y="75430"/>
                </a:moveTo>
                <a:lnTo>
                  <a:pt x="264006" y="75430"/>
                </a:lnTo>
                <a:lnTo>
                  <a:pt x="264006" y="113145"/>
                </a:lnTo>
                <a:lnTo>
                  <a:pt x="226291" y="113145"/>
                </a:lnTo>
                <a:close/>
                <a:moveTo>
                  <a:pt x="301721" y="75430"/>
                </a:moveTo>
                <a:lnTo>
                  <a:pt x="490297" y="75430"/>
                </a:lnTo>
                <a:lnTo>
                  <a:pt x="490297" y="113145"/>
                </a:lnTo>
                <a:lnTo>
                  <a:pt x="301721" y="113145"/>
                </a:lnTo>
                <a:close/>
                <a:moveTo>
                  <a:pt x="528012" y="75430"/>
                </a:moveTo>
                <a:lnTo>
                  <a:pt x="641158" y="75430"/>
                </a:lnTo>
                <a:lnTo>
                  <a:pt x="641158" y="113145"/>
                </a:lnTo>
                <a:lnTo>
                  <a:pt x="528012" y="113145"/>
                </a:lnTo>
                <a:close/>
                <a:moveTo>
                  <a:pt x="754303" y="75430"/>
                </a:moveTo>
                <a:lnTo>
                  <a:pt x="867448" y="75430"/>
                </a:lnTo>
                <a:lnTo>
                  <a:pt x="867448" y="113145"/>
                </a:lnTo>
                <a:lnTo>
                  <a:pt x="754303" y="113145"/>
                </a:lnTo>
                <a:close/>
                <a:moveTo>
                  <a:pt x="905164" y="75430"/>
                </a:moveTo>
                <a:lnTo>
                  <a:pt x="942879" y="75430"/>
                </a:lnTo>
                <a:lnTo>
                  <a:pt x="942879" y="113145"/>
                </a:lnTo>
                <a:lnTo>
                  <a:pt x="905164" y="113145"/>
                </a:lnTo>
                <a:close/>
                <a:moveTo>
                  <a:pt x="980594" y="75430"/>
                </a:moveTo>
                <a:lnTo>
                  <a:pt x="1018309" y="75430"/>
                </a:lnTo>
                <a:lnTo>
                  <a:pt x="1018309" y="113145"/>
                </a:lnTo>
                <a:lnTo>
                  <a:pt x="980594" y="113145"/>
                </a:lnTo>
                <a:close/>
                <a:moveTo>
                  <a:pt x="1056024" y="75430"/>
                </a:moveTo>
                <a:lnTo>
                  <a:pt x="1169170" y="75430"/>
                </a:lnTo>
                <a:lnTo>
                  <a:pt x="1169170" y="113145"/>
                </a:lnTo>
                <a:lnTo>
                  <a:pt x="1056024" y="113145"/>
                </a:lnTo>
                <a:close/>
                <a:moveTo>
                  <a:pt x="1206885" y="75430"/>
                </a:moveTo>
                <a:lnTo>
                  <a:pt x="1244600" y="75430"/>
                </a:lnTo>
                <a:lnTo>
                  <a:pt x="1244600" y="113145"/>
                </a:lnTo>
                <a:lnTo>
                  <a:pt x="1206885" y="113145"/>
                </a:lnTo>
                <a:close/>
                <a:moveTo>
                  <a:pt x="0" y="113145"/>
                </a:moveTo>
                <a:lnTo>
                  <a:pt x="37715" y="113145"/>
                </a:lnTo>
                <a:lnTo>
                  <a:pt x="37715" y="150861"/>
                </a:lnTo>
                <a:lnTo>
                  <a:pt x="0" y="150861"/>
                </a:lnTo>
                <a:close/>
                <a:moveTo>
                  <a:pt x="75430" y="113145"/>
                </a:moveTo>
                <a:lnTo>
                  <a:pt x="188576" y="113145"/>
                </a:lnTo>
                <a:lnTo>
                  <a:pt x="188576" y="150861"/>
                </a:lnTo>
                <a:lnTo>
                  <a:pt x="75430" y="150861"/>
                </a:lnTo>
                <a:close/>
                <a:moveTo>
                  <a:pt x="226291" y="113145"/>
                </a:moveTo>
                <a:lnTo>
                  <a:pt x="264006" y="113145"/>
                </a:lnTo>
                <a:lnTo>
                  <a:pt x="264006" y="150861"/>
                </a:lnTo>
                <a:lnTo>
                  <a:pt x="226291" y="150861"/>
                </a:lnTo>
                <a:close/>
                <a:moveTo>
                  <a:pt x="301721" y="113145"/>
                </a:moveTo>
                <a:lnTo>
                  <a:pt x="339436" y="113145"/>
                </a:lnTo>
                <a:lnTo>
                  <a:pt x="339436" y="150861"/>
                </a:lnTo>
                <a:lnTo>
                  <a:pt x="301721" y="150861"/>
                </a:lnTo>
                <a:close/>
                <a:moveTo>
                  <a:pt x="377152" y="113145"/>
                </a:moveTo>
                <a:lnTo>
                  <a:pt x="414867" y="113145"/>
                </a:lnTo>
                <a:lnTo>
                  <a:pt x="414867" y="150861"/>
                </a:lnTo>
                <a:lnTo>
                  <a:pt x="377152" y="150861"/>
                </a:lnTo>
                <a:close/>
                <a:moveTo>
                  <a:pt x="452582" y="113145"/>
                </a:moveTo>
                <a:lnTo>
                  <a:pt x="490297" y="113145"/>
                </a:lnTo>
                <a:lnTo>
                  <a:pt x="490297" y="150861"/>
                </a:lnTo>
                <a:lnTo>
                  <a:pt x="452582" y="150861"/>
                </a:lnTo>
                <a:close/>
                <a:moveTo>
                  <a:pt x="565727" y="113145"/>
                </a:moveTo>
                <a:lnTo>
                  <a:pt x="603442" y="113145"/>
                </a:lnTo>
                <a:lnTo>
                  <a:pt x="603442" y="150861"/>
                </a:lnTo>
                <a:lnTo>
                  <a:pt x="565727" y="150861"/>
                </a:lnTo>
                <a:close/>
                <a:moveTo>
                  <a:pt x="641158" y="113145"/>
                </a:moveTo>
                <a:lnTo>
                  <a:pt x="792018" y="113145"/>
                </a:lnTo>
                <a:lnTo>
                  <a:pt x="792018" y="150861"/>
                </a:lnTo>
                <a:lnTo>
                  <a:pt x="641158" y="150861"/>
                </a:lnTo>
                <a:close/>
                <a:moveTo>
                  <a:pt x="829733" y="113145"/>
                </a:moveTo>
                <a:lnTo>
                  <a:pt x="942879" y="113145"/>
                </a:lnTo>
                <a:lnTo>
                  <a:pt x="942879" y="150861"/>
                </a:lnTo>
                <a:lnTo>
                  <a:pt x="829733" y="150861"/>
                </a:lnTo>
                <a:close/>
                <a:moveTo>
                  <a:pt x="980594" y="113145"/>
                </a:moveTo>
                <a:lnTo>
                  <a:pt x="1018309" y="113145"/>
                </a:lnTo>
                <a:lnTo>
                  <a:pt x="1018309" y="150861"/>
                </a:lnTo>
                <a:lnTo>
                  <a:pt x="980594" y="150861"/>
                </a:lnTo>
                <a:close/>
                <a:moveTo>
                  <a:pt x="1056024" y="113145"/>
                </a:moveTo>
                <a:lnTo>
                  <a:pt x="1169170" y="113145"/>
                </a:lnTo>
                <a:lnTo>
                  <a:pt x="1169170" y="150861"/>
                </a:lnTo>
                <a:lnTo>
                  <a:pt x="1056024" y="150861"/>
                </a:lnTo>
                <a:close/>
                <a:moveTo>
                  <a:pt x="1206885" y="113145"/>
                </a:moveTo>
                <a:lnTo>
                  <a:pt x="1244600" y="113145"/>
                </a:lnTo>
                <a:lnTo>
                  <a:pt x="1244600" y="150861"/>
                </a:lnTo>
                <a:lnTo>
                  <a:pt x="1206885" y="150861"/>
                </a:lnTo>
                <a:close/>
                <a:moveTo>
                  <a:pt x="0" y="150861"/>
                </a:moveTo>
                <a:lnTo>
                  <a:pt x="37715" y="150861"/>
                </a:lnTo>
                <a:lnTo>
                  <a:pt x="37715" y="188576"/>
                </a:lnTo>
                <a:lnTo>
                  <a:pt x="0" y="188576"/>
                </a:lnTo>
                <a:close/>
                <a:moveTo>
                  <a:pt x="75430" y="150861"/>
                </a:moveTo>
                <a:lnTo>
                  <a:pt x="188576" y="150861"/>
                </a:lnTo>
                <a:lnTo>
                  <a:pt x="188576" y="188576"/>
                </a:lnTo>
                <a:lnTo>
                  <a:pt x="75430" y="188576"/>
                </a:lnTo>
                <a:close/>
                <a:moveTo>
                  <a:pt x="226291" y="150861"/>
                </a:moveTo>
                <a:lnTo>
                  <a:pt x="264006" y="150861"/>
                </a:lnTo>
                <a:lnTo>
                  <a:pt x="264006" y="188576"/>
                </a:lnTo>
                <a:lnTo>
                  <a:pt x="226291" y="188576"/>
                </a:lnTo>
                <a:close/>
                <a:moveTo>
                  <a:pt x="301721" y="150861"/>
                </a:moveTo>
                <a:lnTo>
                  <a:pt x="377152" y="150861"/>
                </a:lnTo>
                <a:lnTo>
                  <a:pt x="377152" y="188576"/>
                </a:lnTo>
                <a:lnTo>
                  <a:pt x="301721" y="188576"/>
                </a:lnTo>
                <a:close/>
                <a:moveTo>
                  <a:pt x="490297" y="150861"/>
                </a:moveTo>
                <a:lnTo>
                  <a:pt x="792018" y="150861"/>
                </a:lnTo>
                <a:lnTo>
                  <a:pt x="792018" y="188576"/>
                </a:lnTo>
                <a:lnTo>
                  <a:pt x="490297" y="188576"/>
                </a:lnTo>
                <a:close/>
                <a:moveTo>
                  <a:pt x="867448" y="150861"/>
                </a:moveTo>
                <a:lnTo>
                  <a:pt x="905164" y="150861"/>
                </a:lnTo>
                <a:lnTo>
                  <a:pt x="905164" y="188576"/>
                </a:lnTo>
                <a:lnTo>
                  <a:pt x="867448" y="188576"/>
                </a:lnTo>
                <a:close/>
                <a:moveTo>
                  <a:pt x="980594" y="150861"/>
                </a:moveTo>
                <a:lnTo>
                  <a:pt x="1018309" y="150861"/>
                </a:lnTo>
                <a:lnTo>
                  <a:pt x="1018309" y="188576"/>
                </a:lnTo>
                <a:lnTo>
                  <a:pt x="980594" y="188576"/>
                </a:lnTo>
                <a:close/>
                <a:moveTo>
                  <a:pt x="1056024" y="150861"/>
                </a:moveTo>
                <a:lnTo>
                  <a:pt x="1169170" y="150861"/>
                </a:lnTo>
                <a:lnTo>
                  <a:pt x="1169170" y="188576"/>
                </a:lnTo>
                <a:lnTo>
                  <a:pt x="1056024" y="188576"/>
                </a:lnTo>
                <a:close/>
                <a:moveTo>
                  <a:pt x="1206885" y="150861"/>
                </a:moveTo>
                <a:lnTo>
                  <a:pt x="1244600" y="150861"/>
                </a:lnTo>
                <a:lnTo>
                  <a:pt x="1244600" y="188576"/>
                </a:lnTo>
                <a:lnTo>
                  <a:pt x="1206885" y="188576"/>
                </a:lnTo>
                <a:close/>
                <a:moveTo>
                  <a:pt x="0" y="188576"/>
                </a:moveTo>
                <a:lnTo>
                  <a:pt x="37715" y="188576"/>
                </a:lnTo>
                <a:lnTo>
                  <a:pt x="37715" y="226291"/>
                </a:lnTo>
                <a:lnTo>
                  <a:pt x="0" y="226291"/>
                </a:lnTo>
                <a:close/>
                <a:moveTo>
                  <a:pt x="226291" y="188576"/>
                </a:moveTo>
                <a:lnTo>
                  <a:pt x="264006" y="188576"/>
                </a:lnTo>
                <a:lnTo>
                  <a:pt x="264006" y="226291"/>
                </a:lnTo>
                <a:lnTo>
                  <a:pt x="226291" y="226291"/>
                </a:lnTo>
                <a:close/>
                <a:moveTo>
                  <a:pt x="301721" y="188576"/>
                </a:moveTo>
                <a:lnTo>
                  <a:pt x="414867" y="188576"/>
                </a:lnTo>
                <a:lnTo>
                  <a:pt x="414867" y="226291"/>
                </a:lnTo>
                <a:lnTo>
                  <a:pt x="301721" y="226291"/>
                </a:lnTo>
                <a:close/>
                <a:moveTo>
                  <a:pt x="829733" y="188576"/>
                </a:moveTo>
                <a:lnTo>
                  <a:pt x="867448" y="188576"/>
                </a:lnTo>
                <a:lnTo>
                  <a:pt x="867448" y="226291"/>
                </a:lnTo>
                <a:lnTo>
                  <a:pt x="829733" y="226291"/>
                </a:lnTo>
                <a:close/>
                <a:moveTo>
                  <a:pt x="980594" y="188576"/>
                </a:moveTo>
                <a:lnTo>
                  <a:pt x="1018309" y="188576"/>
                </a:lnTo>
                <a:lnTo>
                  <a:pt x="1018309" y="226291"/>
                </a:lnTo>
                <a:lnTo>
                  <a:pt x="980594" y="226291"/>
                </a:lnTo>
                <a:close/>
                <a:moveTo>
                  <a:pt x="1206885" y="188576"/>
                </a:moveTo>
                <a:lnTo>
                  <a:pt x="1244600" y="188576"/>
                </a:lnTo>
                <a:lnTo>
                  <a:pt x="1244600" y="226291"/>
                </a:lnTo>
                <a:lnTo>
                  <a:pt x="1206885" y="226291"/>
                </a:lnTo>
                <a:close/>
                <a:moveTo>
                  <a:pt x="0" y="226291"/>
                </a:moveTo>
                <a:lnTo>
                  <a:pt x="264006" y="226291"/>
                </a:lnTo>
                <a:lnTo>
                  <a:pt x="264006" y="264006"/>
                </a:lnTo>
                <a:lnTo>
                  <a:pt x="0" y="264006"/>
                </a:lnTo>
                <a:close/>
                <a:moveTo>
                  <a:pt x="301721" y="226291"/>
                </a:moveTo>
                <a:lnTo>
                  <a:pt x="339436" y="226291"/>
                </a:lnTo>
                <a:lnTo>
                  <a:pt x="339436" y="264006"/>
                </a:lnTo>
                <a:lnTo>
                  <a:pt x="301721" y="264006"/>
                </a:lnTo>
                <a:close/>
                <a:moveTo>
                  <a:pt x="377152" y="226291"/>
                </a:moveTo>
                <a:lnTo>
                  <a:pt x="414867" y="226291"/>
                </a:lnTo>
                <a:lnTo>
                  <a:pt x="414867" y="264006"/>
                </a:lnTo>
                <a:lnTo>
                  <a:pt x="377152" y="264006"/>
                </a:lnTo>
                <a:close/>
                <a:moveTo>
                  <a:pt x="452582" y="226291"/>
                </a:moveTo>
                <a:lnTo>
                  <a:pt x="490297" y="226291"/>
                </a:lnTo>
                <a:lnTo>
                  <a:pt x="490297" y="264006"/>
                </a:lnTo>
                <a:lnTo>
                  <a:pt x="452582" y="264006"/>
                </a:lnTo>
                <a:close/>
                <a:moveTo>
                  <a:pt x="528012" y="226291"/>
                </a:moveTo>
                <a:lnTo>
                  <a:pt x="565727" y="226291"/>
                </a:lnTo>
                <a:lnTo>
                  <a:pt x="565727" y="264006"/>
                </a:lnTo>
                <a:lnTo>
                  <a:pt x="528012" y="264006"/>
                </a:lnTo>
                <a:close/>
                <a:moveTo>
                  <a:pt x="603442" y="226291"/>
                </a:moveTo>
                <a:lnTo>
                  <a:pt x="641158" y="226291"/>
                </a:lnTo>
                <a:lnTo>
                  <a:pt x="641158" y="264006"/>
                </a:lnTo>
                <a:lnTo>
                  <a:pt x="603442" y="264006"/>
                </a:lnTo>
                <a:close/>
                <a:moveTo>
                  <a:pt x="678873" y="226291"/>
                </a:moveTo>
                <a:lnTo>
                  <a:pt x="716588" y="226291"/>
                </a:lnTo>
                <a:lnTo>
                  <a:pt x="716588" y="264006"/>
                </a:lnTo>
                <a:lnTo>
                  <a:pt x="678873" y="264006"/>
                </a:lnTo>
                <a:close/>
                <a:moveTo>
                  <a:pt x="754303" y="226291"/>
                </a:moveTo>
                <a:lnTo>
                  <a:pt x="792018" y="226291"/>
                </a:lnTo>
                <a:lnTo>
                  <a:pt x="792018" y="264006"/>
                </a:lnTo>
                <a:lnTo>
                  <a:pt x="754303" y="264006"/>
                </a:lnTo>
                <a:close/>
                <a:moveTo>
                  <a:pt x="829733" y="226291"/>
                </a:moveTo>
                <a:lnTo>
                  <a:pt x="867448" y="226291"/>
                </a:lnTo>
                <a:lnTo>
                  <a:pt x="867448" y="264006"/>
                </a:lnTo>
                <a:lnTo>
                  <a:pt x="829733" y="264006"/>
                </a:lnTo>
                <a:close/>
                <a:moveTo>
                  <a:pt x="905164" y="226291"/>
                </a:moveTo>
                <a:lnTo>
                  <a:pt x="942879" y="226291"/>
                </a:lnTo>
                <a:lnTo>
                  <a:pt x="942879" y="264006"/>
                </a:lnTo>
                <a:lnTo>
                  <a:pt x="905164" y="264006"/>
                </a:lnTo>
                <a:close/>
                <a:moveTo>
                  <a:pt x="980594" y="226291"/>
                </a:moveTo>
                <a:lnTo>
                  <a:pt x="1244600" y="226291"/>
                </a:lnTo>
                <a:lnTo>
                  <a:pt x="1244600" y="264006"/>
                </a:lnTo>
                <a:lnTo>
                  <a:pt x="980594" y="264006"/>
                </a:lnTo>
                <a:close/>
                <a:moveTo>
                  <a:pt x="301721" y="264006"/>
                </a:moveTo>
                <a:lnTo>
                  <a:pt x="377152" y="264006"/>
                </a:lnTo>
                <a:lnTo>
                  <a:pt x="377152" y="301721"/>
                </a:lnTo>
                <a:lnTo>
                  <a:pt x="301721" y="301721"/>
                </a:lnTo>
                <a:close/>
                <a:moveTo>
                  <a:pt x="414867" y="264006"/>
                </a:moveTo>
                <a:lnTo>
                  <a:pt x="490297" y="264006"/>
                </a:lnTo>
                <a:lnTo>
                  <a:pt x="490297" y="301721"/>
                </a:lnTo>
                <a:lnTo>
                  <a:pt x="414867" y="301721"/>
                </a:lnTo>
                <a:close/>
                <a:moveTo>
                  <a:pt x="603442" y="264006"/>
                </a:moveTo>
                <a:lnTo>
                  <a:pt x="641158" y="264006"/>
                </a:lnTo>
                <a:lnTo>
                  <a:pt x="641158" y="301721"/>
                </a:lnTo>
                <a:lnTo>
                  <a:pt x="603442" y="301721"/>
                </a:lnTo>
                <a:close/>
                <a:moveTo>
                  <a:pt x="678873" y="264006"/>
                </a:moveTo>
                <a:lnTo>
                  <a:pt x="716588" y="264006"/>
                </a:lnTo>
                <a:lnTo>
                  <a:pt x="716588" y="301721"/>
                </a:lnTo>
                <a:lnTo>
                  <a:pt x="678873" y="301721"/>
                </a:lnTo>
                <a:close/>
                <a:moveTo>
                  <a:pt x="754303" y="264006"/>
                </a:moveTo>
                <a:lnTo>
                  <a:pt x="829733" y="264006"/>
                </a:lnTo>
                <a:lnTo>
                  <a:pt x="829733" y="301721"/>
                </a:lnTo>
                <a:lnTo>
                  <a:pt x="754303" y="301721"/>
                </a:lnTo>
                <a:close/>
                <a:moveTo>
                  <a:pt x="0" y="301721"/>
                </a:moveTo>
                <a:lnTo>
                  <a:pt x="37715" y="301721"/>
                </a:lnTo>
                <a:lnTo>
                  <a:pt x="37715" y="339436"/>
                </a:lnTo>
                <a:lnTo>
                  <a:pt x="0" y="339436"/>
                </a:lnTo>
                <a:close/>
                <a:moveTo>
                  <a:pt x="75430" y="301721"/>
                </a:moveTo>
                <a:lnTo>
                  <a:pt x="264006" y="301721"/>
                </a:lnTo>
                <a:lnTo>
                  <a:pt x="264006" y="339436"/>
                </a:lnTo>
                <a:lnTo>
                  <a:pt x="75430" y="339436"/>
                </a:lnTo>
                <a:close/>
                <a:moveTo>
                  <a:pt x="377152" y="301721"/>
                </a:moveTo>
                <a:lnTo>
                  <a:pt x="414867" y="301721"/>
                </a:lnTo>
                <a:lnTo>
                  <a:pt x="414867" y="339436"/>
                </a:lnTo>
                <a:lnTo>
                  <a:pt x="377152" y="339436"/>
                </a:lnTo>
                <a:close/>
                <a:moveTo>
                  <a:pt x="452582" y="301721"/>
                </a:moveTo>
                <a:lnTo>
                  <a:pt x="565727" y="301721"/>
                </a:lnTo>
                <a:lnTo>
                  <a:pt x="565727" y="339436"/>
                </a:lnTo>
                <a:lnTo>
                  <a:pt x="452582" y="339436"/>
                </a:lnTo>
                <a:close/>
                <a:moveTo>
                  <a:pt x="603442" y="301721"/>
                </a:moveTo>
                <a:lnTo>
                  <a:pt x="678873" y="301721"/>
                </a:lnTo>
                <a:lnTo>
                  <a:pt x="678873" y="339436"/>
                </a:lnTo>
                <a:lnTo>
                  <a:pt x="603442" y="339436"/>
                </a:lnTo>
                <a:close/>
                <a:moveTo>
                  <a:pt x="867448" y="301721"/>
                </a:moveTo>
                <a:lnTo>
                  <a:pt x="942879" y="301721"/>
                </a:lnTo>
                <a:lnTo>
                  <a:pt x="942879" y="339436"/>
                </a:lnTo>
                <a:lnTo>
                  <a:pt x="867448" y="339436"/>
                </a:lnTo>
                <a:close/>
                <a:moveTo>
                  <a:pt x="980594" y="301721"/>
                </a:moveTo>
                <a:lnTo>
                  <a:pt x="1169170" y="301721"/>
                </a:lnTo>
                <a:lnTo>
                  <a:pt x="1169170" y="339436"/>
                </a:lnTo>
                <a:lnTo>
                  <a:pt x="980594" y="339436"/>
                </a:lnTo>
                <a:close/>
                <a:moveTo>
                  <a:pt x="37715" y="339436"/>
                </a:moveTo>
                <a:lnTo>
                  <a:pt x="75430" y="339436"/>
                </a:lnTo>
                <a:lnTo>
                  <a:pt x="75430" y="377152"/>
                </a:lnTo>
                <a:lnTo>
                  <a:pt x="37715" y="377152"/>
                </a:lnTo>
                <a:close/>
                <a:moveTo>
                  <a:pt x="113145" y="339436"/>
                </a:moveTo>
                <a:lnTo>
                  <a:pt x="226291" y="339436"/>
                </a:lnTo>
                <a:lnTo>
                  <a:pt x="226291" y="377152"/>
                </a:lnTo>
                <a:lnTo>
                  <a:pt x="113145" y="377152"/>
                </a:lnTo>
                <a:close/>
                <a:moveTo>
                  <a:pt x="264006" y="339436"/>
                </a:moveTo>
                <a:lnTo>
                  <a:pt x="301721" y="339436"/>
                </a:lnTo>
                <a:lnTo>
                  <a:pt x="301721" y="377152"/>
                </a:lnTo>
                <a:lnTo>
                  <a:pt x="264006" y="377152"/>
                </a:lnTo>
                <a:close/>
                <a:moveTo>
                  <a:pt x="339436" y="339436"/>
                </a:moveTo>
                <a:lnTo>
                  <a:pt x="377152" y="339436"/>
                </a:lnTo>
                <a:lnTo>
                  <a:pt x="377152" y="377152"/>
                </a:lnTo>
                <a:lnTo>
                  <a:pt x="339436" y="377152"/>
                </a:lnTo>
                <a:close/>
                <a:moveTo>
                  <a:pt x="452582" y="339436"/>
                </a:moveTo>
                <a:lnTo>
                  <a:pt x="565727" y="339436"/>
                </a:lnTo>
                <a:lnTo>
                  <a:pt x="565727" y="377152"/>
                </a:lnTo>
                <a:lnTo>
                  <a:pt x="452582" y="377152"/>
                </a:lnTo>
                <a:close/>
                <a:moveTo>
                  <a:pt x="603442" y="339436"/>
                </a:moveTo>
                <a:lnTo>
                  <a:pt x="754303" y="339436"/>
                </a:lnTo>
                <a:lnTo>
                  <a:pt x="754303" y="377152"/>
                </a:lnTo>
                <a:lnTo>
                  <a:pt x="603442" y="377152"/>
                </a:lnTo>
                <a:close/>
                <a:moveTo>
                  <a:pt x="829733" y="339436"/>
                </a:moveTo>
                <a:lnTo>
                  <a:pt x="905164" y="339436"/>
                </a:lnTo>
                <a:lnTo>
                  <a:pt x="905164" y="377152"/>
                </a:lnTo>
                <a:lnTo>
                  <a:pt x="829733" y="377152"/>
                </a:lnTo>
                <a:close/>
                <a:moveTo>
                  <a:pt x="980594" y="339436"/>
                </a:moveTo>
                <a:lnTo>
                  <a:pt x="1056024" y="339436"/>
                </a:lnTo>
                <a:lnTo>
                  <a:pt x="1056024" y="377152"/>
                </a:lnTo>
                <a:lnTo>
                  <a:pt x="980594" y="377152"/>
                </a:lnTo>
                <a:close/>
                <a:moveTo>
                  <a:pt x="1093739" y="339436"/>
                </a:moveTo>
                <a:lnTo>
                  <a:pt x="1169170" y="339436"/>
                </a:lnTo>
                <a:lnTo>
                  <a:pt x="1169170" y="377152"/>
                </a:lnTo>
                <a:lnTo>
                  <a:pt x="1093739" y="377152"/>
                </a:lnTo>
                <a:close/>
                <a:moveTo>
                  <a:pt x="1206885" y="339436"/>
                </a:moveTo>
                <a:lnTo>
                  <a:pt x="1244600" y="339436"/>
                </a:lnTo>
                <a:lnTo>
                  <a:pt x="1244600" y="377152"/>
                </a:lnTo>
                <a:lnTo>
                  <a:pt x="1206885" y="377152"/>
                </a:lnTo>
                <a:close/>
                <a:moveTo>
                  <a:pt x="150861" y="377152"/>
                </a:moveTo>
                <a:lnTo>
                  <a:pt x="264006" y="377152"/>
                </a:lnTo>
                <a:lnTo>
                  <a:pt x="264006" y="414867"/>
                </a:lnTo>
                <a:lnTo>
                  <a:pt x="150861" y="414867"/>
                </a:lnTo>
                <a:close/>
                <a:moveTo>
                  <a:pt x="339436" y="377152"/>
                </a:moveTo>
                <a:lnTo>
                  <a:pt x="377152" y="377152"/>
                </a:lnTo>
                <a:lnTo>
                  <a:pt x="377152" y="414867"/>
                </a:lnTo>
                <a:lnTo>
                  <a:pt x="339436" y="414867"/>
                </a:lnTo>
                <a:close/>
                <a:moveTo>
                  <a:pt x="452582" y="377152"/>
                </a:moveTo>
                <a:lnTo>
                  <a:pt x="678873" y="377152"/>
                </a:lnTo>
                <a:lnTo>
                  <a:pt x="678873" y="414867"/>
                </a:lnTo>
                <a:lnTo>
                  <a:pt x="452582" y="414867"/>
                </a:lnTo>
                <a:close/>
                <a:moveTo>
                  <a:pt x="754303" y="377152"/>
                </a:moveTo>
                <a:lnTo>
                  <a:pt x="829733" y="377152"/>
                </a:lnTo>
                <a:lnTo>
                  <a:pt x="829733" y="414867"/>
                </a:lnTo>
                <a:lnTo>
                  <a:pt x="754303" y="414867"/>
                </a:lnTo>
                <a:close/>
                <a:moveTo>
                  <a:pt x="942879" y="377152"/>
                </a:moveTo>
                <a:lnTo>
                  <a:pt x="1018309" y="377152"/>
                </a:lnTo>
                <a:lnTo>
                  <a:pt x="1018309" y="414867"/>
                </a:lnTo>
                <a:lnTo>
                  <a:pt x="942879" y="414867"/>
                </a:lnTo>
                <a:close/>
                <a:moveTo>
                  <a:pt x="1056024" y="377152"/>
                </a:moveTo>
                <a:lnTo>
                  <a:pt x="1093739" y="377152"/>
                </a:lnTo>
                <a:lnTo>
                  <a:pt x="1093739" y="414867"/>
                </a:lnTo>
                <a:lnTo>
                  <a:pt x="1056024" y="414867"/>
                </a:lnTo>
                <a:close/>
                <a:moveTo>
                  <a:pt x="1131455" y="377152"/>
                </a:moveTo>
                <a:lnTo>
                  <a:pt x="1206885" y="377152"/>
                </a:lnTo>
                <a:lnTo>
                  <a:pt x="1206885" y="414867"/>
                </a:lnTo>
                <a:lnTo>
                  <a:pt x="1131455" y="414867"/>
                </a:lnTo>
                <a:close/>
                <a:moveTo>
                  <a:pt x="75430" y="414867"/>
                </a:moveTo>
                <a:lnTo>
                  <a:pt x="188576" y="414867"/>
                </a:lnTo>
                <a:lnTo>
                  <a:pt x="188576" y="452582"/>
                </a:lnTo>
                <a:lnTo>
                  <a:pt x="75430" y="452582"/>
                </a:lnTo>
                <a:close/>
                <a:moveTo>
                  <a:pt x="452582" y="414867"/>
                </a:moveTo>
                <a:lnTo>
                  <a:pt x="528012" y="414867"/>
                </a:lnTo>
                <a:lnTo>
                  <a:pt x="528012" y="452582"/>
                </a:lnTo>
                <a:lnTo>
                  <a:pt x="452582" y="452582"/>
                </a:lnTo>
                <a:close/>
                <a:moveTo>
                  <a:pt x="565727" y="414867"/>
                </a:moveTo>
                <a:lnTo>
                  <a:pt x="603442" y="414867"/>
                </a:lnTo>
                <a:lnTo>
                  <a:pt x="603442" y="452582"/>
                </a:lnTo>
                <a:lnTo>
                  <a:pt x="565727" y="452582"/>
                </a:lnTo>
                <a:close/>
                <a:moveTo>
                  <a:pt x="754303" y="414867"/>
                </a:moveTo>
                <a:lnTo>
                  <a:pt x="867448" y="414867"/>
                </a:lnTo>
                <a:lnTo>
                  <a:pt x="867448" y="452582"/>
                </a:lnTo>
                <a:lnTo>
                  <a:pt x="754303" y="452582"/>
                </a:lnTo>
                <a:close/>
                <a:moveTo>
                  <a:pt x="980594" y="414867"/>
                </a:moveTo>
                <a:lnTo>
                  <a:pt x="1018309" y="414867"/>
                </a:lnTo>
                <a:lnTo>
                  <a:pt x="1018309" y="452582"/>
                </a:lnTo>
                <a:lnTo>
                  <a:pt x="980594" y="452582"/>
                </a:lnTo>
                <a:close/>
                <a:moveTo>
                  <a:pt x="1056024" y="414867"/>
                </a:moveTo>
                <a:lnTo>
                  <a:pt x="1169170" y="414867"/>
                </a:lnTo>
                <a:lnTo>
                  <a:pt x="1169170" y="452582"/>
                </a:lnTo>
                <a:lnTo>
                  <a:pt x="1056024" y="452582"/>
                </a:lnTo>
                <a:close/>
                <a:moveTo>
                  <a:pt x="1206885" y="414867"/>
                </a:moveTo>
                <a:lnTo>
                  <a:pt x="1244600" y="414867"/>
                </a:lnTo>
                <a:lnTo>
                  <a:pt x="1244600" y="452582"/>
                </a:lnTo>
                <a:lnTo>
                  <a:pt x="1206885" y="452582"/>
                </a:lnTo>
                <a:close/>
                <a:moveTo>
                  <a:pt x="37715" y="452582"/>
                </a:moveTo>
                <a:lnTo>
                  <a:pt x="113145" y="452582"/>
                </a:lnTo>
                <a:lnTo>
                  <a:pt x="113145" y="490297"/>
                </a:lnTo>
                <a:lnTo>
                  <a:pt x="37715" y="490297"/>
                </a:lnTo>
                <a:close/>
                <a:moveTo>
                  <a:pt x="188576" y="452582"/>
                </a:moveTo>
                <a:lnTo>
                  <a:pt x="264006" y="452582"/>
                </a:lnTo>
                <a:lnTo>
                  <a:pt x="264006" y="490297"/>
                </a:lnTo>
                <a:lnTo>
                  <a:pt x="188576" y="490297"/>
                </a:lnTo>
                <a:close/>
                <a:moveTo>
                  <a:pt x="301721" y="452582"/>
                </a:moveTo>
                <a:lnTo>
                  <a:pt x="339436" y="452582"/>
                </a:lnTo>
                <a:lnTo>
                  <a:pt x="339436" y="490297"/>
                </a:lnTo>
                <a:lnTo>
                  <a:pt x="301721" y="490297"/>
                </a:lnTo>
                <a:close/>
                <a:moveTo>
                  <a:pt x="377152" y="452582"/>
                </a:moveTo>
                <a:lnTo>
                  <a:pt x="452582" y="452582"/>
                </a:lnTo>
                <a:lnTo>
                  <a:pt x="452582" y="490297"/>
                </a:lnTo>
                <a:lnTo>
                  <a:pt x="377152" y="490297"/>
                </a:lnTo>
                <a:close/>
                <a:moveTo>
                  <a:pt x="528012" y="452582"/>
                </a:moveTo>
                <a:lnTo>
                  <a:pt x="565727" y="452582"/>
                </a:lnTo>
                <a:lnTo>
                  <a:pt x="565727" y="490297"/>
                </a:lnTo>
                <a:lnTo>
                  <a:pt x="528012" y="490297"/>
                </a:lnTo>
                <a:close/>
                <a:moveTo>
                  <a:pt x="603442" y="452582"/>
                </a:moveTo>
                <a:lnTo>
                  <a:pt x="641158" y="452582"/>
                </a:lnTo>
                <a:lnTo>
                  <a:pt x="641158" y="490297"/>
                </a:lnTo>
                <a:lnTo>
                  <a:pt x="603442" y="490297"/>
                </a:lnTo>
                <a:close/>
                <a:moveTo>
                  <a:pt x="678873" y="452582"/>
                </a:moveTo>
                <a:lnTo>
                  <a:pt x="716588" y="452582"/>
                </a:lnTo>
                <a:lnTo>
                  <a:pt x="716588" y="490297"/>
                </a:lnTo>
                <a:lnTo>
                  <a:pt x="678873" y="490297"/>
                </a:lnTo>
                <a:close/>
                <a:moveTo>
                  <a:pt x="754303" y="452582"/>
                </a:moveTo>
                <a:lnTo>
                  <a:pt x="792018" y="452582"/>
                </a:lnTo>
                <a:lnTo>
                  <a:pt x="792018" y="490297"/>
                </a:lnTo>
                <a:lnTo>
                  <a:pt x="754303" y="490297"/>
                </a:lnTo>
                <a:close/>
                <a:moveTo>
                  <a:pt x="867448" y="452582"/>
                </a:moveTo>
                <a:lnTo>
                  <a:pt x="980594" y="452582"/>
                </a:lnTo>
                <a:lnTo>
                  <a:pt x="980594" y="490297"/>
                </a:lnTo>
                <a:lnTo>
                  <a:pt x="867448" y="490297"/>
                </a:lnTo>
                <a:close/>
                <a:moveTo>
                  <a:pt x="1018309" y="452582"/>
                </a:moveTo>
                <a:lnTo>
                  <a:pt x="1131455" y="452582"/>
                </a:lnTo>
                <a:lnTo>
                  <a:pt x="1131455" y="490297"/>
                </a:lnTo>
                <a:lnTo>
                  <a:pt x="1018309" y="490297"/>
                </a:lnTo>
                <a:close/>
                <a:moveTo>
                  <a:pt x="1169170" y="452582"/>
                </a:moveTo>
                <a:lnTo>
                  <a:pt x="1244600" y="452582"/>
                </a:lnTo>
                <a:lnTo>
                  <a:pt x="1244600" y="490297"/>
                </a:lnTo>
                <a:lnTo>
                  <a:pt x="1169170" y="490297"/>
                </a:lnTo>
                <a:close/>
                <a:moveTo>
                  <a:pt x="0" y="490297"/>
                </a:moveTo>
                <a:lnTo>
                  <a:pt x="37715" y="490297"/>
                </a:lnTo>
                <a:lnTo>
                  <a:pt x="37715" y="528012"/>
                </a:lnTo>
                <a:lnTo>
                  <a:pt x="0" y="528012"/>
                </a:lnTo>
                <a:close/>
                <a:moveTo>
                  <a:pt x="113145" y="490297"/>
                </a:moveTo>
                <a:lnTo>
                  <a:pt x="226291" y="490297"/>
                </a:lnTo>
                <a:lnTo>
                  <a:pt x="226291" y="528012"/>
                </a:lnTo>
                <a:lnTo>
                  <a:pt x="113145" y="528012"/>
                </a:lnTo>
                <a:close/>
                <a:moveTo>
                  <a:pt x="301721" y="490297"/>
                </a:moveTo>
                <a:lnTo>
                  <a:pt x="377152" y="490297"/>
                </a:lnTo>
                <a:lnTo>
                  <a:pt x="377152" y="528012"/>
                </a:lnTo>
                <a:lnTo>
                  <a:pt x="301721" y="528012"/>
                </a:lnTo>
                <a:close/>
                <a:moveTo>
                  <a:pt x="452582" y="490297"/>
                </a:moveTo>
                <a:lnTo>
                  <a:pt x="528012" y="490297"/>
                </a:lnTo>
                <a:lnTo>
                  <a:pt x="528012" y="528012"/>
                </a:lnTo>
                <a:lnTo>
                  <a:pt x="452582" y="528012"/>
                </a:lnTo>
                <a:close/>
                <a:moveTo>
                  <a:pt x="565727" y="490297"/>
                </a:moveTo>
                <a:lnTo>
                  <a:pt x="603442" y="490297"/>
                </a:lnTo>
                <a:lnTo>
                  <a:pt x="603442" y="528012"/>
                </a:lnTo>
                <a:lnTo>
                  <a:pt x="565727" y="528012"/>
                </a:lnTo>
                <a:close/>
                <a:moveTo>
                  <a:pt x="678873" y="490297"/>
                </a:moveTo>
                <a:lnTo>
                  <a:pt x="829733" y="490297"/>
                </a:lnTo>
                <a:lnTo>
                  <a:pt x="829733" y="528012"/>
                </a:lnTo>
                <a:lnTo>
                  <a:pt x="678873" y="528012"/>
                </a:lnTo>
                <a:close/>
                <a:moveTo>
                  <a:pt x="867448" y="490297"/>
                </a:moveTo>
                <a:lnTo>
                  <a:pt x="942879" y="490297"/>
                </a:lnTo>
                <a:lnTo>
                  <a:pt x="942879" y="528012"/>
                </a:lnTo>
                <a:lnTo>
                  <a:pt x="867448" y="528012"/>
                </a:lnTo>
                <a:close/>
                <a:moveTo>
                  <a:pt x="980594" y="490297"/>
                </a:moveTo>
                <a:lnTo>
                  <a:pt x="1018309" y="490297"/>
                </a:lnTo>
                <a:lnTo>
                  <a:pt x="1018309" y="528012"/>
                </a:lnTo>
                <a:lnTo>
                  <a:pt x="980594" y="528012"/>
                </a:lnTo>
                <a:close/>
                <a:moveTo>
                  <a:pt x="1169170" y="490297"/>
                </a:moveTo>
                <a:lnTo>
                  <a:pt x="1244600" y="490297"/>
                </a:lnTo>
                <a:lnTo>
                  <a:pt x="1244600" y="528012"/>
                </a:lnTo>
                <a:lnTo>
                  <a:pt x="1169170" y="528012"/>
                </a:lnTo>
                <a:close/>
                <a:moveTo>
                  <a:pt x="0" y="528012"/>
                </a:moveTo>
                <a:lnTo>
                  <a:pt x="75430" y="528012"/>
                </a:lnTo>
                <a:lnTo>
                  <a:pt x="75430" y="565727"/>
                </a:lnTo>
                <a:lnTo>
                  <a:pt x="0" y="565727"/>
                </a:lnTo>
                <a:close/>
                <a:moveTo>
                  <a:pt x="226291" y="528012"/>
                </a:moveTo>
                <a:lnTo>
                  <a:pt x="339436" y="528012"/>
                </a:lnTo>
                <a:lnTo>
                  <a:pt x="339436" y="565727"/>
                </a:lnTo>
                <a:lnTo>
                  <a:pt x="226291" y="565727"/>
                </a:lnTo>
                <a:close/>
                <a:moveTo>
                  <a:pt x="452582" y="528012"/>
                </a:moveTo>
                <a:lnTo>
                  <a:pt x="490297" y="528012"/>
                </a:lnTo>
                <a:lnTo>
                  <a:pt x="490297" y="565727"/>
                </a:lnTo>
                <a:lnTo>
                  <a:pt x="452582" y="565727"/>
                </a:lnTo>
                <a:close/>
                <a:moveTo>
                  <a:pt x="565727" y="528012"/>
                </a:moveTo>
                <a:lnTo>
                  <a:pt x="678873" y="528012"/>
                </a:lnTo>
                <a:lnTo>
                  <a:pt x="678873" y="565727"/>
                </a:lnTo>
                <a:lnTo>
                  <a:pt x="565727" y="565727"/>
                </a:lnTo>
                <a:close/>
                <a:moveTo>
                  <a:pt x="754303" y="528012"/>
                </a:moveTo>
                <a:lnTo>
                  <a:pt x="829733" y="528012"/>
                </a:lnTo>
                <a:lnTo>
                  <a:pt x="829733" y="565727"/>
                </a:lnTo>
                <a:lnTo>
                  <a:pt x="754303" y="565727"/>
                </a:lnTo>
                <a:close/>
                <a:moveTo>
                  <a:pt x="942879" y="528012"/>
                </a:moveTo>
                <a:lnTo>
                  <a:pt x="1018309" y="528012"/>
                </a:lnTo>
                <a:lnTo>
                  <a:pt x="1018309" y="565727"/>
                </a:lnTo>
                <a:lnTo>
                  <a:pt x="942879" y="565727"/>
                </a:lnTo>
                <a:close/>
                <a:moveTo>
                  <a:pt x="1093739" y="528012"/>
                </a:moveTo>
                <a:lnTo>
                  <a:pt x="1206885" y="528012"/>
                </a:lnTo>
                <a:lnTo>
                  <a:pt x="1206885" y="565727"/>
                </a:lnTo>
                <a:lnTo>
                  <a:pt x="1093739" y="565727"/>
                </a:lnTo>
                <a:close/>
                <a:moveTo>
                  <a:pt x="37715" y="565727"/>
                </a:moveTo>
                <a:lnTo>
                  <a:pt x="75430" y="565727"/>
                </a:lnTo>
                <a:lnTo>
                  <a:pt x="75430" y="603442"/>
                </a:lnTo>
                <a:lnTo>
                  <a:pt x="37715" y="603442"/>
                </a:lnTo>
                <a:close/>
                <a:moveTo>
                  <a:pt x="301721" y="565727"/>
                </a:moveTo>
                <a:lnTo>
                  <a:pt x="339436" y="565727"/>
                </a:lnTo>
                <a:lnTo>
                  <a:pt x="339436" y="603442"/>
                </a:lnTo>
                <a:lnTo>
                  <a:pt x="301721" y="603442"/>
                </a:lnTo>
                <a:close/>
                <a:moveTo>
                  <a:pt x="377152" y="565727"/>
                </a:moveTo>
                <a:lnTo>
                  <a:pt x="414867" y="565727"/>
                </a:lnTo>
                <a:lnTo>
                  <a:pt x="414867" y="603442"/>
                </a:lnTo>
                <a:lnTo>
                  <a:pt x="377152" y="603442"/>
                </a:lnTo>
                <a:close/>
                <a:moveTo>
                  <a:pt x="452582" y="565727"/>
                </a:moveTo>
                <a:lnTo>
                  <a:pt x="603442" y="565727"/>
                </a:lnTo>
                <a:lnTo>
                  <a:pt x="603442" y="603442"/>
                </a:lnTo>
                <a:lnTo>
                  <a:pt x="452582" y="603442"/>
                </a:lnTo>
                <a:close/>
                <a:moveTo>
                  <a:pt x="754303" y="565727"/>
                </a:moveTo>
                <a:lnTo>
                  <a:pt x="829733" y="565727"/>
                </a:lnTo>
                <a:lnTo>
                  <a:pt x="829733" y="603442"/>
                </a:lnTo>
                <a:lnTo>
                  <a:pt x="754303" y="603442"/>
                </a:lnTo>
                <a:close/>
                <a:moveTo>
                  <a:pt x="867448" y="565727"/>
                </a:moveTo>
                <a:lnTo>
                  <a:pt x="905164" y="565727"/>
                </a:lnTo>
                <a:lnTo>
                  <a:pt x="905164" y="603442"/>
                </a:lnTo>
                <a:lnTo>
                  <a:pt x="867448" y="603442"/>
                </a:lnTo>
                <a:close/>
                <a:moveTo>
                  <a:pt x="942879" y="565727"/>
                </a:moveTo>
                <a:lnTo>
                  <a:pt x="1018309" y="565727"/>
                </a:lnTo>
                <a:lnTo>
                  <a:pt x="1018309" y="603442"/>
                </a:lnTo>
                <a:lnTo>
                  <a:pt x="942879" y="603442"/>
                </a:lnTo>
                <a:close/>
                <a:moveTo>
                  <a:pt x="1093739" y="565727"/>
                </a:moveTo>
                <a:lnTo>
                  <a:pt x="1169170" y="565727"/>
                </a:lnTo>
                <a:lnTo>
                  <a:pt x="1169170" y="603442"/>
                </a:lnTo>
                <a:lnTo>
                  <a:pt x="1093739" y="603442"/>
                </a:lnTo>
                <a:close/>
                <a:moveTo>
                  <a:pt x="0" y="603442"/>
                </a:moveTo>
                <a:lnTo>
                  <a:pt x="37715" y="603442"/>
                </a:lnTo>
                <a:lnTo>
                  <a:pt x="37715" y="641158"/>
                </a:lnTo>
                <a:lnTo>
                  <a:pt x="0" y="641158"/>
                </a:lnTo>
                <a:close/>
                <a:moveTo>
                  <a:pt x="188576" y="603442"/>
                </a:moveTo>
                <a:lnTo>
                  <a:pt x="414867" y="603442"/>
                </a:lnTo>
                <a:lnTo>
                  <a:pt x="414867" y="641158"/>
                </a:lnTo>
                <a:lnTo>
                  <a:pt x="188576" y="641158"/>
                </a:lnTo>
                <a:close/>
                <a:moveTo>
                  <a:pt x="528012" y="603442"/>
                </a:moveTo>
                <a:lnTo>
                  <a:pt x="603442" y="603442"/>
                </a:lnTo>
                <a:lnTo>
                  <a:pt x="603442" y="641158"/>
                </a:lnTo>
                <a:lnTo>
                  <a:pt x="528012" y="641158"/>
                </a:lnTo>
                <a:close/>
                <a:moveTo>
                  <a:pt x="641158" y="603442"/>
                </a:moveTo>
                <a:lnTo>
                  <a:pt x="678873" y="603442"/>
                </a:lnTo>
                <a:lnTo>
                  <a:pt x="678873" y="641158"/>
                </a:lnTo>
                <a:lnTo>
                  <a:pt x="641158" y="641158"/>
                </a:lnTo>
                <a:close/>
                <a:moveTo>
                  <a:pt x="754303" y="603442"/>
                </a:moveTo>
                <a:lnTo>
                  <a:pt x="792018" y="603442"/>
                </a:lnTo>
                <a:lnTo>
                  <a:pt x="792018" y="641158"/>
                </a:lnTo>
                <a:lnTo>
                  <a:pt x="754303" y="641158"/>
                </a:lnTo>
                <a:close/>
                <a:moveTo>
                  <a:pt x="905164" y="603442"/>
                </a:moveTo>
                <a:lnTo>
                  <a:pt x="980594" y="603442"/>
                </a:lnTo>
                <a:lnTo>
                  <a:pt x="980594" y="641158"/>
                </a:lnTo>
                <a:lnTo>
                  <a:pt x="905164" y="641158"/>
                </a:lnTo>
                <a:close/>
                <a:moveTo>
                  <a:pt x="1018309" y="603442"/>
                </a:moveTo>
                <a:lnTo>
                  <a:pt x="1093739" y="603442"/>
                </a:lnTo>
                <a:lnTo>
                  <a:pt x="1093739" y="641158"/>
                </a:lnTo>
                <a:lnTo>
                  <a:pt x="1018309" y="641158"/>
                </a:lnTo>
                <a:close/>
                <a:moveTo>
                  <a:pt x="1206885" y="603442"/>
                </a:moveTo>
                <a:lnTo>
                  <a:pt x="1244600" y="603442"/>
                </a:lnTo>
                <a:lnTo>
                  <a:pt x="1244600" y="641158"/>
                </a:lnTo>
                <a:lnTo>
                  <a:pt x="1206885" y="641158"/>
                </a:lnTo>
                <a:close/>
                <a:moveTo>
                  <a:pt x="150861" y="641158"/>
                </a:moveTo>
                <a:lnTo>
                  <a:pt x="226291" y="641158"/>
                </a:lnTo>
                <a:lnTo>
                  <a:pt x="226291" y="678873"/>
                </a:lnTo>
                <a:lnTo>
                  <a:pt x="150861" y="678873"/>
                </a:lnTo>
                <a:close/>
                <a:moveTo>
                  <a:pt x="301721" y="641158"/>
                </a:moveTo>
                <a:lnTo>
                  <a:pt x="377152" y="641158"/>
                </a:lnTo>
                <a:lnTo>
                  <a:pt x="377152" y="678873"/>
                </a:lnTo>
                <a:lnTo>
                  <a:pt x="301721" y="678873"/>
                </a:lnTo>
                <a:close/>
                <a:moveTo>
                  <a:pt x="490297" y="641158"/>
                </a:moveTo>
                <a:lnTo>
                  <a:pt x="528012" y="641158"/>
                </a:lnTo>
                <a:lnTo>
                  <a:pt x="528012" y="678873"/>
                </a:lnTo>
                <a:lnTo>
                  <a:pt x="490297" y="678873"/>
                </a:lnTo>
                <a:close/>
                <a:moveTo>
                  <a:pt x="603442" y="641158"/>
                </a:moveTo>
                <a:lnTo>
                  <a:pt x="641158" y="641158"/>
                </a:lnTo>
                <a:lnTo>
                  <a:pt x="641158" y="678873"/>
                </a:lnTo>
                <a:lnTo>
                  <a:pt x="603442" y="678873"/>
                </a:lnTo>
                <a:close/>
                <a:moveTo>
                  <a:pt x="716588" y="641158"/>
                </a:moveTo>
                <a:lnTo>
                  <a:pt x="754303" y="641158"/>
                </a:lnTo>
                <a:lnTo>
                  <a:pt x="754303" y="678873"/>
                </a:lnTo>
                <a:lnTo>
                  <a:pt x="716588" y="678873"/>
                </a:lnTo>
                <a:close/>
                <a:moveTo>
                  <a:pt x="829733" y="641158"/>
                </a:moveTo>
                <a:lnTo>
                  <a:pt x="905164" y="641158"/>
                </a:lnTo>
                <a:lnTo>
                  <a:pt x="905164" y="678873"/>
                </a:lnTo>
                <a:lnTo>
                  <a:pt x="829733" y="678873"/>
                </a:lnTo>
                <a:close/>
                <a:moveTo>
                  <a:pt x="980594" y="641158"/>
                </a:moveTo>
                <a:lnTo>
                  <a:pt x="1056024" y="641158"/>
                </a:lnTo>
                <a:lnTo>
                  <a:pt x="1056024" y="678873"/>
                </a:lnTo>
                <a:lnTo>
                  <a:pt x="980594" y="678873"/>
                </a:lnTo>
                <a:close/>
                <a:moveTo>
                  <a:pt x="1093739" y="641158"/>
                </a:moveTo>
                <a:lnTo>
                  <a:pt x="1169170" y="641158"/>
                </a:lnTo>
                <a:lnTo>
                  <a:pt x="1169170" y="678873"/>
                </a:lnTo>
                <a:lnTo>
                  <a:pt x="1093739" y="678873"/>
                </a:lnTo>
                <a:close/>
                <a:moveTo>
                  <a:pt x="1206885" y="641158"/>
                </a:moveTo>
                <a:lnTo>
                  <a:pt x="1244600" y="641158"/>
                </a:lnTo>
                <a:lnTo>
                  <a:pt x="1244600" y="678873"/>
                </a:lnTo>
                <a:lnTo>
                  <a:pt x="1206885" y="678873"/>
                </a:lnTo>
                <a:close/>
                <a:moveTo>
                  <a:pt x="0" y="678873"/>
                </a:moveTo>
                <a:lnTo>
                  <a:pt x="37715" y="678873"/>
                </a:lnTo>
                <a:lnTo>
                  <a:pt x="37715" y="716588"/>
                </a:lnTo>
                <a:lnTo>
                  <a:pt x="0" y="716588"/>
                </a:lnTo>
                <a:close/>
                <a:moveTo>
                  <a:pt x="113145" y="678873"/>
                </a:moveTo>
                <a:lnTo>
                  <a:pt x="150861" y="678873"/>
                </a:lnTo>
                <a:lnTo>
                  <a:pt x="150861" y="716588"/>
                </a:lnTo>
                <a:lnTo>
                  <a:pt x="113145" y="716588"/>
                </a:lnTo>
                <a:close/>
                <a:moveTo>
                  <a:pt x="188576" y="678873"/>
                </a:moveTo>
                <a:lnTo>
                  <a:pt x="264006" y="678873"/>
                </a:lnTo>
                <a:lnTo>
                  <a:pt x="264006" y="716588"/>
                </a:lnTo>
                <a:lnTo>
                  <a:pt x="188576" y="716588"/>
                </a:lnTo>
                <a:close/>
                <a:moveTo>
                  <a:pt x="452582" y="678873"/>
                </a:moveTo>
                <a:lnTo>
                  <a:pt x="528012" y="678873"/>
                </a:lnTo>
                <a:lnTo>
                  <a:pt x="528012" y="716588"/>
                </a:lnTo>
                <a:lnTo>
                  <a:pt x="452582" y="716588"/>
                </a:lnTo>
                <a:close/>
                <a:moveTo>
                  <a:pt x="565727" y="678873"/>
                </a:moveTo>
                <a:lnTo>
                  <a:pt x="641158" y="678873"/>
                </a:lnTo>
                <a:lnTo>
                  <a:pt x="641158" y="716588"/>
                </a:lnTo>
                <a:lnTo>
                  <a:pt x="565727" y="716588"/>
                </a:lnTo>
                <a:close/>
                <a:moveTo>
                  <a:pt x="678873" y="678873"/>
                </a:moveTo>
                <a:lnTo>
                  <a:pt x="716588" y="678873"/>
                </a:lnTo>
                <a:lnTo>
                  <a:pt x="716588" y="716588"/>
                </a:lnTo>
                <a:lnTo>
                  <a:pt x="678873" y="716588"/>
                </a:lnTo>
                <a:close/>
                <a:moveTo>
                  <a:pt x="754303" y="678873"/>
                </a:moveTo>
                <a:lnTo>
                  <a:pt x="867448" y="678873"/>
                </a:lnTo>
                <a:lnTo>
                  <a:pt x="867448" y="716588"/>
                </a:lnTo>
                <a:lnTo>
                  <a:pt x="754303" y="716588"/>
                </a:lnTo>
                <a:close/>
                <a:moveTo>
                  <a:pt x="942879" y="678873"/>
                </a:moveTo>
                <a:lnTo>
                  <a:pt x="1093739" y="678873"/>
                </a:lnTo>
                <a:lnTo>
                  <a:pt x="1093739" y="716588"/>
                </a:lnTo>
                <a:lnTo>
                  <a:pt x="942879" y="716588"/>
                </a:lnTo>
                <a:close/>
                <a:moveTo>
                  <a:pt x="1131455" y="678873"/>
                </a:moveTo>
                <a:lnTo>
                  <a:pt x="1169170" y="678873"/>
                </a:lnTo>
                <a:lnTo>
                  <a:pt x="1169170" y="716588"/>
                </a:lnTo>
                <a:lnTo>
                  <a:pt x="1131455" y="716588"/>
                </a:lnTo>
                <a:close/>
                <a:moveTo>
                  <a:pt x="113145" y="716588"/>
                </a:moveTo>
                <a:lnTo>
                  <a:pt x="226291" y="716588"/>
                </a:lnTo>
                <a:lnTo>
                  <a:pt x="226291" y="754303"/>
                </a:lnTo>
                <a:lnTo>
                  <a:pt x="113145" y="754303"/>
                </a:lnTo>
                <a:close/>
                <a:moveTo>
                  <a:pt x="264006" y="716588"/>
                </a:moveTo>
                <a:lnTo>
                  <a:pt x="377152" y="716588"/>
                </a:lnTo>
                <a:lnTo>
                  <a:pt x="377152" y="754303"/>
                </a:lnTo>
                <a:lnTo>
                  <a:pt x="264006" y="754303"/>
                </a:lnTo>
                <a:close/>
                <a:moveTo>
                  <a:pt x="490297" y="716588"/>
                </a:moveTo>
                <a:lnTo>
                  <a:pt x="565727" y="716588"/>
                </a:lnTo>
                <a:lnTo>
                  <a:pt x="565727" y="754303"/>
                </a:lnTo>
                <a:lnTo>
                  <a:pt x="490297" y="754303"/>
                </a:lnTo>
                <a:close/>
                <a:moveTo>
                  <a:pt x="603442" y="716588"/>
                </a:moveTo>
                <a:lnTo>
                  <a:pt x="641158" y="716588"/>
                </a:lnTo>
                <a:lnTo>
                  <a:pt x="641158" y="754303"/>
                </a:lnTo>
                <a:lnTo>
                  <a:pt x="603442" y="754303"/>
                </a:lnTo>
                <a:close/>
                <a:moveTo>
                  <a:pt x="678873" y="716588"/>
                </a:moveTo>
                <a:lnTo>
                  <a:pt x="716588" y="716588"/>
                </a:lnTo>
                <a:lnTo>
                  <a:pt x="716588" y="754303"/>
                </a:lnTo>
                <a:lnTo>
                  <a:pt x="678873" y="754303"/>
                </a:lnTo>
                <a:close/>
                <a:moveTo>
                  <a:pt x="792018" y="716588"/>
                </a:moveTo>
                <a:lnTo>
                  <a:pt x="867448" y="716588"/>
                </a:lnTo>
                <a:lnTo>
                  <a:pt x="867448" y="754303"/>
                </a:lnTo>
                <a:lnTo>
                  <a:pt x="792018" y="754303"/>
                </a:lnTo>
                <a:close/>
                <a:moveTo>
                  <a:pt x="980594" y="716588"/>
                </a:moveTo>
                <a:lnTo>
                  <a:pt x="1169170" y="716588"/>
                </a:lnTo>
                <a:lnTo>
                  <a:pt x="1169170" y="754303"/>
                </a:lnTo>
                <a:lnTo>
                  <a:pt x="980594" y="754303"/>
                </a:lnTo>
                <a:close/>
                <a:moveTo>
                  <a:pt x="1206885" y="716588"/>
                </a:moveTo>
                <a:lnTo>
                  <a:pt x="1244600" y="716588"/>
                </a:lnTo>
                <a:lnTo>
                  <a:pt x="1244600" y="754303"/>
                </a:lnTo>
                <a:lnTo>
                  <a:pt x="1206885" y="754303"/>
                </a:lnTo>
                <a:close/>
                <a:moveTo>
                  <a:pt x="0" y="754303"/>
                </a:moveTo>
                <a:lnTo>
                  <a:pt x="37715" y="754303"/>
                </a:lnTo>
                <a:lnTo>
                  <a:pt x="37715" y="792018"/>
                </a:lnTo>
                <a:lnTo>
                  <a:pt x="0" y="792018"/>
                </a:lnTo>
                <a:close/>
                <a:moveTo>
                  <a:pt x="113145" y="754303"/>
                </a:moveTo>
                <a:lnTo>
                  <a:pt x="150861" y="754303"/>
                </a:lnTo>
                <a:lnTo>
                  <a:pt x="150861" y="792018"/>
                </a:lnTo>
                <a:lnTo>
                  <a:pt x="113145" y="792018"/>
                </a:lnTo>
                <a:close/>
                <a:moveTo>
                  <a:pt x="226291" y="754303"/>
                </a:moveTo>
                <a:lnTo>
                  <a:pt x="264006" y="754303"/>
                </a:lnTo>
                <a:lnTo>
                  <a:pt x="264006" y="792018"/>
                </a:lnTo>
                <a:lnTo>
                  <a:pt x="226291" y="792018"/>
                </a:lnTo>
                <a:close/>
                <a:moveTo>
                  <a:pt x="301721" y="754303"/>
                </a:moveTo>
                <a:lnTo>
                  <a:pt x="377152" y="754303"/>
                </a:lnTo>
                <a:lnTo>
                  <a:pt x="377152" y="792018"/>
                </a:lnTo>
                <a:lnTo>
                  <a:pt x="301721" y="792018"/>
                </a:lnTo>
                <a:close/>
                <a:moveTo>
                  <a:pt x="452582" y="754303"/>
                </a:moveTo>
                <a:lnTo>
                  <a:pt x="528012" y="754303"/>
                </a:lnTo>
                <a:lnTo>
                  <a:pt x="528012" y="792018"/>
                </a:lnTo>
                <a:lnTo>
                  <a:pt x="452582" y="792018"/>
                </a:lnTo>
                <a:close/>
                <a:moveTo>
                  <a:pt x="565727" y="754303"/>
                </a:moveTo>
                <a:lnTo>
                  <a:pt x="603442" y="754303"/>
                </a:lnTo>
                <a:lnTo>
                  <a:pt x="603442" y="792018"/>
                </a:lnTo>
                <a:lnTo>
                  <a:pt x="565727" y="792018"/>
                </a:lnTo>
                <a:close/>
                <a:moveTo>
                  <a:pt x="678873" y="754303"/>
                </a:moveTo>
                <a:lnTo>
                  <a:pt x="716588" y="754303"/>
                </a:lnTo>
                <a:lnTo>
                  <a:pt x="716588" y="792018"/>
                </a:lnTo>
                <a:lnTo>
                  <a:pt x="678873" y="792018"/>
                </a:lnTo>
                <a:close/>
                <a:moveTo>
                  <a:pt x="829733" y="754303"/>
                </a:moveTo>
                <a:lnTo>
                  <a:pt x="867448" y="754303"/>
                </a:lnTo>
                <a:lnTo>
                  <a:pt x="867448" y="792018"/>
                </a:lnTo>
                <a:lnTo>
                  <a:pt x="829733" y="792018"/>
                </a:lnTo>
                <a:close/>
                <a:moveTo>
                  <a:pt x="905164" y="754303"/>
                </a:moveTo>
                <a:lnTo>
                  <a:pt x="980594" y="754303"/>
                </a:lnTo>
                <a:lnTo>
                  <a:pt x="980594" y="792018"/>
                </a:lnTo>
                <a:lnTo>
                  <a:pt x="905164" y="792018"/>
                </a:lnTo>
                <a:close/>
                <a:moveTo>
                  <a:pt x="1056024" y="754303"/>
                </a:moveTo>
                <a:lnTo>
                  <a:pt x="1131455" y="754303"/>
                </a:lnTo>
                <a:lnTo>
                  <a:pt x="1131455" y="792018"/>
                </a:lnTo>
                <a:lnTo>
                  <a:pt x="1056024" y="792018"/>
                </a:lnTo>
                <a:close/>
                <a:moveTo>
                  <a:pt x="0" y="792018"/>
                </a:moveTo>
                <a:lnTo>
                  <a:pt x="37715" y="792018"/>
                </a:lnTo>
                <a:lnTo>
                  <a:pt x="37715" y="829733"/>
                </a:lnTo>
                <a:lnTo>
                  <a:pt x="0" y="829733"/>
                </a:lnTo>
                <a:close/>
                <a:moveTo>
                  <a:pt x="75430" y="792018"/>
                </a:moveTo>
                <a:lnTo>
                  <a:pt x="113145" y="792018"/>
                </a:lnTo>
                <a:lnTo>
                  <a:pt x="113145" y="829733"/>
                </a:lnTo>
                <a:lnTo>
                  <a:pt x="75430" y="829733"/>
                </a:lnTo>
                <a:close/>
                <a:moveTo>
                  <a:pt x="150861" y="792018"/>
                </a:moveTo>
                <a:lnTo>
                  <a:pt x="188576" y="792018"/>
                </a:lnTo>
                <a:lnTo>
                  <a:pt x="188576" y="829733"/>
                </a:lnTo>
                <a:lnTo>
                  <a:pt x="150861" y="829733"/>
                </a:lnTo>
                <a:close/>
                <a:moveTo>
                  <a:pt x="339436" y="792018"/>
                </a:moveTo>
                <a:lnTo>
                  <a:pt x="377152" y="792018"/>
                </a:lnTo>
                <a:lnTo>
                  <a:pt x="377152" y="829733"/>
                </a:lnTo>
                <a:lnTo>
                  <a:pt x="339436" y="829733"/>
                </a:lnTo>
                <a:close/>
                <a:moveTo>
                  <a:pt x="452582" y="792018"/>
                </a:moveTo>
                <a:lnTo>
                  <a:pt x="490297" y="792018"/>
                </a:lnTo>
                <a:lnTo>
                  <a:pt x="490297" y="829733"/>
                </a:lnTo>
                <a:lnTo>
                  <a:pt x="452582" y="829733"/>
                </a:lnTo>
                <a:close/>
                <a:moveTo>
                  <a:pt x="528012" y="792018"/>
                </a:moveTo>
                <a:lnTo>
                  <a:pt x="641158" y="792018"/>
                </a:lnTo>
                <a:lnTo>
                  <a:pt x="641158" y="829733"/>
                </a:lnTo>
                <a:lnTo>
                  <a:pt x="528012" y="829733"/>
                </a:lnTo>
                <a:close/>
                <a:moveTo>
                  <a:pt x="678873" y="792018"/>
                </a:moveTo>
                <a:lnTo>
                  <a:pt x="905164" y="792018"/>
                </a:lnTo>
                <a:lnTo>
                  <a:pt x="905164" y="829733"/>
                </a:lnTo>
                <a:lnTo>
                  <a:pt x="678873" y="829733"/>
                </a:lnTo>
                <a:close/>
                <a:moveTo>
                  <a:pt x="980594" y="792018"/>
                </a:moveTo>
                <a:lnTo>
                  <a:pt x="1018309" y="792018"/>
                </a:lnTo>
                <a:lnTo>
                  <a:pt x="1018309" y="829733"/>
                </a:lnTo>
                <a:lnTo>
                  <a:pt x="980594" y="829733"/>
                </a:lnTo>
                <a:close/>
                <a:moveTo>
                  <a:pt x="1093739" y="792018"/>
                </a:moveTo>
                <a:lnTo>
                  <a:pt x="1131455" y="792018"/>
                </a:lnTo>
                <a:lnTo>
                  <a:pt x="1131455" y="829733"/>
                </a:lnTo>
                <a:lnTo>
                  <a:pt x="1093739" y="829733"/>
                </a:lnTo>
                <a:close/>
                <a:moveTo>
                  <a:pt x="1206885" y="792018"/>
                </a:moveTo>
                <a:lnTo>
                  <a:pt x="1244600" y="792018"/>
                </a:lnTo>
                <a:lnTo>
                  <a:pt x="1244600" y="829733"/>
                </a:lnTo>
                <a:lnTo>
                  <a:pt x="1206885" y="829733"/>
                </a:lnTo>
                <a:close/>
                <a:moveTo>
                  <a:pt x="0" y="829733"/>
                </a:moveTo>
                <a:lnTo>
                  <a:pt x="37715" y="829733"/>
                </a:lnTo>
                <a:lnTo>
                  <a:pt x="37715" y="867448"/>
                </a:lnTo>
                <a:lnTo>
                  <a:pt x="0" y="867448"/>
                </a:lnTo>
                <a:close/>
                <a:moveTo>
                  <a:pt x="75430" y="829733"/>
                </a:moveTo>
                <a:lnTo>
                  <a:pt x="113145" y="829733"/>
                </a:lnTo>
                <a:lnTo>
                  <a:pt x="113145" y="867448"/>
                </a:lnTo>
                <a:lnTo>
                  <a:pt x="75430" y="867448"/>
                </a:lnTo>
                <a:close/>
                <a:moveTo>
                  <a:pt x="150861" y="829733"/>
                </a:moveTo>
                <a:lnTo>
                  <a:pt x="188576" y="829733"/>
                </a:lnTo>
                <a:lnTo>
                  <a:pt x="188576" y="867448"/>
                </a:lnTo>
                <a:lnTo>
                  <a:pt x="150861" y="867448"/>
                </a:lnTo>
                <a:close/>
                <a:moveTo>
                  <a:pt x="226291" y="829733"/>
                </a:moveTo>
                <a:lnTo>
                  <a:pt x="339436" y="829733"/>
                </a:lnTo>
                <a:lnTo>
                  <a:pt x="339436" y="867448"/>
                </a:lnTo>
                <a:lnTo>
                  <a:pt x="226291" y="867448"/>
                </a:lnTo>
                <a:close/>
                <a:moveTo>
                  <a:pt x="490297" y="829733"/>
                </a:moveTo>
                <a:lnTo>
                  <a:pt x="528012" y="829733"/>
                </a:lnTo>
                <a:lnTo>
                  <a:pt x="528012" y="867448"/>
                </a:lnTo>
                <a:lnTo>
                  <a:pt x="490297" y="867448"/>
                </a:lnTo>
                <a:close/>
                <a:moveTo>
                  <a:pt x="792018" y="829733"/>
                </a:moveTo>
                <a:lnTo>
                  <a:pt x="829733" y="829733"/>
                </a:lnTo>
                <a:lnTo>
                  <a:pt x="829733" y="867448"/>
                </a:lnTo>
                <a:lnTo>
                  <a:pt x="792018" y="867448"/>
                </a:lnTo>
                <a:close/>
                <a:moveTo>
                  <a:pt x="905164" y="829733"/>
                </a:moveTo>
                <a:lnTo>
                  <a:pt x="942879" y="829733"/>
                </a:lnTo>
                <a:lnTo>
                  <a:pt x="942879" y="867448"/>
                </a:lnTo>
                <a:lnTo>
                  <a:pt x="905164" y="867448"/>
                </a:lnTo>
                <a:close/>
                <a:moveTo>
                  <a:pt x="980594" y="829733"/>
                </a:moveTo>
                <a:lnTo>
                  <a:pt x="1131455" y="829733"/>
                </a:lnTo>
                <a:lnTo>
                  <a:pt x="1131455" y="867448"/>
                </a:lnTo>
                <a:lnTo>
                  <a:pt x="980594" y="867448"/>
                </a:lnTo>
                <a:close/>
                <a:moveTo>
                  <a:pt x="1169170" y="829733"/>
                </a:moveTo>
                <a:lnTo>
                  <a:pt x="1206885" y="829733"/>
                </a:lnTo>
                <a:lnTo>
                  <a:pt x="1206885" y="867448"/>
                </a:lnTo>
                <a:lnTo>
                  <a:pt x="1169170" y="867448"/>
                </a:lnTo>
                <a:close/>
                <a:moveTo>
                  <a:pt x="0" y="867448"/>
                </a:moveTo>
                <a:lnTo>
                  <a:pt x="37715" y="867448"/>
                </a:lnTo>
                <a:lnTo>
                  <a:pt x="37715" y="905164"/>
                </a:lnTo>
                <a:lnTo>
                  <a:pt x="0" y="905164"/>
                </a:lnTo>
                <a:close/>
                <a:moveTo>
                  <a:pt x="113145" y="867448"/>
                </a:moveTo>
                <a:lnTo>
                  <a:pt x="226291" y="867448"/>
                </a:lnTo>
                <a:lnTo>
                  <a:pt x="226291" y="905164"/>
                </a:lnTo>
                <a:lnTo>
                  <a:pt x="113145" y="905164"/>
                </a:lnTo>
                <a:close/>
                <a:moveTo>
                  <a:pt x="264006" y="867448"/>
                </a:moveTo>
                <a:lnTo>
                  <a:pt x="339436" y="867448"/>
                </a:lnTo>
                <a:lnTo>
                  <a:pt x="339436" y="905164"/>
                </a:lnTo>
                <a:lnTo>
                  <a:pt x="264006" y="905164"/>
                </a:lnTo>
                <a:close/>
                <a:moveTo>
                  <a:pt x="377152" y="867448"/>
                </a:moveTo>
                <a:lnTo>
                  <a:pt x="414867" y="867448"/>
                </a:lnTo>
                <a:lnTo>
                  <a:pt x="414867" y="905164"/>
                </a:lnTo>
                <a:lnTo>
                  <a:pt x="377152" y="905164"/>
                </a:lnTo>
                <a:close/>
                <a:moveTo>
                  <a:pt x="452582" y="867448"/>
                </a:moveTo>
                <a:lnTo>
                  <a:pt x="490297" y="867448"/>
                </a:lnTo>
                <a:lnTo>
                  <a:pt x="490297" y="905164"/>
                </a:lnTo>
                <a:lnTo>
                  <a:pt x="452582" y="905164"/>
                </a:lnTo>
                <a:close/>
                <a:moveTo>
                  <a:pt x="528012" y="867448"/>
                </a:moveTo>
                <a:lnTo>
                  <a:pt x="565727" y="867448"/>
                </a:lnTo>
                <a:lnTo>
                  <a:pt x="565727" y="905164"/>
                </a:lnTo>
                <a:lnTo>
                  <a:pt x="528012" y="905164"/>
                </a:lnTo>
                <a:close/>
                <a:moveTo>
                  <a:pt x="603442" y="867448"/>
                </a:moveTo>
                <a:lnTo>
                  <a:pt x="641158" y="867448"/>
                </a:lnTo>
                <a:lnTo>
                  <a:pt x="641158" y="905164"/>
                </a:lnTo>
                <a:lnTo>
                  <a:pt x="603442" y="905164"/>
                </a:lnTo>
                <a:close/>
                <a:moveTo>
                  <a:pt x="678873" y="867448"/>
                </a:moveTo>
                <a:lnTo>
                  <a:pt x="829733" y="867448"/>
                </a:lnTo>
                <a:lnTo>
                  <a:pt x="829733" y="905164"/>
                </a:lnTo>
                <a:lnTo>
                  <a:pt x="678873" y="905164"/>
                </a:lnTo>
                <a:close/>
                <a:moveTo>
                  <a:pt x="867448" y="867448"/>
                </a:moveTo>
                <a:lnTo>
                  <a:pt x="905164" y="867448"/>
                </a:lnTo>
                <a:lnTo>
                  <a:pt x="905164" y="905164"/>
                </a:lnTo>
                <a:lnTo>
                  <a:pt x="867448" y="905164"/>
                </a:lnTo>
                <a:close/>
                <a:moveTo>
                  <a:pt x="1018309" y="867448"/>
                </a:moveTo>
                <a:lnTo>
                  <a:pt x="1056024" y="867448"/>
                </a:lnTo>
                <a:lnTo>
                  <a:pt x="1056024" y="905164"/>
                </a:lnTo>
                <a:lnTo>
                  <a:pt x="1018309" y="905164"/>
                </a:lnTo>
                <a:close/>
                <a:moveTo>
                  <a:pt x="1131455" y="867448"/>
                </a:moveTo>
                <a:lnTo>
                  <a:pt x="1169170" y="867448"/>
                </a:lnTo>
                <a:lnTo>
                  <a:pt x="1169170" y="905164"/>
                </a:lnTo>
                <a:lnTo>
                  <a:pt x="1131455" y="905164"/>
                </a:lnTo>
                <a:close/>
                <a:moveTo>
                  <a:pt x="1206885" y="867448"/>
                </a:moveTo>
                <a:lnTo>
                  <a:pt x="1244600" y="867448"/>
                </a:lnTo>
                <a:lnTo>
                  <a:pt x="1244600" y="905164"/>
                </a:lnTo>
                <a:lnTo>
                  <a:pt x="1206885" y="905164"/>
                </a:lnTo>
                <a:close/>
                <a:moveTo>
                  <a:pt x="0" y="905164"/>
                </a:moveTo>
                <a:lnTo>
                  <a:pt x="37715" y="905164"/>
                </a:lnTo>
                <a:lnTo>
                  <a:pt x="37715" y="942879"/>
                </a:lnTo>
                <a:lnTo>
                  <a:pt x="0" y="942879"/>
                </a:lnTo>
                <a:close/>
                <a:moveTo>
                  <a:pt x="226291" y="905164"/>
                </a:moveTo>
                <a:lnTo>
                  <a:pt x="301721" y="905164"/>
                </a:lnTo>
                <a:lnTo>
                  <a:pt x="301721" y="942879"/>
                </a:lnTo>
                <a:lnTo>
                  <a:pt x="226291" y="942879"/>
                </a:lnTo>
                <a:close/>
                <a:moveTo>
                  <a:pt x="339436" y="905164"/>
                </a:moveTo>
                <a:lnTo>
                  <a:pt x="377152" y="905164"/>
                </a:lnTo>
                <a:lnTo>
                  <a:pt x="377152" y="942879"/>
                </a:lnTo>
                <a:lnTo>
                  <a:pt x="339436" y="942879"/>
                </a:lnTo>
                <a:close/>
                <a:moveTo>
                  <a:pt x="641158" y="905164"/>
                </a:moveTo>
                <a:lnTo>
                  <a:pt x="678873" y="905164"/>
                </a:lnTo>
                <a:lnTo>
                  <a:pt x="678873" y="942879"/>
                </a:lnTo>
                <a:lnTo>
                  <a:pt x="641158" y="942879"/>
                </a:lnTo>
                <a:close/>
                <a:moveTo>
                  <a:pt x="754303" y="905164"/>
                </a:moveTo>
                <a:lnTo>
                  <a:pt x="792018" y="905164"/>
                </a:lnTo>
                <a:lnTo>
                  <a:pt x="792018" y="942879"/>
                </a:lnTo>
                <a:lnTo>
                  <a:pt x="754303" y="942879"/>
                </a:lnTo>
                <a:close/>
                <a:moveTo>
                  <a:pt x="867448" y="905164"/>
                </a:moveTo>
                <a:lnTo>
                  <a:pt x="1093739" y="905164"/>
                </a:lnTo>
                <a:lnTo>
                  <a:pt x="1093739" y="942879"/>
                </a:lnTo>
                <a:lnTo>
                  <a:pt x="867448" y="942879"/>
                </a:lnTo>
                <a:close/>
                <a:moveTo>
                  <a:pt x="1169170" y="905164"/>
                </a:moveTo>
                <a:lnTo>
                  <a:pt x="1206885" y="905164"/>
                </a:lnTo>
                <a:lnTo>
                  <a:pt x="1206885" y="942879"/>
                </a:lnTo>
                <a:lnTo>
                  <a:pt x="1169170" y="942879"/>
                </a:lnTo>
                <a:close/>
                <a:moveTo>
                  <a:pt x="301721" y="942879"/>
                </a:moveTo>
                <a:lnTo>
                  <a:pt x="339436" y="942879"/>
                </a:lnTo>
                <a:lnTo>
                  <a:pt x="339436" y="980594"/>
                </a:lnTo>
                <a:lnTo>
                  <a:pt x="301721" y="980594"/>
                </a:lnTo>
                <a:close/>
                <a:moveTo>
                  <a:pt x="377152" y="942879"/>
                </a:moveTo>
                <a:lnTo>
                  <a:pt x="452582" y="942879"/>
                </a:lnTo>
                <a:lnTo>
                  <a:pt x="452582" y="980594"/>
                </a:lnTo>
                <a:lnTo>
                  <a:pt x="377152" y="980594"/>
                </a:lnTo>
                <a:close/>
                <a:moveTo>
                  <a:pt x="490297" y="942879"/>
                </a:moveTo>
                <a:lnTo>
                  <a:pt x="528012" y="942879"/>
                </a:lnTo>
                <a:lnTo>
                  <a:pt x="528012" y="980594"/>
                </a:lnTo>
                <a:lnTo>
                  <a:pt x="490297" y="980594"/>
                </a:lnTo>
                <a:close/>
                <a:moveTo>
                  <a:pt x="603442" y="942879"/>
                </a:moveTo>
                <a:lnTo>
                  <a:pt x="754303" y="942879"/>
                </a:lnTo>
                <a:lnTo>
                  <a:pt x="754303" y="980594"/>
                </a:lnTo>
                <a:lnTo>
                  <a:pt x="603442" y="980594"/>
                </a:lnTo>
                <a:close/>
                <a:moveTo>
                  <a:pt x="792018" y="942879"/>
                </a:moveTo>
                <a:lnTo>
                  <a:pt x="867448" y="942879"/>
                </a:lnTo>
                <a:lnTo>
                  <a:pt x="867448" y="980594"/>
                </a:lnTo>
                <a:lnTo>
                  <a:pt x="792018" y="980594"/>
                </a:lnTo>
                <a:close/>
                <a:moveTo>
                  <a:pt x="905164" y="942879"/>
                </a:moveTo>
                <a:lnTo>
                  <a:pt x="942879" y="942879"/>
                </a:lnTo>
                <a:lnTo>
                  <a:pt x="942879" y="980594"/>
                </a:lnTo>
                <a:lnTo>
                  <a:pt x="905164" y="980594"/>
                </a:lnTo>
                <a:close/>
                <a:moveTo>
                  <a:pt x="1056024" y="942879"/>
                </a:moveTo>
                <a:lnTo>
                  <a:pt x="1093739" y="942879"/>
                </a:lnTo>
                <a:lnTo>
                  <a:pt x="1093739" y="980594"/>
                </a:lnTo>
                <a:lnTo>
                  <a:pt x="1056024" y="980594"/>
                </a:lnTo>
                <a:close/>
                <a:moveTo>
                  <a:pt x="1131455" y="942879"/>
                </a:moveTo>
                <a:lnTo>
                  <a:pt x="1169170" y="942879"/>
                </a:lnTo>
                <a:lnTo>
                  <a:pt x="1169170" y="980594"/>
                </a:lnTo>
                <a:lnTo>
                  <a:pt x="1131455" y="980594"/>
                </a:lnTo>
                <a:close/>
                <a:moveTo>
                  <a:pt x="1206885" y="942879"/>
                </a:moveTo>
                <a:lnTo>
                  <a:pt x="1244600" y="942879"/>
                </a:lnTo>
                <a:lnTo>
                  <a:pt x="1244600" y="980594"/>
                </a:lnTo>
                <a:lnTo>
                  <a:pt x="1206885" y="980594"/>
                </a:lnTo>
                <a:close/>
                <a:moveTo>
                  <a:pt x="0" y="980594"/>
                </a:moveTo>
                <a:lnTo>
                  <a:pt x="264006" y="980594"/>
                </a:lnTo>
                <a:lnTo>
                  <a:pt x="264006" y="1018309"/>
                </a:lnTo>
                <a:lnTo>
                  <a:pt x="0" y="1018309"/>
                </a:lnTo>
                <a:close/>
                <a:moveTo>
                  <a:pt x="339436" y="980594"/>
                </a:moveTo>
                <a:lnTo>
                  <a:pt x="377152" y="980594"/>
                </a:lnTo>
                <a:lnTo>
                  <a:pt x="377152" y="1018309"/>
                </a:lnTo>
                <a:lnTo>
                  <a:pt x="339436" y="1018309"/>
                </a:lnTo>
                <a:close/>
                <a:moveTo>
                  <a:pt x="490297" y="980594"/>
                </a:moveTo>
                <a:lnTo>
                  <a:pt x="528012" y="980594"/>
                </a:lnTo>
                <a:lnTo>
                  <a:pt x="528012" y="1018309"/>
                </a:lnTo>
                <a:lnTo>
                  <a:pt x="490297" y="1018309"/>
                </a:lnTo>
                <a:close/>
                <a:moveTo>
                  <a:pt x="565727" y="980594"/>
                </a:moveTo>
                <a:lnTo>
                  <a:pt x="603442" y="980594"/>
                </a:lnTo>
                <a:lnTo>
                  <a:pt x="603442" y="1018309"/>
                </a:lnTo>
                <a:lnTo>
                  <a:pt x="565727" y="1018309"/>
                </a:lnTo>
                <a:close/>
                <a:moveTo>
                  <a:pt x="641158" y="980594"/>
                </a:moveTo>
                <a:lnTo>
                  <a:pt x="678873" y="980594"/>
                </a:lnTo>
                <a:lnTo>
                  <a:pt x="678873" y="1018309"/>
                </a:lnTo>
                <a:lnTo>
                  <a:pt x="641158" y="1018309"/>
                </a:lnTo>
                <a:close/>
                <a:moveTo>
                  <a:pt x="867448" y="980594"/>
                </a:moveTo>
                <a:lnTo>
                  <a:pt x="942879" y="980594"/>
                </a:lnTo>
                <a:lnTo>
                  <a:pt x="942879" y="1018309"/>
                </a:lnTo>
                <a:lnTo>
                  <a:pt x="867448" y="1018309"/>
                </a:lnTo>
                <a:close/>
                <a:moveTo>
                  <a:pt x="980594" y="980594"/>
                </a:moveTo>
                <a:lnTo>
                  <a:pt x="1018309" y="980594"/>
                </a:lnTo>
                <a:lnTo>
                  <a:pt x="1018309" y="1018309"/>
                </a:lnTo>
                <a:lnTo>
                  <a:pt x="980594" y="1018309"/>
                </a:lnTo>
                <a:close/>
                <a:moveTo>
                  <a:pt x="1056024" y="980594"/>
                </a:moveTo>
                <a:lnTo>
                  <a:pt x="1093739" y="980594"/>
                </a:lnTo>
                <a:lnTo>
                  <a:pt x="1093739" y="1018309"/>
                </a:lnTo>
                <a:lnTo>
                  <a:pt x="1056024" y="1018309"/>
                </a:lnTo>
                <a:close/>
                <a:moveTo>
                  <a:pt x="1131455" y="980594"/>
                </a:moveTo>
                <a:lnTo>
                  <a:pt x="1206885" y="980594"/>
                </a:lnTo>
                <a:lnTo>
                  <a:pt x="1206885" y="1018309"/>
                </a:lnTo>
                <a:lnTo>
                  <a:pt x="1131455" y="1018309"/>
                </a:lnTo>
                <a:close/>
                <a:moveTo>
                  <a:pt x="0" y="1018309"/>
                </a:moveTo>
                <a:lnTo>
                  <a:pt x="37715" y="1018309"/>
                </a:lnTo>
                <a:lnTo>
                  <a:pt x="37715" y="1056024"/>
                </a:lnTo>
                <a:lnTo>
                  <a:pt x="0" y="1056024"/>
                </a:lnTo>
                <a:close/>
                <a:moveTo>
                  <a:pt x="226291" y="1018309"/>
                </a:moveTo>
                <a:lnTo>
                  <a:pt x="264006" y="1018309"/>
                </a:lnTo>
                <a:lnTo>
                  <a:pt x="264006" y="1056024"/>
                </a:lnTo>
                <a:lnTo>
                  <a:pt x="226291" y="1056024"/>
                </a:lnTo>
                <a:close/>
                <a:moveTo>
                  <a:pt x="301721" y="1018309"/>
                </a:moveTo>
                <a:lnTo>
                  <a:pt x="414867" y="1018309"/>
                </a:lnTo>
                <a:lnTo>
                  <a:pt x="414867" y="1056024"/>
                </a:lnTo>
                <a:lnTo>
                  <a:pt x="301721" y="1056024"/>
                </a:lnTo>
                <a:close/>
                <a:moveTo>
                  <a:pt x="490297" y="1018309"/>
                </a:moveTo>
                <a:lnTo>
                  <a:pt x="528012" y="1018309"/>
                </a:lnTo>
                <a:lnTo>
                  <a:pt x="528012" y="1056024"/>
                </a:lnTo>
                <a:lnTo>
                  <a:pt x="490297" y="1056024"/>
                </a:lnTo>
                <a:close/>
                <a:moveTo>
                  <a:pt x="603442" y="1018309"/>
                </a:moveTo>
                <a:lnTo>
                  <a:pt x="716588" y="1018309"/>
                </a:lnTo>
                <a:lnTo>
                  <a:pt x="716588" y="1056024"/>
                </a:lnTo>
                <a:lnTo>
                  <a:pt x="603442" y="1056024"/>
                </a:lnTo>
                <a:close/>
                <a:moveTo>
                  <a:pt x="792018" y="1018309"/>
                </a:moveTo>
                <a:lnTo>
                  <a:pt x="942879" y="1018309"/>
                </a:lnTo>
                <a:lnTo>
                  <a:pt x="942879" y="1056024"/>
                </a:lnTo>
                <a:lnTo>
                  <a:pt x="792018" y="1056024"/>
                </a:lnTo>
                <a:close/>
                <a:moveTo>
                  <a:pt x="1056024" y="1018309"/>
                </a:moveTo>
                <a:lnTo>
                  <a:pt x="1206885" y="1018309"/>
                </a:lnTo>
                <a:lnTo>
                  <a:pt x="1206885" y="1056024"/>
                </a:lnTo>
                <a:lnTo>
                  <a:pt x="1056024" y="1056024"/>
                </a:lnTo>
                <a:close/>
                <a:moveTo>
                  <a:pt x="0" y="1056024"/>
                </a:moveTo>
                <a:lnTo>
                  <a:pt x="37715" y="1056024"/>
                </a:lnTo>
                <a:lnTo>
                  <a:pt x="37715" y="1093739"/>
                </a:lnTo>
                <a:lnTo>
                  <a:pt x="0" y="1093739"/>
                </a:lnTo>
                <a:close/>
                <a:moveTo>
                  <a:pt x="75430" y="1056024"/>
                </a:moveTo>
                <a:lnTo>
                  <a:pt x="188576" y="1056024"/>
                </a:lnTo>
                <a:lnTo>
                  <a:pt x="188576" y="1093739"/>
                </a:lnTo>
                <a:lnTo>
                  <a:pt x="75430" y="1093739"/>
                </a:lnTo>
                <a:close/>
                <a:moveTo>
                  <a:pt x="226291" y="1056024"/>
                </a:moveTo>
                <a:lnTo>
                  <a:pt x="264006" y="1056024"/>
                </a:lnTo>
                <a:lnTo>
                  <a:pt x="264006" y="1093739"/>
                </a:lnTo>
                <a:lnTo>
                  <a:pt x="226291" y="1093739"/>
                </a:lnTo>
                <a:close/>
                <a:moveTo>
                  <a:pt x="301721" y="1056024"/>
                </a:moveTo>
                <a:lnTo>
                  <a:pt x="377152" y="1056024"/>
                </a:lnTo>
                <a:lnTo>
                  <a:pt x="377152" y="1093739"/>
                </a:lnTo>
                <a:lnTo>
                  <a:pt x="301721" y="1093739"/>
                </a:lnTo>
                <a:close/>
                <a:moveTo>
                  <a:pt x="528012" y="1056024"/>
                </a:moveTo>
                <a:lnTo>
                  <a:pt x="565727" y="1056024"/>
                </a:lnTo>
                <a:lnTo>
                  <a:pt x="565727" y="1093739"/>
                </a:lnTo>
                <a:lnTo>
                  <a:pt x="528012" y="1093739"/>
                </a:lnTo>
                <a:close/>
                <a:moveTo>
                  <a:pt x="603442" y="1056024"/>
                </a:moveTo>
                <a:lnTo>
                  <a:pt x="641158" y="1056024"/>
                </a:lnTo>
                <a:lnTo>
                  <a:pt x="641158" y="1093739"/>
                </a:lnTo>
                <a:lnTo>
                  <a:pt x="603442" y="1093739"/>
                </a:lnTo>
                <a:close/>
                <a:moveTo>
                  <a:pt x="829733" y="1056024"/>
                </a:moveTo>
                <a:lnTo>
                  <a:pt x="867448" y="1056024"/>
                </a:lnTo>
                <a:lnTo>
                  <a:pt x="867448" y="1093739"/>
                </a:lnTo>
                <a:lnTo>
                  <a:pt x="829733" y="1093739"/>
                </a:lnTo>
                <a:close/>
                <a:moveTo>
                  <a:pt x="905164" y="1056024"/>
                </a:moveTo>
                <a:lnTo>
                  <a:pt x="1131455" y="1056024"/>
                </a:lnTo>
                <a:lnTo>
                  <a:pt x="1131455" y="1093739"/>
                </a:lnTo>
                <a:lnTo>
                  <a:pt x="905164" y="1093739"/>
                </a:lnTo>
                <a:close/>
                <a:moveTo>
                  <a:pt x="1169170" y="1056024"/>
                </a:moveTo>
                <a:lnTo>
                  <a:pt x="1206885" y="1056024"/>
                </a:lnTo>
                <a:lnTo>
                  <a:pt x="1206885" y="1093739"/>
                </a:lnTo>
                <a:lnTo>
                  <a:pt x="1169170" y="1093739"/>
                </a:lnTo>
                <a:close/>
                <a:moveTo>
                  <a:pt x="0" y="1093739"/>
                </a:moveTo>
                <a:lnTo>
                  <a:pt x="37715" y="1093739"/>
                </a:lnTo>
                <a:lnTo>
                  <a:pt x="37715" y="1131455"/>
                </a:lnTo>
                <a:lnTo>
                  <a:pt x="0" y="1131455"/>
                </a:lnTo>
                <a:close/>
                <a:moveTo>
                  <a:pt x="75430" y="1093739"/>
                </a:moveTo>
                <a:lnTo>
                  <a:pt x="188576" y="1093739"/>
                </a:lnTo>
                <a:lnTo>
                  <a:pt x="188576" y="1131455"/>
                </a:lnTo>
                <a:lnTo>
                  <a:pt x="75430" y="1131455"/>
                </a:lnTo>
                <a:close/>
                <a:moveTo>
                  <a:pt x="226291" y="1093739"/>
                </a:moveTo>
                <a:lnTo>
                  <a:pt x="264006" y="1093739"/>
                </a:lnTo>
                <a:lnTo>
                  <a:pt x="264006" y="1131455"/>
                </a:lnTo>
                <a:lnTo>
                  <a:pt x="226291" y="1131455"/>
                </a:lnTo>
                <a:close/>
                <a:moveTo>
                  <a:pt x="301721" y="1093739"/>
                </a:moveTo>
                <a:lnTo>
                  <a:pt x="414867" y="1093739"/>
                </a:lnTo>
                <a:lnTo>
                  <a:pt x="414867" y="1131455"/>
                </a:lnTo>
                <a:lnTo>
                  <a:pt x="301721" y="1131455"/>
                </a:lnTo>
                <a:close/>
                <a:moveTo>
                  <a:pt x="452582" y="1093739"/>
                </a:moveTo>
                <a:lnTo>
                  <a:pt x="528012" y="1093739"/>
                </a:lnTo>
                <a:lnTo>
                  <a:pt x="528012" y="1131455"/>
                </a:lnTo>
                <a:lnTo>
                  <a:pt x="452582" y="1131455"/>
                </a:lnTo>
                <a:close/>
                <a:moveTo>
                  <a:pt x="565727" y="1093739"/>
                </a:moveTo>
                <a:lnTo>
                  <a:pt x="603442" y="1093739"/>
                </a:lnTo>
                <a:lnTo>
                  <a:pt x="603442" y="1131455"/>
                </a:lnTo>
                <a:lnTo>
                  <a:pt x="565727" y="1131455"/>
                </a:lnTo>
                <a:close/>
                <a:moveTo>
                  <a:pt x="641158" y="1093739"/>
                </a:moveTo>
                <a:lnTo>
                  <a:pt x="829733" y="1093739"/>
                </a:lnTo>
                <a:lnTo>
                  <a:pt x="829733" y="1131455"/>
                </a:lnTo>
                <a:lnTo>
                  <a:pt x="641158" y="1131455"/>
                </a:lnTo>
                <a:close/>
                <a:moveTo>
                  <a:pt x="867448" y="1093739"/>
                </a:moveTo>
                <a:lnTo>
                  <a:pt x="980594" y="1093739"/>
                </a:lnTo>
                <a:lnTo>
                  <a:pt x="980594" y="1131455"/>
                </a:lnTo>
                <a:lnTo>
                  <a:pt x="867448" y="1131455"/>
                </a:lnTo>
                <a:close/>
                <a:moveTo>
                  <a:pt x="1056024" y="1093739"/>
                </a:moveTo>
                <a:lnTo>
                  <a:pt x="1131455" y="1093739"/>
                </a:lnTo>
                <a:lnTo>
                  <a:pt x="1131455" y="1131455"/>
                </a:lnTo>
                <a:lnTo>
                  <a:pt x="1056024" y="1131455"/>
                </a:lnTo>
                <a:close/>
                <a:moveTo>
                  <a:pt x="1169170" y="1093739"/>
                </a:moveTo>
                <a:lnTo>
                  <a:pt x="1244600" y="1093739"/>
                </a:lnTo>
                <a:lnTo>
                  <a:pt x="1244600" y="1131455"/>
                </a:lnTo>
                <a:lnTo>
                  <a:pt x="1169170" y="1131455"/>
                </a:lnTo>
                <a:close/>
                <a:moveTo>
                  <a:pt x="0" y="1131455"/>
                </a:moveTo>
                <a:lnTo>
                  <a:pt x="37715" y="1131455"/>
                </a:lnTo>
                <a:lnTo>
                  <a:pt x="37715" y="1169170"/>
                </a:lnTo>
                <a:lnTo>
                  <a:pt x="0" y="1169170"/>
                </a:lnTo>
                <a:close/>
                <a:moveTo>
                  <a:pt x="75430" y="1131455"/>
                </a:moveTo>
                <a:lnTo>
                  <a:pt x="188576" y="1131455"/>
                </a:lnTo>
                <a:lnTo>
                  <a:pt x="188576" y="1169170"/>
                </a:lnTo>
                <a:lnTo>
                  <a:pt x="75430" y="1169170"/>
                </a:lnTo>
                <a:close/>
                <a:moveTo>
                  <a:pt x="226291" y="1131455"/>
                </a:moveTo>
                <a:lnTo>
                  <a:pt x="264006" y="1131455"/>
                </a:lnTo>
                <a:lnTo>
                  <a:pt x="264006" y="1169170"/>
                </a:lnTo>
                <a:lnTo>
                  <a:pt x="226291" y="1169170"/>
                </a:lnTo>
                <a:close/>
                <a:moveTo>
                  <a:pt x="301721" y="1131455"/>
                </a:moveTo>
                <a:lnTo>
                  <a:pt x="339436" y="1131455"/>
                </a:lnTo>
                <a:lnTo>
                  <a:pt x="339436" y="1169170"/>
                </a:lnTo>
                <a:lnTo>
                  <a:pt x="301721" y="1169170"/>
                </a:lnTo>
                <a:close/>
                <a:moveTo>
                  <a:pt x="377152" y="1131455"/>
                </a:moveTo>
                <a:lnTo>
                  <a:pt x="414867" y="1131455"/>
                </a:lnTo>
                <a:lnTo>
                  <a:pt x="414867" y="1169170"/>
                </a:lnTo>
                <a:lnTo>
                  <a:pt x="377152" y="1169170"/>
                </a:lnTo>
                <a:close/>
                <a:moveTo>
                  <a:pt x="490297" y="1131455"/>
                </a:moveTo>
                <a:lnTo>
                  <a:pt x="528012" y="1131455"/>
                </a:lnTo>
                <a:lnTo>
                  <a:pt x="528012" y="1169170"/>
                </a:lnTo>
                <a:lnTo>
                  <a:pt x="490297" y="1169170"/>
                </a:lnTo>
                <a:close/>
                <a:moveTo>
                  <a:pt x="565727" y="1131455"/>
                </a:moveTo>
                <a:lnTo>
                  <a:pt x="641158" y="1131455"/>
                </a:lnTo>
                <a:lnTo>
                  <a:pt x="641158" y="1169170"/>
                </a:lnTo>
                <a:lnTo>
                  <a:pt x="565727" y="1169170"/>
                </a:lnTo>
                <a:close/>
                <a:moveTo>
                  <a:pt x="754303" y="1131455"/>
                </a:moveTo>
                <a:lnTo>
                  <a:pt x="829733" y="1131455"/>
                </a:lnTo>
                <a:lnTo>
                  <a:pt x="829733" y="1169170"/>
                </a:lnTo>
                <a:lnTo>
                  <a:pt x="754303" y="1169170"/>
                </a:lnTo>
                <a:close/>
                <a:moveTo>
                  <a:pt x="905164" y="1131455"/>
                </a:moveTo>
                <a:lnTo>
                  <a:pt x="942879" y="1131455"/>
                </a:lnTo>
                <a:lnTo>
                  <a:pt x="942879" y="1169170"/>
                </a:lnTo>
                <a:lnTo>
                  <a:pt x="905164" y="1169170"/>
                </a:lnTo>
                <a:close/>
                <a:moveTo>
                  <a:pt x="980594" y="1131455"/>
                </a:moveTo>
                <a:lnTo>
                  <a:pt x="1056024" y="1131455"/>
                </a:lnTo>
                <a:lnTo>
                  <a:pt x="1056024" y="1169170"/>
                </a:lnTo>
                <a:lnTo>
                  <a:pt x="980594" y="1169170"/>
                </a:lnTo>
                <a:close/>
                <a:moveTo>
                  <a:pt x="1093739" y="1131455"/>
                </a:moveTo>
                <a:lnTo>
                  <a:pt x="1131455" y="1131455"/>
                </a:lnTo>
                <a:lnTo>
                  <a:pt x="1131455" y="1169170"/>
                </a:lnTo>
                <a:lnTo>
                  <a:pt x="1093739" y="1169170"/>
                </a:lnTo>
                <a:close/>
                <a:moveTo>
                  <a:pt x="0" y="1169170"/>
                </a:moveTo>
                <a:lnTo>
                  <a:pt x="37715" y="1169170"/>
                </a:lnTo>
                <a:lnTo>
                  <a:pt x="37715" y="1206885"/>
                </a:lnTo>
                <a:lnTo>
                  <a:pt x="0" y="1206885"/>
                </a:lnTo>
                <a:close/>
                <a:moveTo>
                  <a:pt x="226291" y="1169170"/>
                </a:moveTo>
                <a:lnTo>
                  <a:pt x="264006" y="1169170"/>
                </a:lnTo>
                <a:lnTo>
                  <a:pt x="264006" y="1206885"/>
                </a:lnTo>
                <a:lnTo>
                  <a:pt x="226291" y="1206885"/>
                </a:lnTo>
                <a:close/>
                <a:moveTo>
                  <a:pt x="339436" y="1169170"/>
                </a:moveTo>
                <a:lnTo>
                  <a:pt x="414867" y="1169170"/>
                </a:lnTo>
                <a:lnTo>
                  <a:pt x="414867" y="1206885"/>
                </a:lnTo>
                <a:lnTo>
                  <a:pt x="339436" y="1206885"/>
                </a:lnTo>
                <a:close/>
                <a:moveTo>
                  <a:pt x="565727" y="1169170"/>
                </a:moveTo>
                <a:lnTo>
                  <a:pt x="603442" y="1169170"/>
                </a:lnTo>
                <a:lnTo>
                  <a:pt x="603442" y="1206885"/>
                </a:lnTo>
                <a:lnTo>
                  <a:pt x="565727" y="1206885"/>
                </a:lnTo>
                <a:close/>
                <a:moveTo>
                  <a:pt x="792018" y="1169170"/>
                </a:moveTo>
                <a:lnTo>
                  <a:pt x="867448" y="1169170"/>
                </a:lnTo>
                <a:lnTo>
                  <a:pt x="867448" y="1206885"/>
                </a:lnTo>
                <a:lnTo>
                  <a:pt x="792018" y="1206885"/>
                </a:lnTo>
                <a:close/>
                <a:moveTo>
                  <a:pt x="980594" y="1169170"/>
                </a:moveTo>
                <a:lnTo>
                  <a:pt x="1018309" y="1169170"/>
                </a:lnTo>
                <a:lnTo>
                  <a:pt x="1018309" y="1206885"/>
                </a:lnTo>
                <a:lnTo>
                  <a:pt x="980594" y="1206885"/>
                </a:lnTo>
                <a:close/>
                <a:moveTo>
                  <a:pt x="1056024" y="1169170"/>
                </a:moveTo>
                <a:lnTo>
                  <a:pt x="1169170" y="1169170"/>
                </a:lnTo>
                <a:lnTo>
                  <a:pt x="1169170" y="1206885"/>
                </a:lnTo>
                <a:lnTo>
                  <a:pt x="1056024" y="1206885"/>
                </a:lnTo>
                <a:close/>
                <a:moveTo>
                  <a:pt x="0" y="1206885"/>
                </a:moveTo>
                <a:lnTo>
                  <a:pt x="264006" y="1206885"/>
                </a:lnTo>
                <a:lnTo>
                  <a:pt x="264006" y="1244600"/>
                </a:lnTo>
                <a:lnTo>
                  <a:pt x="0" y="1244600"/>
                </a:lnTo>
                <a:close/>
                <a:moveTo>
                  <a:pt x="301721" y="1206885"/>
                </a:moveTo>
                <a:lnTo>
                  <a:pt x="339436" y="1206885"/>
                </a:lnTo>
                <a:lnTo>
                  <a:pt x="339436" y="1244600"/>
                </a:lnTo>
                <a:lnTo>
                  <a:pt x="301721" y="1244600"/>
                </a:lnTo>
                <a:close/>
                <a:moveTo>
                  <a:pt x="377152" y="1206885"/>
                </a:moveTo>
                <a:lnTo>
                  <a:pt x="414867" y="1206885"/>
                </a:lnTo>
                <a:lnTo>
                  <a:pt x="414867" y="1244600"/>
                </a:lnTo>
                <a:lnTo>
                  <a:pt x="377152" y="1244600"/>
                </a:lnTo>
                <a:close/>
                <a:moveTo>
                  <a:pt x="452582" y="1206885"/>
                </a:moveTo>
                <a:lnTo>
                  <a:pt x="490297" y="1206885"/>
                </a:lnTo>
                <a:lnTo>
                  <a:pt x="490297" y="1244600"/>
                </a:lnTo>
                <a:lnTo>
                  <a:pt x="452582" y="1244600"/>
                </a:lnTo>
                <a:close/>
                <a:moveTo>
                  <a:pt x="528012" y="1206885"/>
                </a:moveTo>
                <a:lnTo>
                  <a:pt x="603442" y="1206885"/>
                </a:lnTo>
                <a:lnTo>
                  <a:pt x="603442" y="1244600"/>
                </a:lnTo>
                <a:lnTo>
                  <a:pt x="528012" y="1244600"/>
                </a:lnTo>
                <a:close/>
                <a:moveTo>
                  <a:pt x="641158" y="1206885"/>
                </a:moveTo>
                <a:lnTo>
                  <a:pt x="716588" y="1206885"/>
                </a:lnTo>
                <a:lnTo>
                  <a:pt x="716588" y="1244600"/>
                </a:lnTo>
                <a:lnTo>
                  <a:pt x="641158" y="1244600"/>
                </a:lnTo>
                <a:close/>
                <a:moveTo>
                  <a:pt x="754303" y="1206885"/>
                </a:moveTo>
                <a:lnTo>
                  <a:pt x="792018" y="1206885"/>
                </a:lnTo>
                <a:lnTo>
                  <a:pt x="792018" y="1244600"/>
                </a:lnTo>
                <a:lnTo>
                  <a:pt x="754303" y="1244600"/>
                </a:lnTo>
                <a:close/>
                <a:moveTo>
                  <a:pt x="867448" y="1206885"/>
                </a:moveTo>
                <a:lnTo>
                  <a:pt x="980594" y="1206885"/>
                </a:lnTo>
                <a:lnTo>
                  <a:pt x="980594" y="1244600"/>
                </a:lnTo>
                <a:lnTo>
                  <a:pt x="867448" y="1244600"/>
                </a:lnTo>
                <a:close/>
                <a:moveTo>
                  <a:pt x="1018309" y="1206885"/>
                </a:moveTo>
                <a:lnTo>
                  <a:pt x="1056024" y="1206885"/>
                </a:lnTo>
                <a:lnTo>
                  <a:pt x="1056024" y="1244600"/>
                </a:lnTo>
                <a:lnTo>
                  <a:pt x="1018309" y="1244600"/>
                </a:lnTo>
                <a:close/>
                <a:moveTo>
                  <a:pt x="1093739" y="1206885"/>
                </a:moveTo>
                <a:lnTo>
                  <a:pt x="1131455" y="1206885"/>
                </a:lnTo>
                <a:lnTo>
                  <a:pt x="1131455" y="1244600"/>
                </a:lnTo>
                <a:lnTo>
                  <a:pt x="1093739" y="1244600"/>
                </a:lnTo>
                <a:close/>
                <a:moveTo>
                  <a:pt x="1169170" y="1206885"/>
                </a:moveTo>
                <a:lnTo>
                  <a:pt x="1206885" y="1206885"/>
                </a:lnTo>
                <a:lnTo>
                  <a:pt x="1206885" y="1244600"/>
                </a:lnTo>
                <a:lnTo>
                  <a:pt x="1169170" y="1244600"/>
                </a:lnTo>
                <a:close/>
              </a:path>
            </a:pathLst>
          </a:custGeom>
          <a:solidFill>
            <a:srgbClr val="0B091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텍스트">
            <a:extLst>
              <a:ext uri="{FF2B5EF4-FFF2-40B4-BE49-F238E27FC236}">
                <a16:creationId xmlns:a16="http://schemas.microsoft.com/office/drawing/2014/main" id="{B16939BF-E796-B4D2-68BE-4BEF19F0640A}"/>
              </a:ext>
            </a:extLst>
          </p:cNvPr>
          <p:cNvSpPr txBox="1"/>
          <p:nvPr/>
        </p:nvSpPr>
        <p:spPr>
          <a:xfrm>
            <a:off x="2559050" y="6023945"/>
            <a:ext cx="5677222" cy="238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dirty="0">
                <a:solidFill>
                  <a:srgbClr val="EEEAFB"/>
                </a:solidFill>
                <a:latin typeface="Menlo"/>
                <a:ea typeface="Paperlogy 6 SemiBold"/>
                <a:cs typeface="Paperlogy 6 SemiBold"/>
              </a:rPr>
              <a:t>haemin001015-lgtm.github.io/running-ai-safety</a:t>
            </a:r>
          </a:p>
        </p:txBody>
      </p:sp>
      <p:sp>
        <p:nvSpPr>
          <p:cNvPr id="43" name="텍스트">
            <a:extLst>
              <a:ext uri="{FF2B5EF4-FFF2-40B4-BE49-F238E27FC236}">
                <a16:creationId xmlns:a16="http://schemas.microsoft.com/office/drawing/2014/main" id="{09DA5062-C1C1-FB8D-7AA3-A80516A9D4C0}"/>
              </a:ext>
            </a:extLst>
          </p:cNvPr>
          <p:cNvSpPr txBox="1"/>
          <p:nvPr/>
        </p:nvSpPr>
        <p:spPr>
          <a:xfrm>
            <a:off x="2559050" y="5782645"/>
            <a:ext cx="1258838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8D84B6"/>
                </a:solidFill>
                <a:latin typeface="Paperlogy 6 SemiBold"/>
                <a:ea typeface="Paperlogy 6 SemiBold"/>
                <a:cs typeface="Paperlogy 6 SemiBold"/>
              </a:rPr>
              <a:t>시뮬레이션</a:t>
            </a:r>
            <a:r>
              <a:rPr sz="1200" b="0" i="0" dirty="0">
                <a:solidFill>
                  <a:srgbClr val="8D84B6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200" b="0" i="0" dirty="0" err="1">
                <a:solidFill>
                  <a:srgbClr val="8D84B6"/>
                </a:solidFill>
                <a:latin typeface="Paperlogy 6 SemiBold"/>
                <a:ea typeface="Paperlogy 6 SemiBold"/>
                <a:cs typeface="Paperlogy 6 SemiBold"/>
              </a:rPr>
              <a:t>사이트</a:t>
            </a:r>
            <a:endParaRPr sz="1200" b="0" i="0" dirty="0">
              <a:solidFill>
                <a:srgbClr val="8D84B6"/>
              </a:solidFill>
              <a:latin typeface="Paperlogy 6 SemiBold"/>
              <a:ea typeface="Paperlogy 6 SemiBold"/>
              <a:cs typeface="Paperlogy 6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"/>
          <p:cNvSpPr txBox="1"/>
          <p:nvPr/>
        </p:nvSpPr>
        <p:spPr>
          <a:xfrm>
            <a:off x="806450" y="706438"/>
            <a:ext cx="1300758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4" dirty="0" err="1">
                <a:solidFill>
                  <a:srgbClr val="5B3FD1"/>
                </a:solidFill>
                <a:latin typeface="Paperlogy 7 Bold"/>
                <a:ea typeface="Paperlogy 7 Bold"/>
                <a:cs typeface="Paperlogy 7 Bold"/>
              </a:rPr>
              <a:t>함께</a:t>
            </a:r>
            <a:r>
              <a:rPr sz="1100" b="0" i="0" spc="154" dirty="0">
                <a:solidFill>
                  <a:srgbClr val="5B3FD1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1100" b="0" i="0" spc="154" dirty="0" err="1">
                <a:solidFill>
                  <a:srgbClr val="5B3FD1"/>
                </a:solidFill>
                <a:latin typeface="Paperlogy 7 Bold"/>
                <a:ea typeface="Paperlogy 7 Bold"/>
                <a:cs typeface="Paperlogy 7 Bold"/>
              </a:rPr>
              <a:t>만드는</a:t>
            </a:r>
            <a:r>
              <a:rPr sz="1100" b="0" i="0" spc="154" dirty="0">
                <a:solidFill>
                  <a:srgbClr val="5B3FD1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1100" b="0" i="0" spc="154" dirty="0" err="1">
                <a:solidFill>
                  <a:srgbClr val="5B3FD1"/>
                </a:solidFill>
                <a:latin typeface="Paperlogy 7 Bold"/>
                <a:ea typeface="Paperlogy 7 Bold"/>
                <a:cs typeface="Paperlogy 7 Bold"/>
              </a:rPr>
              <a:t>팀</a:t>
            </a:r>
            <a:endParaRPr sz="1100" b="0" i="0" spc="154" dirty="0">
              <a:solidFill>
                <a:srgbClr val="5B3FD1"/>
              </a:solidFill>
              <a:latin typeface="Paperlogy 7 Bold"/>
              <a:ea typeface="Paperlogy 7 Bold"/>
              <a:cs typeface="Paperlogy 7 Bold"/>
            </a:endParaRPr>
          </a:p>
        </p:txBody>
      </p:sp>
      <p:pic>
        <p:nvPicPr>
          <p:cNvPr id="3" name="로고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82" y="1096997"/>
            <a:ext cx="4639082" cy="959305"/>
          </a:xfrm>
          <a:prstGeom prst="rect">
            <a:avLst/>
          </a:prstGeom>
        </p:spPr>
      </p:pic>
      <p:sp>
        <p:nvSpPr>
          <p:cNvPr id="5" name="텍스트"/>
          <p:cNvSpPr txBox="1"/>
          <p:nvPr/>
        </p:nvSpPr>
        <p:spPr>
          <a:xfrm>
            <a:off x="806450" y="2117988"/>
            <a:ext cx="3539462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6B6392"/>
                </a:solidFill>
                <a:latin typeface="Paperlogy 6 SemiBold"/>
                <a:ea typeface="Paperlogy 6 SemiBold"/>
                <a:cs typeface="Paperlogy 6 SemiBold"/>
              </a:rPr>
              <a:t>안양</a:t>
            </a:r>
            <a:r>
              <a:rPr sz="1100" b="0" i="0" dirty="0">
                <a:solidFill>
                  <a:srgbClr val="6B6392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100" b="0" i="0" dirty="0" err="1">
                <a:solidFill>
                  <a:srgbClr val="6B6392"/>
                </a:solidFill>
                <a:latin typeface="Paperlogy 6 SemiBold"/>
                <a:ea typeface="Paperlogy 6 SemiBold"/>
                <a:cs typeface="Paperlogy 6 SemiBold"/>
              </a:rPr>
              <a:t>기반</a:t>
            </a:r>
            <a:r>
              <a:rPr sz="1100" b="0" i="0" dirty="0">
                <a:solidFill>
                  <a:srgbClr val="6B6392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100" b="0" i="0" dirty="0" err="1">
                <a:solidFill>
                  <a:srgbClr val="6B6392"/>
                </a:solidFill>
                <a:latin typeface="Paperlogy 6 SemiBold"/>
                <a:ea typeface="Paperlogy 6 SemiBold"/>
                <a:cs typeface="Paperlogy 6 SemiBold"/>
              </a:rPr>
              <a:t>비영리</a:t>
            </a:r>
            <a:r>
              <a:rPr sz="1100" b="0" i="0" dirty="0">
                <a:solidFill>
                  <a:srgbClr val="6B6392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100" b="0" i="0" dirty="0" err="1">
                <a:solidFill>
                  <a:srgbClr val="6B6392"/>
                </a:solidFill>
                <a:latin typeface="Paperlogy 6 SemiBold"/>
                <a:ea typeface="Paperlogy 6 SemiBold"/>
                <a:cs typeface="Paperlogy 6 SemiBold"/>
              </a:rPr>
              <a:t>청년단체</a:t>
            </a:r>
            <a:r>
              <a:rPr lang="ko-KR" altLang="en-US" sz="1100" b="0" i="0" dirty="0">
                <a:solidFill>
                  <a:srgbClr val="6B6392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lang="en-US" altLang="ko-KR" sz="1100" b="0" i="0" dirty="0">
                <a:solidFill>
                  <a:srgbClr val="6B6392"/>
                </a:solidFill>
                <a:latin typeface="Paperlogy 6 SemiBold"/>
                <a:ea typeface="Paperlogy 6 SemiBold"/>
                <a:cs typeface="Paperlogy 6 SemiBold"/>
              </a:rPr>
              <a:t>/</a:t>
            </a:r>
            <a:r>
              <a:rPr lang="ko-KR" altLang="en-US" sz="1100" b="0" i="0" dirty="0">
                <a:solidFill>
                  <a:srgbClr val="6B6392"/>
                </a:solidFill>
                <a:latin typeface="Paperlogy 6 SemiBold"/>
                <a:ea typeface="Paperlogy 6 SemiBold"/>
                <a:cs typeface="Paperlogy 6 SemiBold"/>
              </a:rPr>
              <a:t> 회원 </a:t>
            </a:r>
            <a:r>
              <a:rPr lang="en-US" altLang="ko-KR" sz="1100" b="0" i="0" dirty="0">
                <a:solidFill>
                  <a:srgbClr val="6B6392"/>
                </a:solidFill>
                <a:latin typeface="Paperlogy 6 SemiBold"/>
                <a:ea typeface="Paperlogy 6 SemiBold"/>
                <a:cs typeface="Paperlogy 6 SemiBold"/>
              </a:rPr>
              <a:t>35</a:t>
            </a:r>
            <a:r>
              <a:rPr lang="ko-KR" altLang="en-US" sz="1100" dirty="0">
                <a:solidFill>
                  <a:srgbClr val="6B6392"/>
                </a:solidFill>
                <a:latin typeface="Paperlogy 6 SemiBold"/>
                <a:ea typeface="Paperlogy 6 SemiBold"/>
                <a:cs typeface="Paperlogy 6 SemiBold"/>
              </a:rPr>
              <a:t>명 </a:t>
            </a:r>
            <a:r>
              <a:rPr lang="en-US" altLang="ko-KR" sz="1100" dirty="0">
                <a:solidFill>
                  <a:srgbClr val="6B6392"/>
                </a:solidFill>
                <a:latin typeface="Paperlogy 6 SemiBold"/>
                <a:ea typeface="Paperlogy 6 SemiBold"/>
                <a:cs typeface="Paperlogy 6 SemiBold"/>
              </a:rPr>
              <a:t>+</a:t>
            </a:r>
            <a:r>
              <a:rPr lang="ko-KR" altLang="en-US" sz="1100" dirty="0">
                <a:solidFill>
                  <a:srgbClr val="6B6392"/>
                </a:solidFill>
                <a:latin typeface="Paperlogy 6 SemiBold"/>
                <a:ea typeface="Paperlogy 6 SemiBold"/>
                <a:cs typeface="Paperlogy 6 SemiBold"/>
              </a:rPr>
              <a:t> 청년 자원봉사자  </a:t>
            </a:r>
            <a:r>
              <a:rPr lang="en-US" altLang="ko-KR" sz="1100" dirty="0">
                <a:solidFill>
                  <a:srgbClr val="6B6392"/>
                </a:solidFill>
                <a:latin typeface="Paperlogy 6 SemiBold"/>
                <a:ea typeface="Paperlogy 6 SemiBold"/>
                <a:cs typeface="Paperlogy 6 SemiBold"/>
              </a:rPr>
              <a:t>40</a:t>
            </a:r>
            <a:r>
              <a:rPr lang="ko-KR" altLang="en-US" sz="1100" dirty="0">
                <a:solidFill>
                  <a:srgbClr val="6B6392"/>
                </a:solidFill>
                <a:latin typeface="Paperlogy 6 SemiBold"/>
                <a:ea typeface="Paperlogy 6 SemiBold"/>
                <a:cs typeface="Paperlogy 6 SemiBold"/>
              </a:rPr>
              <a:t>명</a:t>
            </a:r>
            <a:endParaRPr sz="1100" b="0" i="0" dirty="0">
              <a:solidFill>
                <a:srgbClr val="6B6392"/>
              </a:solidFill>
              <a:latin typeface="Paperlogy 6 SemiBold"/>
              <a:ea typeface="Paperlogy 6 SemiBold"/>
              <a:cs typeface="Paperlogy 6 SemiBold"/>
            </a:endParaRPr>
          </a:p>
        </p:txBody>
      </p:sp>
      <p:sp>
        <p:nvSpPr>
          <p:cNvPr id="6" name="도형"/>
          <p:cNvSpPr/>
          <p:nvPr/>
        </p:nvSpPr>
        <p:spPr>
          <a:xfrm>
            <a:off x="817562" y="2495813"/>
            <a:ext cx="755303" cy="288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D4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텍스트"/>
          <p:cNvSpPr txBox="1"/>
          <p:nvPr/>
        </p:nvSpPr>
        <p:spPr>
          <a:xfrm>
            <a:off x="942975" y="2552963"/>
            <a:ext cx="644178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3FD1"/>
                </a:solidFill>
                <a:latin typeface="Paperlogy 7 Bold"/>
                <a:ea typeface="Paperlogy 7 Bold"/>
                <a:cs typeface="Paperlogy 7 Bold"/>
              </a:rPr>
              <a:t>사회공헌</a:t>
            </a:r>
          </a:p>
        </p:txBody>
      </p:sp>
      <p:sp>
        <p:nvSpPr>
          <p:cNvPr id="8" name="도형"/>
          <p:cNvSpPr/>
          <p:nvPr/>
        </p:nvSpPr>
        <p:spPr>
          <a:xfrm>
            <a:off x="1658590" y="2495813"/>
            <a:ext cx="786011" cy="288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D4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텍스트"/>
          <p:cNvSpPr txBox="1"/>
          <p:nvPr/>
        </p:nvSpPr>
        <p:spPr>
          <a:xfrm>
            <a:off x="1784003" y="2552963"/>
            <a:ext cx="674886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3FD1"/>
                </a:solidFill>
                <a:latin typeface="Paperlogy 7 Bold"/>
                <a:ea typeface="Paperlogy 7 Bold"/>
                <a:cs typeface="Paperlogy 7 Bold"/>
              </a:rPr>
              <a:t>정책 연구</a:t>
            </a:r>
          </a:p>
        </p:txBody>
      </p:sp>
      <p:sp>
        <p:nvSpPr>
          <p:cNvPr id="10" name="도형"/>
          <p:cNvSpPr/>
          <p:nvPr/>
        </p:nvSpPr>
        <p:spPr>
          <a:xfrm>
            <a:off x="2530326" y="2495813"/>
            <a:ext cx="755303" cy="288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D4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텍스트"/>
          <p:cNvSpPr txBox="1"/>
          <p:nvPr/>
        </p:nvSpPr>
        <p:spPr>
          <a:xfrm>
            <a:off x="2655739" y="2552963"/>
            <a:ext cx="644178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3FD1"/>
                </a:solidFill>
                <a:latin typeface="Paperlogy 7 Bold"/>
                <a:ea typeface="Paperlogy 7 Bold"/>
                <a:cs typeface="Paperlogy 7 Bold"/>
              </a:rPr>
              <a:t>네트워크</a:t>
            </a:r>
          </a:p>
        </p:txBody>
      </p:sp>
      <p:sp>
        <p:nvSpPr>
          <p:cNvPr id="12" name="도형"/>
          <p:cNvSpPr/>
          <p:nvPr/>
        </p:nvSpPr>
        <p:spPr>
          <a:xfrm>
            <a:off x="3371354" y="2495813"/>
            <a:ext cx="632371" cy="288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D4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텍스트"/>
          <p:cNvSpPr txBox="1"/>
          <p:nvPr/>
        </p:nvSpPr>
        <p:spPr>
          <a:xfrm>
            <a:off x="3496766" y="2552963"/>
            <a:ext cx="521246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3FD1"/>
                </a:solidFill>
                <a:latin typeface="Paperlogy 7 Bold"/>
                <a:ea typeface="Paperlogy 7 Bold"/>
                <a:cs typeface="Paperlogy 7 Bold"/>
              </a:rPr>
              <a:t>브랜딩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06450" y="3039532"/>
            <a:ext cx="1481981" cy="1508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4">
                <a:solidFill>
                  <a:srgbClr val="5B3FD1"/>
                </a:solidFill>
                <a:latin typeface="Paperlogy 8 ExtraBold"/>
                <a:ea typeface="Paperlogy 8 ExtraBold"/>
                <a:cs typeface="Paperlogy 8 ExtraBold"/>
              </a:rPr>
              <a:t>이번 사업에서 맡은 역할</a:t>
            </a:r>
          </a:p>
        </p:txBody>
      </p:sp>
      <p:sp>
        <p:nvSpPr>
          <p:cNvPr id="15" name="도형"/>
          <p:cNvSpPr/>
          <p:nvPr/>
        </p:nvSpPr>
        <p:spPr>
          <a:xfrm>
            <a:off x="812800" y="3364176"/>
            <a:ext cx="50800" cy="50800"/>
          </a:xfrm>
          <a:prstGeom prst="ellipse">
            <a:avLst/>
          </a:prstGeom>
          <a:solidFill>
            <a:srgbClr val="8C6B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텍스트"/>
          <p:cNvSpPr txBox="1"/>
          <p:nvPr/>
        </p:nvSpPr>
        <p:spPr>
          <a:xfrm>
            <a:off x="958850" y="3268926"/>
            <a:ext cx="1850206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1440"/>
                </a:solidFill>
                <a:latin typeface="Paperlogy 7 Bold"/>
                <a:ea typeface="Paperlogy 7 Bold"/>
                <a:cs typeface="Paperlogy 7 Bold"/>
              </a:rPr>
              <a:t>야간 자율방범 활동 운영</a:t>
            </a:r>
          </a:p>
        </p:txBody>
      </p:sp>
      <p:sp>
        <p:nvSpPr>
          <p:cNvPr id="17" name="도형"/>
          <p:cNvSpPr/>
          <p:nvPr/>
        </p:nvSpPr>
        <p:spPr>
          <a:xfrm>
            <a:off x="812800" y="3675326"/>
            <a:ext cx="50800" cy="50800"/>
          </a:xfrm>
          <a:prstGeom prst="ellipse">
            <a:avLst/>
          </a:prstGeom>
          <a:solidFill>
            <a:srgbClr val="8C6B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텍스트"/>
          <p:cNvSpPr txBox="1"/>
          <p:nvPr/>
        </p:nvSpPr>
        <p:spPr>
          <a:xfrm>
            <a:off x="958850" y="3580076"/>
            <a:ext cx="2237437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1440"/>
                </a:solidFill>
                <a:latin typeface="Paperlogy 7 Bold"/>
                <a:ea typeface="Paperlogy 7 Bold"/>
                <a:cs typeface="Paperlogy 7 Bold"/>
              </a:rPr>
              <a:t>러닝크루 운영 및 참여자 모집</a:t>
            </a:r>
          </a:p>
        </p:txBody>
      </p:sp>
      <p:sp>
        <p:nvSpPr>
          <p:cNvPr id="19" name="도형"/>
          <p:cNvSpPr/>
          <p:nvPr/>
        </p:nvSpPr>
        <p:spPr>
          <a:xfrm>
            <a:off x="812800" y="3986476"/>
            <a:ext cx="50800" cy="50800"/>
          </a:xfrm>
          <a:prstGeom prst="ellipse">
            <a:avLst/>
          </a:prstGeom>
          <a:solidFill>
            <a:srgbClr val="8C6B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텍스트"/>
          <p:cNvSpPr txBox="1"/>
          <p:nvPr/>
        </p:nvSpPr>
        <p:spPr>
          <a:xfrm>
            <a:off x="958850" y="3891226"/>
            <a:ext cx="2601694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1440"/>
                </a:solidFill>
                <a:latin typeface="Paperlogy 7 Bold"/>
                <a:ea typeface="Paperlogy 7 Bold"/>
                <a:cs typeface="Paperlogy 7 Bold"/>
              </a:rPr>
              <a:t>지역 사회공헌 프로그램 기획·운영</a:t>
            </a:r>
          </a:p>
        </p:txBody>
      </p:sp>
      <p:sp>
        <p:nvSpPr>
          <p:cNvPr id="21" name="도형"/>
          <p:cNvSpPr/>
          <p:nvPr/>
        </p:nvSpPr>
        <p:spPr>
          <a:xfrm rot="5400000">
            <a:off x="2980039" y="2035153"/>
            <a:ext cx="6350" cy="4813300"/>
          </a:xfrm>
          <a:prstGeom prst="rect">
            <a:avLst/>
          </a:prstGeom>
          <a:solidFill>
            <a:srgbClr val="DDD4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텍스트"/>
          <p:cNvSpPr txBox="1"/>
          <p:nvPr/>
        </p:nvSpPr>
        <p:spPr>
          <a:xfrm>
            <a:off x="706739" y="4615530"/>
            <a:ext cx="2799621" cy="528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3200" b="0" i="0" spc="-180" dirty="0">
                <a:solidFill>
                  <a:srgbClr val="1B1440"/>
                </a:solidFill>
                <a:latin typeface="Paperlogy 9 Black"/>
                <a:ea typeface="Paperlogy 9 Black"/>
                <a:cs typeface="Paperlogy 9 Black"/>
              </a:rPr>
              <a:t>+</a:t>
            </a:r>
            <a:r>
              <a:rPr lang="ko-KR" altLang="en-US" sz="3200" b="0" i="0" spc="-180" dirty="0">
                <a:solidFill>
                  <a:srgbClr val="1B1440"/>
                </a:solidFill>
                <a:latin typeface="Paperlogy 9 Black"/>
                <a:ea typeface="Paperlogy 9 Black"/>
                <a:cs typeface="Paperlogy 9 Black"/>
              </a:rPr>
              <a:t> </a:t>
            </a:r>
            <a:r>
              <a:rPr sz="3200" b="0" i="0" spc="-180" dirty="0" err="1">
                <a:solidFill>
                  <a:srgbClr val="1B1440"/>
                </a:solidFill>
                <a:latin typeface="Paperlogy 9 Black"/>
                <a:ea typeface="Paperlogy 9 Black"/>
                <a:cs typeface="Paperlogy 9 Black"/>
              </a:rPr>
              <a:t>성균관대학교</a:t>
            </a:r>
            <a:endParaRPr sz="3200" b="0" i="0" spc="-180" dirty="0">
              <a:solidFill>
                <a:srgbClr val="1B1440"/>
              </a:solidFill>
              <a:latin typeface="Paperlogy 9 Black"/>
              <a:ea typeface="Paperlogy 9 Black"/>
              <a:cs typeface="Paperlogy 9 Black"/>
            </a:endParaRPr>
          </a:p>
        </p:txBody>
      </p:sp>
      <p:sp>
        <p:nvSpPr>
          <p:cNvPr id="23" name="텍스트"/>
          <p:cNvSpPr txBox="1"/>
          <p:nvPr/>
        </p:nvSpPr>
        <p:spPr>
          <a:xfrm>
            <a:off x="3114207" y="4612460"/>
            <a:ext cx="2406005" cy="528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spc="-180" dirty="0">
                <a:solidFill>
                  <a:srgbClr val="1B1440"/>
                </a:solidFill>
                <a:latin typeface="Paperlogy 9 Black"/>
                <a:ea typeface="Paperlogy 9 Black"/>
                <a:cs typeface="Paperlogy 9 Black"/>
              </a:rPr>
              <a:t>AXIS </a:t>
            </a:r>
            <a:r>
              <a:rPr sz="3200" b="0" i="0" spc="-180" dirty="0">
                <a:solidFill>
                  <a:srgbClr val="5B3FD1"/>
                </a:solidFill>
                <a:latin typeface="Paperlogy 9 Black"/>
                <a:ea typeface="Paperlogy 9 Black"/>
                <a:cs typeface="Paperlogy 9 Black"/>
              </a:rPr>
              <a:t>Lab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706739" y="5193245"/>
            <a:ext cx="5142576" cy="3770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pc="-60" dirty="0" err="1">
                <a:solidFill>
                  <a:srgbClr val="1B1440"/>
                </a:solidFill>
                <a:latin typeface="Paperlogy 8 ExtraBold"/>
                <a:ea typeface="Paperlogy 8 ExtraBold"/>
                <a:cs typeface="Paperlogy 8 ExtraBold"/>
              </a:rPr>
              <a:t>데이터와</a:t>
            </a:r>
            <a:r>
              <a:rPr sz="2000" b="0" i="0" spc="-60" dirty="0">
                <a:solidFill>
                  <a:srgbClr val="1B1440"/>
                </a:solidFill>
                <a:latin typeface="Paperlogy 8 ExtraBold"/>
                <a:ea typeface="Paperlogy 8 ExtraBold"/>
                <a:cs typeface="Paperlogy 8 ExtraBold"/>
              </a:rPr>
              <a:t> </a:t>
            </a:r>
            <a:r>
              <a:rPr sz="2000" b="0" i="0" spc="-60" dirty="0" err="1">
                <a:solidFill>
                  <a:srgbClr val="1B1440"/>
                </a:solidFill>
                <a:latin typeface="Paperlogy 8 ExtraBold"/>
                <a:ea typeface="Paperlogy 8 ExtraBold"/>
                <a:cs typeface="Paperlogy 8 ExtraBold"/>
              </a:rPr>
              <a:t>기술이</a:t>
            </a:r>
            <a:r>
              <a:rPr lang="ko-KR" altLang="en-US" sz="2000" spc="-60" dirty="0">
                <a:solidFill>
                  <a:srgbClr val="1B1440"/>
                </a:solidFill>
                <a:latin typeface="Paperlogy 8 ExtraBold"/>
                <a:ea typeface="Paperlogy 8 ExtraBold"/>
                <a:cs typeface="Paperlogy 8 ExtraBold"/>
              </a:rPr>
              <a:t> </a:t>
            </a:r>
            <a:r>
              <a:rPr sz="2000" b="0" i="0" spc="-60" dirty="0" err="1">
                <a:solidFill>
                  <a:srgbClr val="1B1440"/>
                </a:solidFill>
                <a:latin typeface="Paperlogy 8 ExtraBold"/>
                <a:ea typeface="Paperlogy 8 ExtraBold"/>
                <a:cs typeface="Paperlogy 8 ExtraBold"/>
              </a:rPr>
              <a:t>사회에</a:t>
            </a:r>
            <a:r>
              <a:rPr sz="2000" b="0" i="0" spc="-60" dirty="0">
                <a:solidFill>
                  <a:srgbClr val="1B1440"/>
                </a:solidFill>
                <a:latin typeface="Paperlogy 8 ExtraBold"/>
                <a:ea typeface="Paperlogy 8 ExtraBold"/>
                <a:cs typeface="Paperlogy 8 ExtraBold"/>
              </a:rPr>
              <a:t> </a:t>
            </a:r>
            <a:r>
              <a:rPr sz="2000" b="0" i="0" spc="-60" dirty="0" err="1">
                <a:solidFill>
                  <a:srgbClr val="1B1440"/>
                </a:solidFill>
                <a:latin typeface="Paperlogy 8 ExtraBold"/>
                <a:ea typeface="Paperlogy 8 ExtraBold"/>
                <a:cs typeface="Paperlogy 8 ExtraBold"/>
              </a:rPr>
              <a:t>기여하는</a:t>
            </a:r>
            <a:r>
              <a:rPr sz="2000" b="0" i="0" spc="-60" dirty="0">
                <a:solidFill>
                  <a:srgbClr val="1B1440"/>
                </a:solidFill>
                <a:latin typeface="Paperlogy 8 ExtraBold"/>
                <a:ea typeface="Paperlogy 8 ExtraBold"/>
                <a:cs typeface="Paperlogy 8 ExtraBold"/>
              </a:rPr>
              <a:t> </a:t>
            </a:r>
            <a:r>
              <a:rPr sz="2000" b="0" i="0" spc="-60" dirty="0" err="1">
                <a:solidFill>
                  <a:srgbClr val="1B1440"/>
                </a:solidFill>
                <a:latin typeface="Paperlogy 8 ExtraBold"/>
                <a:ea typeface="Paperlogy 8 ExtraBold"/>
                <a:cs typeface="Paperlogy 8 ExtraBold"/>
              </a:rPr>
              <a:t>방식을</a:t>
            </a:r>
            <a:r>
              <a:rPr sz="2000" b="0" i="0" spc="-60" dirty="0">
                <a:solidFill>
                  <a:srgbClr val="1B1440"/>
                </a:solidFill>
                <a:latin typeface="Paperlogy 8 ExtraBold"/>
                <a:ea typeface="Paperlogy 8 ExtraBold"/>
                <a:cs typeface="Paperlogy 8 ExtraBold"/>
              </a:rPr>
              <a:t> </a:t>
            </a:r>
            <a:r>
              <a:rPr sz="2000" b="0" i="0" spc="-60" dirty="0" err="1">
                <a:solidFill>
                  <a:srgbClr val="1B1440"/>
                </a:solidFill>
                <a:latin typeface="Paperlogy 8 ExtraBold"/>
                <a:ea typeface="Paperlogy 8 ExtraBold"/>
                <a:cs typeface="Paperlogy 8 ExtraBold"/>
              </a:rPr>
              <a:t>연구합니다</a:t>
            </a:r>
            <a:endParaRPr sz="2000" b="0" i="0" spc="-60" dirty="0">
              <a:solidFill>
                <a:srgbClr val="1B1440"/>
              </a:solidFill>
              <a:latin typeface="Paperlogy 8 ExtraBold"/>
              <a:ea typeface="Paperlogy 8 ExtraBold"/>
              <a:cs typeface="Paperlogy 8 ExtraBold"/>
            </a:endParaRPr>
          </a:p>
        </p:txBody>
      </p:sp>
      <p:sp>
        <p:nvSpPr>
          <p:cNvPr id="25" name="텍스트"/>
          <p:cNvSpPr txBox="1"/>
          <p:nvPr/>
        </p:nvSpPr>
        <p:spPr>
          <a:xfrm>
            <a:off x="706739" y="5618259"/>
            <a:ext cx="4266580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6B6392"/>
                </a:solidFill>
                <a:latin typeface="Paperlogy 6 SemiBold"/>
                <a:ea typeface="Paperlogy 6 SemiBold"/>
                <a:cs typeface="Paperlogy 6 SemiBold"/>
              </a:rPr>
              <a:t>Analyze </a:t>
            </a:r>
            <a:r>
              <a:rPr sz="1100" b="0" i="0" dirty="0" err="1">
                <a:solidFill>
                  <a:srgbClr val="6B6392"/>
                </a:solidFill>
                <a:latin typeface="Paperlogy 6 SemiBold"/>
                <a:ea typeface="Paperlogy 6 SemiBold"/>
                <a:cs typeface="Paperlogy 6 SemiBold"/>
              </a:rPr>
              <a:t>eXperiences</a:t>
            </a:r>
            <a:r>
              <a:rPr sz="1100" b="0" i="0" dirty="0">
                <a:solidFill>
                  <a:srgbClr val="6B6392"/>
                </a:solidFill>
                <a:latin typeface="Paperlogy 6 SemiBold"/>
                <a:ea typeface="Paperlogy 6 SemiBold"/>
                <a:cs typeface="Paperlogy 6 SemiBold"/>
              </a:rPr>
              <a:t>, Informatics for Society’s Insights</a:t>
            </a:r>
          </a:p>
        </p:txBody>
      </p:sp>
      <p:sp>
        <p:nvSpPr>
          <p:cNvPr id="26" name="도형"/>
          <p:cNvSpPr/>
          <p:nvPr/>
        </p:nvSpPr>
        <p:spPr>
          <a:xfrm>
            <a:off x="717852" y="5996084"/>
            <a:ext cx="1871514" cy="288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D4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텍스트"/>
          <p:cNvSpPr txBox="1"/>
          <p:nvPr/>
        </p:nvSpPr>
        <p:spPr>
          <a:xfrm>
            <a:off x="843264" y="6053234"/>
            <a:ext cx="1768788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3FD1"/>
                </a:solidFill>
                <a:latin typeface="Paperlogy 7 Bold"/>
                <a:ea typeface="Paperlogy 7 Bold"/>
                <a:cs typeface="Paperlogy 7 Bold"/>
              </a:rPr>
              <a:t>Human–AI Interaction</a:t>
            </a:r>
          </a:p>
        </p:txBody>
      </p:sp>
      <p:sp>
        <p:nvSpPr>
          <p:cNvPr id="28" name="도형"/>
          <p:cNvSpPr/>
          <p:nvPr/>
        </p:nvSpPr>
        <p:spPr>
          <a:xfrm>
            <a:off x="2675090" y="5996084"/>
            <a:ext cx="878235" cy="288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D4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텍스트"/>
          <p:cNvSpPr txBox="1"/>
          <p:nvPr/>
        </p:nvSpPr>
        <p:spPr>
          <a:xfrm>
            <a:off x="2800503" y="6053234"/>
            <a:ext cx="767110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3FD1"/>
                </a:solidFill>
                <a:latin typeface="Paperlogy 7 Bold"/>
                <a:ea typeface="Paperlogy 7 Bold"/>
                <a:cs typeface="Paperlogy 7 Bold"/>
              </a:rPr>
              <a:t>공공데이터</a:t>
            </a:r>
          </a:p>
        </p:txBody>
      </p:sp>
      <p:sp>
        <p:nvSpPr>
          <p:cNvPr id="30" name="도형"/>
          <p:cNvSpPr/>
          <p:nvPr/>
        </p:nvSpPr>
        <p:spPr>
          <a:xfrm>
            <a:off x="3639050" y="5996084"/>
            <a:ext cx="1248271" cy="288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D4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텍스트"/>
          <p:cNvSpPr txBox="1"/>
          <p:nvPr/>
        </p:nvSpPr>
        <p:spPr>
          <a:xfrm>
            <a:off x="3764462" y="6053234"/>
            <a:ext cx="1137146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3FD1"/>
                </a:solidFill>
                <a:latin typeface="Paperlogy 7 Bold"/>
                <a:ea typeface="Paperlogy 7 Bold"/>
                <a:cs typeface="Paperlogy 7 Bold"/>
              </a:rPr>
              <a:t>Social Impact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806450" y="6415088"/>
            <a:ext cx="163274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6B6392"/>
                </a:solidFill>
                <a:latin typeface="Paperlogy 6 SemiBold"/>
                <a:ea typeface="Paperlogy 6 SemiBold"/>
                <a:cs typeface="Paperlogy 6 SemiBold"/>
              </a:rPr>
              <a:t>러닝으로 만드는 AI 생활안전망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10944076" y="6415088"/>
            <a:ext cx="58117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6B6392"/>
                </a:solidFill>
                <a:latin typeface="Paperlogy 6 SemiBold"/>
                <a:ea typeface="Paperlogy 6 SemiBold"/>
                <a:cs typeface="Paperlogy 6 SemiBold"/>
              </a:rPr>
              <a:t>02 / 18</a:t>
            </a:r>
          </a:p>
        </p:txBody>
      </p:sp>
      <p:pic>
        <p:nvPicPr>
          <p:cNvPr id="42" name="그림 4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2ED49B-8A5A-7B83-B59B-2E6F51C46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739" y="1113990"/>
            <a:ext cx="4583511" cy="3108288"/>
          </a:xfrm>
          <a:prstGeom prst="rect">
            <a:avLst/>
          </a:prstGeom>
        </p:spPr>
      </p:pic>
      <p:pic>
        <p:nvPicPr>
          <p:cNvPr id="44" name="그림 43" descr="텍스트, 스크린샷, 사람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325FDD-54C4-033A-BC24-9E861A43D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467" y="4427166"/>
            <a:ext cx="3205341" cy="1442973"/>
          </a:xfrm>
          <a:prstGeom prst="rect">
            <a:avLst/>
          </a:prstGeom>
        </p:spPr>
      </p:pic>
      <p:pic>
        <p:nvPicPr>
          <p:cNvPr id="46" name="그림 45" descr="텍스트, 의류, 여성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012753-9DE2-C104-6961-BB3C0006C69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802"/>
          <a:stretch>
            <a:fillRect/>
          </a:stretch>
        </p:blipFill>
        <p:spPr>
          <a:xfrm>
            <a:off x="9785808" y="4444978"/>
            <a:ext cx="2103574" cy="14251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"/>
          <p:cNvSpPr txBox="1"/>
          <p:nvPr/>
        </p:nvSpPr>
        <p:spPr>
          <a:xfrm>
            <a:off x="806450" y="706438"/>
            <a:ext cx="915194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4">
                <a:solidFill>
                  <a:srgbClr val="B7A2FF"/>
                </a:solidFill>
                <a:latin typeface="Paperlogy 7 Bold"/>
                <a:ea typeface="Paperlogy 7 Bold"/>
                <a:cs typeface="Paperlogy 7 Bold"/>
              </a:rPr>
              <a:t>왜 필요한가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806450" y="1077540"/>
            <a:ext cx="8018671" cy="10809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255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 spc="-133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밤길의 위험은 </a:t>
            </a:r>
            <a:r>
              <a:rPr sz="3800" b="0" i="0" spc="-133">
                <a:solidFill>
                  <a:srgbClr val="B7A2FF"/>
                </a:solidFill>
                <a:latin typeface="Paperlogy 8 ExtraBold"/>
                <a:ea typeface="Paperlogy 8 ExtraBold"/>
                <a:cs typeface="Paperlogy 8 ExtraBold"/>
              </a:rPr>
              <a:t>발견되지만</a:t>
            </a:r>
            <a:r>
              <a:rPr sz="3800" b="0" i="0" spc="-133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,</a:t>
            </a:r>
          </a:p>
          <a:p>
            <a:pPr algn="l">
              <a:lnSpc>
                <a:spcPts val="4255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 spc="-133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개선 여부까지 확인하는 사람은 없습니다</a:t>
            </a:r>
          </a:p>
        </p:txBody>
      </p:sp>
      <p:cxnSp>
        <p:nvCxnSpPr>
          <p:cNvPr id="4" name="선"/>
          <p:cNvCxnSpPr/>
          <p:nvPr/>
        </p:nvCxnSpPr>
        <p:spPr>
          <a:xfrm>
            <a:off x="901700" y="2604988"/>
            <a:ext cx="7044581" cy="0"/>
          </a:xfrm>
          <a:prstGeom prst="line">
            <a:avLst/>
          </a:prstGeom>
          <a:ln w="12700">
            <a:solidFill>
              <a:srgbClr val="2E2658"/>
            </a:solidFill>
            <a:custDash>
              <a:ds d="900000" sp="600000"/>
            </a:custDash>
          </a:ln>
        </p:spPr>
      </p:cxnSp>
      <p:sp>
        <p:nvSpPr>
          <p:cNvPr id="5" name="도형"/>
          <p:cNvSpPr/>
          <p:nvPr/>
        </p:nvSpPr>
        <p:spPr>
          <a:xfrm>
            <a:off x="819150" y="2522438"/>
            <a:ext cx="165100" cy="165100"/>
          </a:xfrm>
          <a:prstGeom prst="ellipse">
            <a:avLst/>
          </a:prstGeom>
          <a:solidFill>
            <a:srgbClr val="0B0919"/>
          </a:solidFill>
          <a:ln w="12700">
            <a:solidFill>
              <a:srgbClr val="B7A2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텍스트"/>
          <p:cNvSpPr txBox="1"/>
          <p:nvPr/>
        </p:nvSpPr>
        <p:spPr>
          <a:xfrm>
            <a:off x="4015234" y="2471638"/>
            <a:ext cx="287933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7B9C"/>
                </a:solidFill>
                <a:latin typeface="Paperlogy 8 ExtraBold"/>
                <a:ea typeface="Paperlogy 8 ExtraBold"/>
                <a:cs typeface="Paperlogy 8 ExtraBold"/>
              </a:rPr>
              <a:t>✕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806450" y="2862163"/>
            <a:ext cx="627410" cy="349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spc="-66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발견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806450" y="3303488"/>
            <a:ext cx="3040440" cy="476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들뜬 보도블록, 고장 난 신호등과 같은 위험을</a:t>
            </a:r>
          </a:p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발견해도 체계적으로 기록되지 않습니다.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806450" y="3927376"/>
            <a:ext cx="1452910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60">
                <a:solidFill>
                  <a:srgbClr val="FF7B9C"/>
                </a:solidFill>
                <a:latin typeface="Paperlogy 7 Bold"/>
                <a:ea typeface="Paperlogy 7 Bold"/>
                <a:cs typeface="Paperlogy 7 Bold"/>
              </a:rPr>
              <a:t>기록 없이 흩어지는 목격</a:t>
            </a:r>
          </a:p>
        </p:txBody>
      </p:sp>
      <p:sp>
        <p:nvSpPr>
          <p:cNvPr id="10" name="도형"/>
          <p:cNvSpPr/>
          <p:nvPr/>
        </p:nvSpPr>
        <p:spPr>
          <a:xfrm>
            <a:off x="4341267" y="2522438"/>
            <a:ext cx="165100" cy="165100"/>
          </a:xfrm>
          <a:prstGeom prst="ellipse">
            <a:avLst/>
          </a:prstGeom>
          <a:solidFill>
            <a:srgbClr val="0B0919"/>
          </a:solidFill>
          <a:ln w="12700">
            <a:solidFill>
              <a:srgbClr val="B7A2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텍스트"/>
          <p:cNvSpPr txBox="1"/>
          <p:nvPr/>
        </p:nvSpPr>
        <p:spPr>
          <a:xfrm>
            <a:off x="7537351" y="2471638"/>
            <a:ext cx="287933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7B9C"/>
                </a:solidFill>
                <a:latin typeface="Paperlogy 8 ExtraBold"/>
                <a:ea typeface="Paperlogy 8 ExtraBold"/>
                <a:cs typeface="Paperlogy 8 ExtraBold"/>
              </a:rPr>
              <a:t>✕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328567" y="2862163"/>
            <a:ext cx="627410" cy="349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spc="-66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신고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4328567" y="3303488"/>
            <a:ext cx="3188652" cy="476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민원을 한 번 제출하고 나면 처리 과정과 결과를</a:t>
            </a:r>
          </a:p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끝까지 확인하기 어렵습니다.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4328567" y="3927376"/>
            <a:ext cx="1178570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60">
                <a:solidFill>
                  <a:srgbClr val="FF7B9C"/>
                </a:solidFill>
                <a:latin typeface="Paperlogy 7 Bold"/>
                <a:ea typeface="Paperlogy 7 Bold"/>
                <a:cs typeface="Paperlogy 7 Bold"/>
              </a:rPr>
              <a:t>제출로 끝나는 민원</a:t>
            </a:r>
          </a:p>
        </p:txBody>
      </p:sp>
      <p:sp>
        <p:nvSpPr>
          <p:cNvPr id="15" name="도형"/>
          <p:cNvSpPr/>
          <p:nvPr/>
        </p:nvSpPr>
        <p:spPr>
          <a:xfrm>
            <a:off x="7863384" y="2522438"/>
            <a:ext cx="165100" cy="165100"/>
          </a:xfrm>
          <a:prstGeom prst="ellipse">
            <a:avLst/>
          </a:prstGeom>
          <a:solidFill>
            <a:srgbClr val="0B0919"/>
          </a:solidFill>
          <a:ln w="12700">
            <a:solidFill>
              <a:srgbClr val="B7A2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텍스트"/>
          <p:cNvSpPr txBox="1"/>
          <p:nvPr/>
        </p:nvSpPr>
        <p:spPr>
          <a:xfrm>
            <a:off x="7850684" y="2862163"/>
            <a:ext cx="1155452" cy="349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spc="-66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개선 확인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7850684" y="3303488"/>
            <a:ext cx="3111818" cy="476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시설이 실제로 고쳐졌는지 현장을 다시 찾아가</a:t>
            </a:r>
          </a:p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확인하는 과정이 부족합니다.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7850684" y="3927376"/>
            <a:ext cx="1178570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60">
                <a:solidFill>
                  <a:srgbClr val="FF7B9C"/>
                </a:solidFill>
                <a:latin typeface="Paperlogy 7 Bold"/>
                <a:ea typeface="Paperlogy 7 Bold"/>
                <a:cs typeface="Paperlogy 7 Bold"/>
              </a:rPr>
              <a:t>확인되지 않는 개선</a:t>
            </a:r>
          </a:p>
        </p:txBody>
      </p:sp>
      <p:cxnSp>
        <p:nvCxnSpPr>
          <p:cNvPr id="19" name="선"/>
          <p:cNvCxnSpPr/>
          <p:nvPr/>
        </p:nvCxnSpPr>
        <p:spPr>
          <a:xfrm>
            <a:off x="812800" y="5445125"/>
            <a:ext cx="105664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806450" y="5884862"/>
            <a:ext cx="2330371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88">
                <a:solidFill>
                  <a:srgbClr val="8D84B6"/>
                </a:solidFill>
                <a:latin typeface="Paperlogy 7 Bold"/>
                <a:ea typeface="Paperlogy 7 Bold"/>
                <a:cs typeface="Paperlogy 7 Bold"/>
              </a:rPr>
              <a:t>만안 1코스 · 벽산사거리–중앙시장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3178969" y="5664200"/>
            <a:ext cx="2241257" cy="444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코스 위 사고다발지역</a:t>
            </a:r>
            <a:r>
              <a:rPr sz="2800" b="0" i="0" spc="-84">
                <a:solidFill>
                  <a:srgbClr val="FF7B9C"/>
                </a:solidFill>
                <a:latin typeface="Paperlogy 9 Black"/>
                <a:ea typeface="Paperlogy 9 Black"/>
                <a:cs typeface="Paperlogy 9 Black"/>
              </a:rPr>
              <a:t>3</a:t>
            </a:r>
            <a:r>
              <a:rPr sz="1500" b="0" i="0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곳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5470475" y="5664200"/>
            <a:ext cx="2075418" cy="444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보행자 중상사고</a:t>
            </a:r>
            <a:r>
              <a:rPr sz="2800" b="0" i="0" spc="-84">
                <a:solidFill>
                  <a:srgbClr val="FF7B9C"/>
                </a:solidFill>
                <a:latin typeface="Paperlogy 9 Black"/>
                <a:ea typeface="Paperlogy 9 Black"/>
                <a:cs typeface="Paperlogy 9 Black"/>
              </a:rPr>
              <a:t>34</a:t>
            </a:r>
            <a:r>
              <a:rPr sz="1500" b="0" i="0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건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806450" y="6415088"/>
            <a:ext cx="163274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러닝으로 만드는 AI 생활안전망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10944076" y="6415088"/>
            <a:ext cx="58117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"/>
          <p:cNvSpPr txBox="1"/>
          <p:nvPr/>
        </p:nvSpPr>
        <p:spPr>
          <a:xfrm>
            <a:off x="806450" y="706438"/>
            <a:ext cx="722412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4">
                <a:solidFill>
                  <a:srgbClr val="B7A2FF"/>
                </a:solidFill>
                <a:latin typeface="Paperlogy 7 Bold"/>
                <a:ea typeface="Paperlogy 7 Bold"/>
                <a:cs typeface="Paperlogy 7 Bold"/>
              </a:rPr>
              <a:t>아이디어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806450" y="1077540"/>
            <a:ext cx="7121589" cy="10809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255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 spc="-133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달리는 청년이</a:t>
            </a:r>
          </a:p>
          <a:p>
            <a:pPr algn="l">
              <a:lnSpc>
                <a:spcPts val="4255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 spc="-133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우리 동네의 </a:t>
            </a:r>
            <a:r>
              <a:rPr sz="3800" b="0" i="0" spc="-133">
                <a:solidFill>
                  <a:srgbClr val="FFC97A"/>
                </a:solidFill>
                <a:latin typeface="Paperlogy 8 ExtraBold"/>
                <a:ea typeface="Paperlogy 8 ExtraBold"/>
                <a:cs typeface="Paperlogy 8 ExtraBold"/>
              </a:rPr>
              <a:t>야간 안전센서</a:t>
            </a:r>
            <a:r>
              <a:rPr sz="3800" b="0" i="0" spc="-133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가 됩니다</a:t>
            </a:r>
          </a:p>
        </p:txBody>
      </p:sp>
      <p:cxnSp>
        <p:nvCxnSpPr>
          <p:cNvPr id="4" name="선"/>
          <p:cNvCxnSpPr/>
          <p:nvPr/>
        </p:nvCxnSpPr>
        <p:spPr>
          <a:xfrm>
            <a:off x="812800" y="2824063"/>
            <a:ext cx="4572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5" name="선"/>
          <p:cNvCxnSpPr/>
          <p:nvPr/>
        </p:nvCxnSpPr>
        <p:spPr>
          <a:xfrm>
            <a:off x="1270000" y="2970113"/>
            <a:ext cx="22860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1263650" y="2528788"/>
            <a:ext cx="1231900" cy="349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 spc="-75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러닝크루</a:t>
            </a:r>
          </a:p>
        </p:txBody>
      </p:sp>
      <p:cxnSp>
        <p:nvCxnSpPr>
          <p:cNvPr id="7" name="선"/>
          <p:cNvCxnSpPr/>
          <p:nvPr/>
        </p:nvCxnSpPr>
        <p:spPr>
          <a:xfrm>
            <a:off x="3556000" y="2954238"/>
            <a:ext cx="78232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549650" y="2653407"/>
            <a:ext cx="2489498" cy="2143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매주 같은 코스를 반복해서 달리고</a:t>
            </a:r>
          </a:p>
        </p:txBody>
      </p:sp>
      <p:cxnSp>
        <p:nvCxnSpPr>
          <p:cNvPr id="9" name="선"/>
          <p:cNvCxnSpPr/>
          <p:nvPr/>
        </p:nvCxnSpPr>
        <p:spPr>
          <a:xfrm>
            <a:off x="812800" y="3484463"/>
            <a:ext cx="4572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806450" y="3100288"/>
            <a:ext cx="339378" cy="292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5E5588"/>
                </a:solidFill>
                <a:latin typeface="Paperlogy 3 Light"/>
                <a:ea typeface="Paperlogy 3 Light"/>
                <a:cs typeface="Paperlogy 3 Light"/>
              </a:rPr>
              <a:t>+</a:t>
            </a:r>
          </a:p>
        </p:txBody>
      </p:sp>
      <p:cxnSp>
        <p:nvCxnSpPr>
          <p:cNvPr id="11" name="선"/>
          <p:cNvCxnSpPr/>
          <p:nvPr/>
        </p:nvCxnSpPr>
        <p:spPr>
          <a:xfrm>
            <a:off x="1270000" y="3503513"/>
            <a:ext cx="22860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263650" y="3062188"/>
            <a:ext cx="1847532" cy="349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 spc="-75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야간 자율방범</a:t>
            </a:r>
          </a:p>
        </p:txBody>
      </p:sp>
      <p:cxnSp>
        <p:nvCxnSpPr>
          <p:cNvPr id="13" name="선"/>
          <p:cNvCxnSpPr/>
          <p:nvPr/>
        </p:nvCxnSpPr>
        <p:spPr>
          <a:xfrm>
            <a:off x="3556000" y="3487638"/>
            <a:ext cx="78232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549650" y="3186807"/>
            <a:ext cx="2987397" cy="2143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위험 요소를 현장에서 발견하고 기록하며</a:t>
            </a:r>
          </a:p>
        </p:txBody>
      </p:sp>
      <p:cxnSp>
        <p:nvCxnSpPr>
          <p:cNvPr id="15" name="선"/>
          <p:cNvCxnSpPr/>
          <p:nvPr/>
        </p:nvCxnSpPr>
        <p:spPr>
          <a:xfrm>
            <a:off x="812800" y="4017863"/>
            <a:ext cx="4572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06450" y="3633688"/>
            <a:ext cx="339378" cy="292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5E5588"/>
                </a:solidFill>
                <a:latin typeface="Paperlogy 3 Light"/>
                <a:ea typeface="Paperlogy 3 Light"/>
                <a:cs typeface="Paperlogy 3 Light"/>
              </a:rPr>
              <a:t>+</a:t>
            </a:r>
          </a:p>
        </p:txBody>
      </p:sp>
      <p:cxnSp>
        <p:nvCxnSpPr>
          <p:cNvPr id="17" name="선"/>
          <p:cNvCxnSpPr/>
          <p:nvPr/>
        </p:nvCxnSpPr>
        <p:spPr>
          <a:xfrm>
            <a:off x="1270000" y="4036913"/>
            <a:ext cx="22860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1263650" y="3595588"/>
            <a:ext cx="479078" cy="349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 spc="-75">
                <a:solidFill>
                  <a:srgbClr val="B7A2FF"/>
                </a:solidFill>
                <a:latin typeface="Paperlogy 8 ExtraBold"/>
                <a:ea typeface="Paperlogy 8 ExtraBold"/>
                <a:cs typeface="Paperlogy 8 ExtraBold"/>
              </a:rPr>
              <a:t>AI</a:t>
            </a:r>
          </a:p>
        </p:txBody>
      </p:sp>
      <p:cxnSp>
        <p:nvCxnSpPr>
          <p:cNvPr id="19" name="선"/>
          <p:cNvCxnSpPr/>
          <p:nvPr/>
        </p:nvCxnSpPr>
        <p:spPr>
          <a:xfrm>
            <a:off x="3556000" y="4021038"/>
            <a:ext cx="78232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549650" y="3720207"/>
            <a:ext cx="4107617" cy="2143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현장 기록을 민원에 활용할 수 있는 데이터로 정리합니다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812800" y="4551263"/>
            <a:ext cx="4572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22" name="텍스트"/>
          <p:cNvSpPr txBox="1"/>
          <p:nvPr/>
        </p:nvSpPr>
        <p:spPr>
          <a:xfrm>
            <a:off x="806450" y="4167088"/>
            <a:ext cx="339378" cy="292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5E5588"/>
                </a:solidFill>
                <a:latin typeface="Paperlogy 3 Light"/>
                <a:ea typeface="Paperlogy 3 Light"/>
                <a:cs typeface="Paperlogy 3 Light"/>
              </a:rPr>
              <a:t>=</a:t>
            </a:r>
          </a:p>
        </p:txBody>
      </p:sp>
      <p:cxnSp>
        <p:nvCxnSpPr>
          <p:cNvPr id="23" name="선"/>
          <p:cNvCxnSpPr/>
          <p:nvPr/>
        </p:nvCxnSpPr>
        <p:spPr>
          <a:xfrm>
            <a:off x="1270000" y="4570313"/>
            <a:ext cx="22860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24" name="텍스트"/>
          <p:cNvSpPr txBox="1"/>
          <p:nvPr/>
        </p:nvSpPr>
        <p:spPr>
          <a:xfrm>
            <a:off x="1263650" y="4128988"/>
            <a:ext cx="1910016" cy="349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 spc="-75">
                <a:solidFill>
                  <a:srgbClr val="FFC97A"/>
                </a:solidFill>
                <a:latin typeface="Paperlogy 8 ExtraBold"/>
                <a:ea typeface="Paperlogy 8 ExtraBold"/>
                <a:cs typeface="Paperlogy 8 ExtraBold"/>
              </a:rPr>
              <a:t>AI 생활안전망</a:t>
            </a:r>
          </a:p>
        </p:txBody>
      </p:sp>
      <p:cxnSp>
        <p:nvCxnSpPr>
          <p:cNvPr id="25" name="선"/>
          <p:cNvCxnSpPr/>
          <p:nvPr/>
        </p:nvCxnSpPr>
        <p:spPr>
          <a:xfrm>
            <a:off x="3556000" y="4554438"/>
            <a:ext cx="78232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26" name="텍스트"/>
          <p:cNvSpPr txBox="1"/>
          <p:nvPr/>
        </p:nvSpPr>
        <p:spPr>
          <a:xfrm>
            <a:off x="3549650" y="4253607"/>
            <a:ext cx="3153346" cy="2143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발견부터 개선 확인까지 이어지는 자원봉사</a:t>
            </a:r>
          </a:p>
        </p:txBody>
      </p:sp>
      <p:sp>
        <p:nvSpPr>
          <p:cNvPr id="27" name="텍스트"/>
          <p:cNvSpPr txBox="1"/>
          <p:nvPr/>
        </p:nvSpPr>
        <p:spPr>
          <a:xfrm>
            <a:off x="806450" y="5295900"/>
            <a:ext cx="3749526" cy="800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반복 순찰로 쌓인 현장 기록을 AI가 구조화하고,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민원 제출과 행정 개선, 현장 재확인까지 연결하는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데이터 기반 자원봉사활동</a:t>
            </a:r>
            <a:r>
              <a:rPr sz="14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입니다.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806450" y="6415088"/>
            <a:ext cx="163274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러닝으로 만드는 AI 생활안전망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10944076" y="6415088"/>
            <a:ext cx="58117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"/>
          <p:cNvSpPr txBox="1"/>
          <p:nvPr/>
        </p:nvSpPr>
        <p:spPr>
          <a:xfrm>
            <a:off x="806450" y="1009551"/>
            <a:ext cx="2203658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4">
                <a:solidFill>
                  <a:srgbClr val="B7A2FF"/>
                </a:solidFill>
                <a:latin typeface="Paperlogy 7 Bold"/>
                <a:ea typeface="Paperlogy 7 Bold"/>
                <a:cs typeface="Paperlogy 7 Bold"/>
              </a:rPr>
              <a:t>공공데이터로 설계한 순찰 코스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806450" y="1331565"/>
            <a:ext cx="4212883" cy="839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03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 spc="-84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사고가 </a:t>
            </a:r>
            <a:r>
              <a:rPr sz="2800" b="0" i="0" spc="-84">
                <a:solidFill>
                  <a:srgbClr val="FF7B9C"/>
                </a:solidFill>
                <a:latin typeface="Paperlogy 8 ExtraBold"/>
                <a:ea typeface="Paperlogy 8 ExtraBold"/>
                <a:cs typeface="Paperlogy 8 ExtraBold"/>
              </a:rPr>
              <a:t>반복된 지점</a:t>
            </a:r>
            <a:r>
              <a:rPr sz="2800" b="0" i="0" spc="-84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을 연결해</a:t>
            </a:r>
          </a:p>
          <a:p>
            <a:pPr algn="l">
              <a:lnSpc>
                <a:spcPts val="3303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 spc="-84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순찰 코스를 만들었습니다</a:t>
            </a:r>
          </a:p>
        </p:txBody>
      </p:sp>
      <p:cxnSp>
        <p:nvCxnSpPr>
          <p:cNvPr id="4" name="선"/>
          <p:cNvCxnSpPr/>
          <p:nvPr/>
        </p:nvCxnSpPr>
        <p:spPr>
          <a:xfrm>
            <a:off x="812800" y="2339280"/>
            <a:ext cx="56134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5" name="도형"/>
          <p:cNvSpPr/>
          <p:nvPr/>
        </p:nvSpPr>
        <p:spPr>
          <a:xfrm>
            <a:off x="812800" y="2507555"/>
            <a:ext cx="101600" cy="101600"/>
          </a:xfrm>
          <a:prstGeom prst="ellipse">
            <a:avLst/>
          </a:prstGeom>
          <a:solidFill>
            <a:srgbClr val="FF7B9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텍스트"/>
          <p:cNvSpPr txBox="1"/>
          <p:nvPr/>
        </p:nvSpPr>
        <p:spPr>
          <a:xfrm>
            <a:off x="1060450" y="2431355"/>
            <a:ext cx="1928460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2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보행자 교통사고 다발지역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060450" y="2668687"/>
            <a:ext cx="2008569" cy="1508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TAAS · 공공데이터포털 15105289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232150" y="2437388"/>
            <a:ext cx="2014299" cy="2133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다발지역 4곳 · 중상사고 34건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232150" y="2668488"/>
            <a:ext cx="2323713" cy="177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코스 포함 지점 · 벽산사거리, 안양성모약국</a:t>
            </a:r>
          </a:p>
        </p:txBody>
      </p:sp>
      <p:cxnSp>
        <p:nvCxnSpPr>
          <p:cNvPr id="10" name="선"/>
          <p:cNvCxnSpPr/>
          <p:nvPr/>
        </p:nvCxnSpPr>
        <p:spPr>
          <a:xfrm>
            <a:off x="812800" y="2946301"/>
            <a:ext cx="56134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11" name="도형"/>
          <p:cNvSpPr/>
          <p:nvPr/>
        </p:nvSpPr>
        <p:spPr>
          <a:xfrm>
            <a:off x="812800" y="3114576"/>
            <a:ext cx="101600" cy="1016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텍스트"/>
          <p:cNvSpPr txBox="1"/>
          <p:nvPr/>
        </p:nvSpPr>
        <p:spPr>
          <a:xfrm>
            <a:off x="1060450" y="3044726"/>
            <a:ext cx="2197492" cy="419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2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보행노인·지자체 사고 TOP3</a:t>
            </a:r>
          </a:p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2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다발지역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060450" y="3485257"/>
            <a:ext cx="476448" cy="1508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TAAS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232150" y="3044408"/>
            <a:ext cx="1808296" cy="2133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보행노인 사고다발지역 3곳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232150" y="3275509"/>
            <a:ext cx="1600944" cy="177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안양시 사고 TOP3 지역 3곳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232150" y="3472359"/>
            <a:ext cx="2397274" cy="177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중앙사거리 등 주요 지점을 반영해 코스 보완</a:t>
            </a:r>
          </a:p>
        </p:txBody>
      </p:sp>
      <p:cxnSp>
        <p:nvCxnSpPr>
          <p:cNvPr id="17" name="선"/>
          <p:cNvCxnSpPr/>
          <p:nvPr/>
        </p:nvCxnSpPr>
        <p:spPr>
          <a:xfrm>
            <a:off x="812800" y="3750171"/>
            <a:ext cx="56134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18" name="도형"/>
          <p:cNvSpPr/>
          <p:nvPr/>
        </p:nvSpPr>
        <p:spPr>
          <a:xfrm>
            <a:off x="812800" y="3918446"/>
            <a:ext cx="101600" cy="10160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텍스트"/>
          <p:cNvSpPr txBox="1"/>
          <p:nvPr/>
        </p:nvSpPr>
        <p:spPr>
          <a:xfrm>
            <a:off x="1060450" y="3842246"/>
            <a:ext cx="2057519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2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전국보안등정보 표준데이터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1060450" y="4079577"/>
            <a:ext cx="1565622" cy="1508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공공데이터포털 15017320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3232150" y="3848279"/>
            <a:ext cx="2288679" cy="2133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코스 반경 50m 이내 보안등 24개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232150" y="4079379"/>
            <a:ext cx="1874818" cy="177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순찰할 때마다 실제 점등 여부 확인</a:t>
            </a:r>
          </a:p>
        </p:txBody>
      </p:sp>
      <p:cxnSp>
        <p:nvCxnSpPr>
          <p:cNvPr id="23" name="선"/>
          <p:cNvCxnSpPr/>
          <p:nvPr/>
        </p:nvCxnSpPr>
        <p:spPr>
          <a:xfrm>
            <a:off x="812800" y="4357191"/>
            <a:ext cx="56134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24" name="선"/>
          <p:cNvCxnSpPr/>
          <p:nvPr/>
        </p:nvCxnSpPr>
        <p:spPr>
          <a:xfrm>
            <a:off x="812800" y="4964212"/>
            <a:ext cx="56134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25" name="도형"/>
          <p:cNvSpPr/>
          <p:nvPr/>
        </p:nvSpPr>
        <p:spPr>
          <a:xfrm>
            <a:off x="812800" y="4525466"/>
            <a:ext cx="101600" cy="101600"/>
          </a:xfrm>
          <a:prstGeom prst="ellipse">
            <a:avLst/>
          </a:prstGeom>
          <a:solidFill>
            <a:srgbClr val="5FD3A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텍스트"/>
          <p:cNvSpPr txBox="1"/>
          <p:nvPr/>
        </p:nvSpPr>
        <p:spPr>
          <a:xfrm>
            <a:off x="1060450" y="4449266"/>
            <a:ext cx="1559421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2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사고 34건 직접 분류</a:t>
            </a:r>
          </a:p>
        </p:txBody>
      </p:sp>
      <p:sp>
        <p:nvSpPr>
          <p:cNvPr id="27" name="텍스트"/>
          <p:cNvSpPr txBox="1"/>
          <p:nvPr/>
        </p:nvSpPr>
        <p:spPr>
          <a:xfrm>
            <a:off x="1060450" y="4686598"/>
            <a:ext cx="2171516" cy="1508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낮·밤 · 발생 시각 · 피해자 연령 · 위반 유형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3232150" y="4455299"/>
            <a:ext cx="2272472" cy="2133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야간 사고 8건 · 횡단 중 사고 17건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3232150" y="4686399"/>
            <a:ext cx="2538229" cy="177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65세 이상 피해 21건 · 안전운전 불이행 14건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806450" y="5105499"/>
            <a:ext cx="2834109" cy="685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보행자·보행노인 사고다발지역 두 곳과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안양시 사고 TOP3 중 1위인 </a:t>
            </a:r>
            <a:r>
              <a:rPr sz="1200" b="0" i="0">
                <a:solidFill>
                  <a:srgbClr val="FF7B9C"/>
                </a:solidFill>
                <a:latin typeface="Paperlogy 8 ExtraBold"/>
                <a:ea typeface="Paperlogy 8 ExtraBold"/>
                <a:cs typeface="Paperlogy 8 ExtraBold"/>
              </a:rPr>
              <a:t>중앙사거리</a:t>
            </a:r>
            <a:r>
              <a:rPr sz="12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를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하나의 순찰 코스로 연결했습니다.</a:t>
            </a:r>
          </a:p>
        </p:txBody>
      </p:sp>
      <p:sp>
        <p:nvSpPr>
          <p:cNvPr id="31" name="사각형"/>
          <p:cNvSpPr/>
          <p:nvPr/>
        </p:nvSpPr>
        <p:spPr>
          <a:xfrm>
            <a:off x="6997700" y="882650"/>
            <a:ext cx="4381500" cy="5041900"/>
          </a:xfrm>
          <a:prstGeom prst="roundRect">
            <a:avLst>
              <a:gd name="adj" fmla="val 4057"/>
            </a:avLst>
          </a:prstGeom>
          <a:solidFill>
            <a:srgbClr val="130F2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선"/>
          <p:cNvSpPr/>
          <p:nvPr/>
        </p:nvSpPr>
        <p:spPr>
          <a:xfrm>
            <a:off x="7727950" y="882650"/>
            <a:ext cx="0" cy="5041900"/>
          </a:xfrm>
          <a:custGeom>
            <a:avLst/>
            <a:gdLst/>
            <a:ahLst/>
            <a:cxnLst/>
            <a:rect l="l" t="t" r="r" b="b"/>
            <a:pathLst>
              <a:path h="5041900">
                <a:moveTo>
                  <a:pt x="0" y="0"/>
                </a:moveTo>
                <a:lnTo>
                  <a:pt x="0" y="504190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선"/>
          <p:cNvSpPr/>
          <p:nvPr/>
        </p:nvSpPr>
        <p:spPr>
          <a:xfrm>
            <a:off x="6997700" y="1722755"/>
            <a:ext cx="4381500" cy="0"/>
          </a:xfrm>
          <a:custGeom>
            <a:avLst/>
            <a:gdLst/>
            <a:ahLst/>
            <a:cxnLst/>
            <a:rect l="l" t="t" r="r" b="b"/>
            <a:pathLst>
              <a:path w="4381500">
                <a:moveTo>
                  <a:pt x="0" y="0"/>
                </a:moveTo>
                <a:lnTo>
                  <a:pt x="4381500" y="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선"/>
          <p:cNvSpPr/>
          <p:nvPr/>
        </p:nvSpPr>
        <p:spPr>
          <a:xfrm>
            <a:off x="8458200" y="882650"/>
            <a:ext cx="0" cy="5041900"/>
          </a:xfrm>
          <a:custGeom>
            <a:avLst/>
            <a:gdLst/>
            <a:ahLst/>
            <a:cxnLst/>
            <a:rect l="l" t="t" r="r" b="b"/>
            <a:pathLst>
              <a:path h="5041900">
                <a:moveTo>
                  <a:pt x="0" y="0"/>
                </a:moveTo>
                <a:lnTo>
                  <a:pt x="0" y="504190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선"/>
          <p:cNvSpPr/>
          <p:nvPr/>
        </p:nvSpPr>
        <p:spPr>
          <a:xfrm>
            <a:off x="6997700" y="2563495"/>
            <a:ext cx="4381500" cy="0"/>
          </a:xfrm>
          <a:custGeom>
            <a:avLst/>
            <a:gdLst/>
            <a:ahLst/>
            <a:cxnLst/>
            <a:rect l="l" t="t" r="r" b="b"/>
            <a:pathLst>
              <a:path w="4381500">
                <a:moveTo>
                  <a:pt x="0" y="0"/>
                </a:moveTo>
                <a:lnTo>
                  <a:pt x="4381500" y="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선"/>
          <p:cNvSpPr/>
          <p:nvPr/>
        </p:nvSpPr>
        <p:spPr>
          <a:xfrm>
            <a:off x="9188450" y="882650"/>
            <a:ext cx="0" cy="5041900"/>
          </a:xfrm>
          <a:custGeom>
            <a:avLst/>
            <a:gdLst/>
            <a:ahLst/>
            <a:cxnLst/>
            <a:rect l="l" t="t" r="r" b="b"/>
            <a:pathLst>
              <a:path h="5041900">
                <a:moveTo>
                  <a:pt x="0" y="0"/>
                </a:moveTo>
                <a:lnTo>
                  <a:pt x="0" y="504190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선"/>
          <p:cNvSpPr/>
          <p:nvPr/>
        </p:nvSpPr>
        <p:spPr>
          <a:xfrm>
            <a:off x="6997700" y="3403600"/>
            <a:ext cx="4381500" cy="0"/>
          </a:xfrm>
          <a:custGeom>
            <a:avLst/>
            <a:gdLst/>
            <a:ahLst/>
            <a:cxnLst/>
            <a:rect l="l" t="t" r="r" b="b"/>
            <a:pathLst>
              <a:path w="4381500">
                <a:moveTo>
                  <a:pt x="0" y="0"/>
                </a:moveTo>
                <a:lnTo>
                  <a:pt x="4381500" y="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선"/>
          <p:cNvSpPr/>
          <p:nvPr/>
        </p:nvSpPr>
        <p:spPr>
          <a:xfrm>
            <a:off x="9918700" y="882650"/>
            <a:ext cx="0" cy="5041900"/>
          </a:xfrm>
          <a:custGeom>
            <a:avLst/>
            <a:gdLst/>
            <a:ahLst/>
            <a:cxnLst/>
            <a:rect l="l" t="t" r="r" b="b"/>
            <a:pathLst>
              <a:path h="5041900">
                <a:moveTo>
                  <a:pt x="0" y="0"/>
                </a:moveTo>
                <a:lnTo>
                  <a:pt x="0" y="504190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선"/>
          <p:cNvSpPr/>
          <p:nvPr/>
        </p:nvSpPr>
        <p:spPr>
          <a:xfrm>
            <a:off x="6997700" y="4243705"/>
            <a:ext cx="4381500" cy="0"/>
          </a:xfrm>
          <a:custGeom>
            <a:avLst/>
            <a:gdLst/>
            <a:ahLst/>
            <a:cxnLst/>
            <a:rect l="l" t="t" r="r" b="b"/>
            <a:pathLst>
              <a:path w="4381500">
                <a:moveTo>
                  <a:pt x="0" y="0"/>
                </a:moveTo>
                <a:lnTo>
                  <a:pt x="4381500" y="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선"/>
          <p:cNvSpPr/>
          <p:nvPr/>
        </p:nvSpPr>
        <p:spPr>
          <a:xfrm>
            <a:off x="10648950" y="882650"/>
            <a:ext cx="0" cy="5041900"/>
          </a:xfrm>
          <a:custGeom>
            <a:avLst/>
            <a:gdLst/>
            <a:ahLst/>
            <a:cxnLst/>
            <a:rect l="l" t="t" r="r" b="b"/>
            <a:pathLst>
              <a:path h="5041900">
                <a:moveTo>
                  <a:pt x="0" y="0"/>
                </a:moveTo>
                <a:lnTo>
                  <a:pt x="0" y="504190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선"/>
          <p:cNvSpPr/>
          <p:nvPr/>
        </p:nvSpPr>
        <p:spPr>
          <a:xfrm>
            <a:off x="6997700" y="5084445"/>
            <a:ext cx="4381500" cy="0"/>
          </a:xfrm>
          <a:custGeom>
            <a:avLst/>
            <a:gdLst/>
            <a:ahLst/>
            <a:cxnLst/>
            <a:rect l="l" t="t" r="r" b="b"/>
            <a:pathLst>
              <a:path w="4381500">
                <a:moveTo>
                  <a:pt x="0" y="0"/>
                </a:moveTo>
                <a:lnTo>
                  <a:pt x="4381500" y="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원"/>
          <p:cNvSpPr/>
          <p:nvPr/>
        </p:nvSpPr>
        <p:spPr>
          <a:xfrm>
            <a:off x="8583930" y="1248410"/>
            <a:ext cx="57150" cy="5715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원"/>
          <p:cNvSpPr/>
          <p:nvPr/>
        </p:nvSpPr>
        <p:spPr>
          <a:xfrm>
            <a:off x="7996555" y="1115695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원"/>
          <p:cNvSpPr/>
          <p:nvPr/>
        </p:nvSpPr>
        <p:spPr>
          <a:xfrm>
            <a:off x="8524875" y="1025525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원"/>
          <p:cNvSpPr/>
          <p:nvPr/>
        </p:nvSpPr>
        <p:spPr>
          <a:xfrm>
            <a:off x="8174990" y="1324610"/>
            <a:ext cx="57150" cy="5715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원"/>
          <p:cNvSpPr/>
          <p:nvPr/>
        </p:nvSpPr>
        <p:spPr>
          <a:xfrm>
            <a:off x="8375650" y="1530350"/>
            <a:ext cx="57150" cy="5715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원"/>
          <p:cNvSpPr/>
          <p:nvPr/>
        </p:nvSpPr>
        <p:spPr>
          <a:xfrm>
            <a:off x="9860915" y="270637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원"/>
          <p:cNvSpPr/>
          <p:nvPr/>
        </p:nvSpPr>
        <p:spPr>
          <a:xfrm>
            <a:off x="7711440" y="1390015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원"/>
          <p:cNvSpPr/>
          <p:nvPr/>
        </p:nvSpPr>
        <p:spPr>
          <a:xfrm>
            <a:off x="9086215" y="2995295"/>
            <a:ext cx="57150" cy="5715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원"/>
          <p:cNvSpPr/>
          <p:nvPr/>
        </p:nvSpPr>
        <p:spPr>
          <a:xfrm>
            <a:off x="9156065" y="2791460"/>
            <a:ext cx="57150" cy="5715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원"/>
          <p:cNvSpPr/>
          <p:nvPr/>
        </p:nvSpPr>
        <p:spPr>
          <a:xfrm>
            <a:off x="10692130" y="438150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원"/>
          <p:cNvSpPr/>
          <p:nvPr/>
        </p:nvSpPr>
        <p:spPr>
          <a:xfrm>
            <a:off x="9800590" y="4982210"/>
            <a:ext cx="57150" cy="5715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원"/>
          <p:cNvSpPr/>
          <p:nvPr/>
        </p:nvSpPr>
        <p:spPr>
          <a:xfrm>
            <a:off x="10172700" y="464058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원"/>
          <p:cNvSpPr/>
          <p:nvPr/>
        </p:nvSpPr>
        <p:spPr>
          <a:xfrm>
            <a:off x="10339070" y="457454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원"/>
          <p:cNvSpPr/>
          <p:nvPr/>
        </p:nvSpPr>
        <p:spPr>
          <a:xfrm>
            <a:off x="10618470" y="507238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원"/>
          <p:cNvSpPr/>
          <p:nvPr/>
        </p:nvSpPr>
        <p:spPr>
          <a:xfrm>
            <a:off x="7442835" y="173355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원"/>
          <p:cNvSpPr/>
          <p:nvPr/>
        </p:nvSpPr>
        <p:spPr>
          <a:xfrm>
            <a:off x="8235950" y="1647825"/>
            <a:ext cx="57150" cy="5715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원"/>
          <p:cNvSpPr/>
          <p:nvPr/>
        </p:nvSpPr>
        <p:spPr>
          <a:xfrm>
            <a:off x="9522460" y="136271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원"/>
          <p:cNvSpPr/>
          <p:nvPr/>
        </p:nvSpPr>
        <p:spPr>
          <a:xfrm>
            <a:off x="9584055" y="1848485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원"/>
          <p:cNvSpPr/>
          <p:nvPr/>
        </p:nvSpPr>
        <p:spPr>
          <a:xfrm>
            <a:off x="8239760" y="265049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원"/>
          <p:cNvSpPr/>
          <p:nvPr/>
        </p:nvSpPr>
        <p:spPr>
          <a:xfrm>
            <a:off x="8381365" y="258572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원"/>
          <p:cNvSpPr/>
          <p:nvPr/>
        </p:nvSpPr>
        <p:spPr>
          <a:xfrm>
            <a:off x="8470900" y="240157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원"/>
          <p:cNvSpPr/>
          <p:nvPr/>
        </p:nvSpPr>
        <p:spPr>
          <a:xfrm>
            <a:off x="8409940" y="297688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원"/>
          <p:cNvSpPr/>
          <p:nvPr/>
        </p:nvSpPr>
        <p:spPr>
          <a:xfrm>
            <a:off x="7127240" y="3212465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원"/>
          <p:cNvSpPr/>
          <p:nvPr/>
        </p:nvSpPr>
        <p:spPr>
          <a:xfrm>
            <a:off x="7411085" y="352679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원"/>
          <p:cNvSpPr/>
          <p:nvPr/>
        </p:nvSpPr>
        <p:spPr>
          <a:xfrm>
            <a:off x="7073265" y="443357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원"/>
          <p:cNvSpPr/>
          <p:nvPr/>
        </p:nvSpPr>
        <p:spPr>
          <a:xfrm>
            <a:off x="7004050" y="4220845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원"/>
          <p:cNvSpPr/>
          <p:nvPr/>
        </p:nvSpPr>
        <p:spPr>
          <a:xfrm>
            <a:off x="9156700" y="2214880"/>
            <a:ext cx="57150" cy="5715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원"/>
          <p:cNvSpPr/>
          <p:nvPr/>
        </p:nvSpPr>
        <p:spPr>
          <a:xfrm>
            <a:off x="9519285" y="151892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원"/>
          <p:cNvSpPr/>
          <p:nvPr/>
        </p:nvSpPr>
        <p:spPr>
          <a:xfrm>
            <a:off x="8697595" y="253365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원"/>
          <p:cNvSpPr/>
          <p:nvPr/>
        </p:nvSpPr>
        <p:spPr>
          <a:xfrm>
            <a:off x="8733155" y="260858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원"/>
          <p:cNvSpPr/>
          <p:nvPr/>
        </p:nvSpPr>
        <p:spPr>
          <a:xfrm>
            <a:off x="8068310" y="2254885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원"/>
          <p:cNvSpPr/>
          <p:nvPr/>
        </p:nvSpPr>
        <p:spPr>
          <a:xfrm>
            <a:off x="8648700" y="2853055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원"/>
          <p:cNvSpPr/>
          <p:nvPr/>
        </p:nvSpPr>
        <p:spPr>
          <a:xfrm>
            <a:off x="8178165" y="4435475"/>
            <a:ext cx="57150" cy="5715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원"/>
          <p:cNvSpPr/>
          <p:nvPr/>
        </p:nvSpPr>
        <p:spPr>
          <a:xfrm>
            <a:off x="9031605" y="538099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원"/>
          <p:cNvSpPr/>
          <p:nvPr/>
        </p:nvSpPr>
        <p:spPr>
          <a:xfrm>
            <a:off x="7625715" y="4366895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원"/>
          <p:cNvSpPr/>
          <p:nvPr/>
        </p:nvSpPr>
        <p:spPr>
          <a:xfrm>
            <a:off x="7574280" y="4613275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원"/>
          <p:cNvSpPr/>
          <p:nvPr/>
        </p:nvSpPr>
        <p:spPr>
          <a:xfrm>
            <a:off x="7440295" y="4685665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원"/>
          <p:cNvSpPr/>
          <p:nvPr/>
        </p:nvSpPr>
        <p:spPr>
          <a:xfrm>
            <a:off x="6980555" y="4694555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원"/>
          <p:cNvSpPr/>
          <p:nvPr/>
        </p:nvSpPr>
        <p:spPr>
          <a:xfrm>
            <a:off x="8980805" y="348742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원"/>
          <p:cNvSpPr/>
          <p:nvPr/>
        </p:nvSpPr>
        <p:spPr>
          <a:xfrm>
            <a:off x="8999220" y="4104005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원"/>
          <p:cNvSpPr/>
          <p:nvPr/>
        </p:nvSpPr>
        <p:spPr>
          <a:xfrm>
            <a:off x="8727440" y="3766185"/>
            <a:ext cx="57150" cy="5715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원"/>
          <p:cNvSpPr/>
          <p:nvPr/>
        </p:nvSpPr>
        <p:spPr>
          <a:xfrm>
            <a:off x="8564245" y="4115435"/>
            <a:ext cx="57150" cy="5715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원"/>
          <p:cNvSpPr/>
          <p:nvPr/>
        </p:nvSpPr>
        <p:spPr>
          <a:xfrm>
            <a:off x="8143240" y="4032250"/>
            <a:ext cx="57150" cy="5715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원"/>
          <p:cNvSpPr/>
          <p:nvPr/>
        </p:nvSpPr>
        <p:spPr>
          <a:xfrm>
            <a:off x="8094345" y="4332605"/>
            <a:ext cx="57150" cy="5715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원"/>
          <p:cNvSpPr/>
          <p:nvPr/>
        </p:nvSpPr>
        <p:spPr>
          <a:xfrm>
            <a:off x="7566660" y="288671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원"/>
          <p:cNvSpPr/>
          <p:nvPr/>
        </p:nvSpPr>
        <p:spPr>
          <a:xfrm>
            <a:off x="7783830" y="2917825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원"/>
          <p:cNvSpPr/>
          <p:nvPr/>
        </p:nvSpPr>
        <p:spPr>
          <a:xfrm>
            <a:off x="8200390" y="318643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원"/>
          <p:cNvSpPr/>
          <p:nvPr/>
        </p:nvSpPr>
        <p:spPr>
          <a:xfrm>
            <a:off x="7966075" y="337312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원"/>
          <p:cNvSpPr/>
          <p:nvPr/>
        </p:nvSpPr>
        <p:spPr>
          <a:xfrm>
            <a:off x="7875905" y="3955415"/>
            <a:ext cx="57150" cy="5715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원"/>
          <p:cNvSpPr/>
          <p:nvPr/>
        </p:nvSpPr>
        <p:spPr>
          <a:xfrm>
            <a:off x="7945755" y="4069080"/>
            <a:ext cx="57150" cy="5715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원"/>
          <p:cNvSpPr/>
          <p:nvPr/>
        </p:nvSpPr>
        <p:spPr>
          <a:xfrm>
            <a:off x="7978775" y="3935095"/>
            <a:ext cx="57150" cy="5715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원"/>
          <p:cNvSpPr/>
          <p:nvPr/>
        </p:nvSpPr>
        <p:spPr>
          <a:xfrm>
            <a:off x="7962265" y="4594860"/>
            <a:ext cx="57150" cy="5715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원"/>
          <p:cNvSpPr/>
          <p:nvPr/>
        </p:nvSpPr>
        <p:spPr>
          <a:xfrm>
            <a:off x="9335770" y="5202555"/>
            <a:ext cx="57150" cy="5715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원"/>
          <p:cNvSpPr/>
          <p:nvPr/>
        </p:nvSpPr>
        <p:spPr>
          <a:xfrm>
            <a:off x="8023225" y="362839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원"/>
          <p:cNvSpPr/>
          <p:nvPr/>
        </p:nvSpPr>
        <p:spPr>
          <a:xfrm>
            <a:off x="7085330" y="411353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원"/>
          <p:cNvSpPr/>
          <p:nvPr/>
        </p:nvSpPr>
        <p:spPr>
          <a:xfrm>
            <a:off x="7280910" y="401447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원"/>
          <p:cNvSpPr/>
          <p:nvPr/>
        </p:nvSpPr>
        <p:spPr>
          <a:xfrm>
            <a:off x="7602855" y="424688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원"/>
          <p:cNvSpPr/>
          <p:nvPr/>
        </p:nvSpPr>
        <p:spPr>
          <a:xfrm>
            <a:off x="7226935" y="3317875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원"/>
          <p:cNvSpPr/>
          <p:nvPr/>
        </p:nvSpPr>
        <p:spPr>
          <a:xfrm>
            <a:off x="7164705" y="3773805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원"/>
          <p:cNvSpPr/>
          <p:nvPr/>
        </p:nvSpPr>
        <p:spPr>
          <a:xfrm>
            <a:off x="7240270" y="3898265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원"/>
          <p:cNvSpPr/>
          <p:nvPr/>
        </p:nvSpPr>
        <p:spPr>
          <a:xfrm>
            <a:off x="7787005" y="3479165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원"/>
          <p:cNvSpPr/>
          <p:nvPr/>
        </p:nvSpPr>
        <p:spPr>
          <a:xfrm>
            <a:off x="8536305" y="1900555"/>
            <a:ext cx="57150" cy="5715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원"/>
          <p:cNvSpPr/>
          <p:nvPr/>
        </p:nvSpPr>
        <p:spPr>
          <a:xfrm>
            <a:off x="9159875" y="3224530"/>
            <a:ext cx="57150" cy="5715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원"/>
          <p:cNvSpPr/>
          <p:nvPr/>
        </p:nvSpPr>
        <p:spPr>
          <a:xfrm>
            <a:off x="8875395" y="3094355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원"/>
          <p:cNvSpPr/>
          <p:nvPr/>
        </p:nvSpPr>
        <p:spPr>
          <a:xfrm>
            <a:off x="9354820" y="3368040"/>
            <a:ext cx="57150" cy="5715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원"/>
          <p:cNvSpPr/>
          <p:nvPr/>
        </p:nvSpPr>
        <p:spPr>
          <a:xfrm>
            <a:off x="7503795" y="386334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원"/>
          <p:cNvSpPr/>
          <p:nvPr/>
        </p:nvSpPr>
        <p:spPr>
          <a:xfrm>
            <a:off x="7519670" y="316484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원"/>
          <p:cNvSpPr/>
          <p:nvPr/>
        </p:nvSpPr>
        <p:spPr>
          <a:xfrm>
            <a:off x="7316470" y="180213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원"/>
          <p:cNvSpPr/>
          <p:nvPr/>
        </p:nvSpPr>
        <p:spPr>
          <a:xfrm>
            <a:off x="10423525" y="176657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원"/>
          <p:cNvSpPr/>
          <p:nvPr/>
        </p:nvSpPr>
        <p:spPr>
          <a:xfrm>
            <a:off x="11339195" y="218948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원"/>
          <p:cNvSpPr/>
          <p:nvPr/>
        </p:nvSpPr>
        <p:spPr>
          <a:xfrm>
            <a:off x="7299325" y="140716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원"/>
          <p:cNvSpPr/>
          <p:nvPr/>
        </p:nvSpPr>
        <p:spPr>
          <a:xfrm>
            <a:off x="7117080" y="449961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원"/>
          <p:cNvSpPr/>
          <p:nvPr/>
        </p:nvSpPr>
        <p:spPr>
          <a:xfrm>
            <a:off x="8791575" y="5480685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원"/>
          <p:cNvSpPr/>
          <p:nvPr/>
        </p:nvSpPr>
        <p:spPr>
          <a:xfrm>
            <a:off x="8484870" y="558165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원"/>
          <p:cNvSpPr/>
          <p:nvPr/>
        </p:nvSpPr>
        <p:spPr>
          <a:xfrm>
            <a:off x="7296785" y="276606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원"/>
          <p:cNvSpPr/>
          <p:nvPr/>
        </p:nvSpPr>
        <p:spPr>
          <a:xfrm>
            <a:off x="7539355" y="2230755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원"/>
          <p:cNvSpPr/>
          <p:nvPr/>
        </p:nvSpPr>
        <p:spPr>
          <a:xfrm>
            <a:off x="8126095" y="3531235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원"/>
          <p:cNvSpPr/>
          <p:nvPr/>
        </p:nvSpPr>
        <p:spPr>
          <a:xfrm>
            <a:off x="8157210" y="358648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원"/>
          <p:cNvSpPr/>
          <p:nvPr/>
        </p:nvSpPr>
        <p:spPr>
          <a:xfrm>
            <a:off x="8414385" y="3446145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원"/>
          <p:cNvSpPr/>
          <p:nvPr/>
        </p:nvSpPr>
        <p:spPr>
          <a:xfrm>
            <a:off x="8734425" y="3289300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원"/>
          <p:cNvSpPr/>
          <p:nvPr/>
        </p:nvSpPr>
        <p:spPr>
          <a:xfrm>
            <a:off x="8272780" y="3709035"/>
            <a:ext cx="57150" cy="5715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원"/>
          <p:cNvSpPr/>
          <p:nvPr/>
        </p:nvSpPr>
        <p:spPr>
          <a:xfrm>
            <a:off x="8304530" y="3763645"/>
            <a:ext cx="57150" cy="5715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원"/>
          <p:cNvSpPr/>
          <p:nvPr/>
        </p:nvSpPr>
        <p:spPr>
          <a:xfrm>
            <a:off x="9525635" y="5115560"/>
            <a:ext cx="57150" cy="5715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원"/>
          <p:cNvSpPr/>
          <p:nvPr/>
        </p:nvSpPr>
        <p:spPr>
          <a:xfrm>
            <a:off x="9979025" y="1423035"/>
            <a:ext cx="38100" cy="38100"/>
          </a:xfrm>
          <a:prstGeom prst="ellipse">
            <a:avLst/>
          </a:prstGeom>
          <a:solidFill>
            <a:srgbClr val="FFC97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선"/>
          <p:cNvSpPr/>
          <p:nvPr/>
        </p:nvSpPr>
        <p:spPr>
          <a:xfrm>
            <a:off x="8202930" y="1442720"/>
            <a:ext cx="1802765" cy="3921760"/>
          </a:xfrm>
          <a:custGeom>
            <a:avLst/>
            <a:gdLst/>
            <a:ahLst/>
            <a:cxnLst/>
            <a:rect l="l" t="t" r="r" b="b"/>
            <a:pathLst>
              <a:path w="1802765" h="3921760">
                <a:moveTo>
                  <a:pt x="299085" y="0"/>
                </a:moveTo>
                <a:lnTo>
                  <a:pt x="658495" y="487045"/>
                </a:lnTo>
                <a:lnTo>
                  <a:pt x="1017905" y="1245235"/>
                </a:lnTo>
                <a:lnTo>
                  <a:pt x="1380490" y="1932940"/>
                </a:lnTo>
                <a:lnTo>
                  <a:pt x="1802765" y="2147570"/>
                </a:lnTo>
                <a:lnTo>
                  <a:pt x="0" y="2519045"/>
                </a:lnTo>
                <a:lnTo>
                  <a:pt x="168275" y="3237230"/>
                </a:lnTo>
                <a:lnTo>
                  <a:pt x="822325" y="3486150"/>
                </a:lnTo>
                <a:lnTo>
                  <a:pt x="1802765" y="3921760"/>
                </a:lnTo>
              </a:path>
            </a:pathLst>
          </a:custGeom>
          <a:noFill/>
          <a:ln w="31750" cap="rnd">
            <a:solidFill>
              <a:srgbClr val="8C6BF7"/>
            </a:solidFill>
            <a:custDash>
              <a:ds d="240000" sp="200000"/>
            </a:custDash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원"/>
          <p:cNvSpPr/>
          <p:nvPr/>
        </p:nvSpPr>
        <p:spPr>
          <a:xfrm>
            <a:off x="8582025" y="1650365"/>
            <a:ext cx="558800" cy="558800"/>
          </a:xfrm>
          <a:prstGeom prst="ellipse">
            <a:avLst/>
          </a:prstGeom>
          <a:solidFill>
            <a:srgbClr val="B7A2FF">
              <a:alpha val="14000"/>
            </a:srgbClr>
          </a:solidFill>
          <a:ln w="12700">
            <a:solidFill>
              <a:srgbClr val="B7A2FF">
                <a:alpha val="6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원"/>
          <p:cNvSpPr/>
          <p:nvPr/>
        </p:nvSpPr>
        <p:spPr>
          <a:xfrm>
            <a:off x="8810625" y="1878965"/>
            <a:ext cx="101600" cy="1016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텍스트"/>
          <p:cNvSpPr txBox="1"/>
          <p:nvPr/>
        </p:nvSpPr>
        <p:spPr>
          <a:xfrm>
            <a:off x="9223375" y="1721484"/>
            <a:ext cx="795040" cy="1752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중앙사거리</a:t>
            </a:r>
          </a:p>
        </p:txBody>
      </p:sp>
      <p:sp>
        <p:nvSpPr>
          <p:cNvPr id="130" name="텍스트"/>
          <p:cNvSpPr txBox="1"/>
          <p:nvPr/>
        </p:nvSpPr>
        <p:spPr>
          <a:xfrm>
            <a:off x="9223375" y="1937067"/>
            <a:ext cx="908893" cy="121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안양시 TOP3 1위</a:t>
            </a:r>
          </a:p>
        </p:txBody>
      </p:sp>
      <p:sp>
        <p:nvSpPr>
          <p:cNvPr id="131" name="텍스트"/>
          <p:cNvSpPr txBox="1"/>
          <p:nvPr/>
        </p:nvSpPr>
        <p:spPr>
          <a:xfrm>
            <a:off x="9223375" y="2070417"/>
            <a:ext cx="1080591" cy="121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사고 29건 · 중상 10건</a:t>
            </a:r>
          </a:p>
        </p:txBody>
      </p:sp>
      <p:sp>
        <p:nvSpPr>
          <p:cNvPr id="132" name="원"/>
          <p:cNvSpPr/>
          <p:nvPr/>
        </p:nvSpPr>
        <p:spPr>
          <a:xfrm>
            <a:off x="9304020" y="3096260"/>
            <a:ext cx="558800" cy="558800"/>
          </a:xfrm>
          <a:prstGeom prst="ellipse">
            <a:avLst/>
          </a:prstGeom>
          <a:solidFill>
            <a:srgbClr val="FF7B9C">
              <a:alpha val="14000"/>
            </a:srgbClr>
          </a:solidFill>
          <a:ln w="12700">
            <a:solidFill>
              <a:srgbClr val="FF7B9C">
                <a:alpha val="6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원"/>
          <p:cNvSpPr/>
          <p:nvPr/>
        </p:nvSpPr>
        <p:spPr>
          <a:xfrm>
            <a:off x="9532620" y="3324860"/>
            <a:ext cx="101600" cy="101600"/>
          </a:xfrm>
          <a:prstGeom prst="ellipse">
            <a:avLst/>
          </a:prstGeom>
          <a:solidFill>
            <a:srgbClr val="FF7B9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텍스트"/>
          <p:cNvSpPr txBox="1"/>
          <p:nvPr/>
        </p:nvSpPr>
        <p:spPr>
          <a:xfrm>
            <a:off x="9945370" y="3167381"/>
            <a:ext cx="795040" cy="1752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벽산사거리</a:t>
            </a:r>
          </a:p>
        </p:txBody>
      </p:sp>
      <p:sp>
        <p:nvSpPr>
          <p:cNvPr id="135" name="텍스트"/>
          <p:cNvSpPr txBox="1"/>
          <p:nvPr/>
        </p:nvSpPr>
        <p:spPr>
          <a:xfrm>
            <a:off x="9945370" y="3382963"/>
            <a:ext cx="869057" cy="121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보행자 중상 10건</a:t>
            </a:r>
          </a:p>
        </p:txBody>
      </p:sp>
      <p:sp>
        <p:nvSpPr>
          <p:cNvPr id="136" name="텍스트"/>
          <p:cNvSpPr txBox="1"/>
          <p:nvPr/>
        </p:nvSpPr>
        <p:spPr>
          <a:xfrm>
            <a:off x="9945370" y="3516313"/>
            <a:ext cx="711895" cy="121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노인 사고 7건</a:t>
            </a:r>
          </a:p>
        </p:txBody>
      </p:sp>
      <p:sp>
        <p:nvSpPr>
          <p:cNvPr id="137" name="원"/>
          <p:cNvSpPr/>
          <p:nvPr/>
        </p:nvSpPr>
        <p:spPr>
          <a:xfrm>
            <a:off x="7923530" y="3682365"/>
            <a:ext cx="558800" cy="558800"/>
          </a:xfrm>
          <a:prstGeom prst="ellipse">
            <a:avLst/>
          </a:prstGeom>
          <a:solidFill>
            <a:srgbClr val="FF7B9C">
              <a:alpha val="14000"/>
            </a:srgbClr>
          </a:solidFill>
          <a:ln w="12700">
            <a:solidFill>
              <a:srgbClr val="FF7B9C">
                <a:alpha val="6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원"/>
          <p:cNvSpPr/>
          <p:nvPr/>
        </p:nvSpPr>
        <p:spPr>
          <a:xfrm>
            <a:off x="8152130" y="3910965"/>
            <a:ext cx="101600" cy="101600"/>
          </a:xfrm>
          <a:prstGeom prst="ellipse">
            <a:avLst/>
          </a:prstGeom>
          <a:solidFill>
            <a:srgbClr val="FF7B9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텍스트"/>
          <p:cNvSpPr txBox="1"/>
          <p:nvPr/>
        </p:nvSpPr>
        <p:spPr>
          <a:xfrm>
            <a:off x="6961853" y="3753484"/>
            <a:ext cx="923578" cy="1752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안양성모약국</a:t>
            </a:r>
          </a:p>
        </p:txBody>
      </p:sp>
      <p:sp>
        <p:nvSpPr>
          <p:cNvPr id="140" name="텍스트"/>
          <p:cNvSpPr txBox="1"/>
          <p:nvPr/>
        </p:nvSpPr>
        <p:spPr>
          <a:xfrm>
            <a:off x="7016373" y="3969067"/>
            <a:ext cx="869057" cy="121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보행자 중상 10건</a:t>
            </a:r>
          </a:p>
        </p:txBody>
      </p:sp>
      <p:sp>
        <p:nvSpPr>
          <p:cNvPr id="141" name="텍스트"/>
          <p:cNvSpPr txBox="1"/>
          <p:nvPr/>
        </p:nvSpPr>
        <p:spPr>
          <a:xfrm>
            <a:off x="7173536" y="4102417"/>
            <a:ext cx="711895" cy="121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노인 사고 8건</a:t>
            </a:r>
          </a:p>
        </p:txBody>
      </p:sp>
      <p:sp>
        <p:nvSpPr>
          <p:cNvPr id="142" name="사각형"/>
          <p:cNvSpPr/>
          <p:nvPr/>
        </p:nvSpPr>
        <p:spPr>
          <a:xfrm>
            <a:off x="7150100" y="5416550"/>
            <a:ext cx="4076700" cy="368300"/>
          </a:xfrm>
          <a:prstGeom prst="roundRect">
            <a:avLst>
              <a:gd name="adj" fmla="val 20689"/>
            </a:avLst>
          </a:prstGeom>
          <a:solidFill>
            <a:srgbClr val="0B0919">
              <a:alpha val="85000"/>
            </a:srgbClr>
          </a:solidFill>
          <a:ln w="6350">
            <a:solidFill>
              <a:srgbClr val="2E265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원"/>
          <p:cNvSpPr/>
          <p:nvPr/>
        </p:nvSpPr>
        <p:spPr>
          <a:xfrm>
            <a:off x="7251700" y="5499100"/>
            <a:ext cx="76200" cy="76200"/>
          </a:xfrm>
          <a:prstGeom prst="ellipse">
            <a:avLst/>
          </a:prstGeom>
          <a:solidFill>
            <a:srgbClr val="FF7B9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텍스트"/>
          <p:cNvSpPr txBox="1"/>
          <p:nvPr/>
        </p:nvSpPr>
        <p:spPr>
          <a:xfrm>
            <a:off x="7372350" y="5474652"/>
            <a:ext cx="1368475" cy="121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보행자·보행노인 사고다발지역</a:t>
            </a:r>
          </a:p>
        </p:txBody>
      </p:sp>
      <p:sp>
        <p:nvSpPr>
          <p:cNvPr id="145" name="원"/>
          <p:cNvSpPr/>
          <p:nvPr/>
        </p:nvSpPr>
        <p:spPr>
          <a:xfrm>
            <a:off x="9042400" y="5499100"/>
            <a:ext cx="76200" cy="762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텍스트"/>
          <p:cNvSpPr txBox="1"/>
          <p:nvPr/>
        </p:nvSpPr>
        <p:spPr>
          <a:xfrm>
            <a:off x="9163050" y="5474652"/>
            <a:ext cx="1310531" cy="121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안양시 사고 TOP3 다발지역</a:t>
            </a:r>
          </a:p>
        </p:txBody>
      </p:sp>
      <p:sp>
        <p:nvSpPr>
          <p:cNvPr id="147" name="원"/>
          <p:cNvSpPr/>
          <p:nvPr/>
        </p:nvSpPr>
        <p:spPr>
          <a:xfrm>
            <a:off x="7261225" y="5648325"/>
            <a:ext cx="57150" cy="5715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텍스트"/>
          <p:cNvSpPr txBox="1"/>
          <p:nvPr/>
        </p:nvSpPr>
        <p:spPr>
          <a:xfrm>
            <a:off x="7372350" y="5614352"/>
            <a:ext cx="1291927" cy="121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코스 반경 50m 이내 보안등</a:t>
            </a:r>
          </a:p>
        </p:txBody>
      </p:sp>
      <p:sp>
        <p:nvSpPr>
          <p:cNvPr id="149" name="선"/>
          <p:cNvSpPr/>
          <p:nvPr/>
        </p:nvSpPr>
        <p:spPr>
          <a:xfrm>
            <a:off x="9017000" y="5676900"/>
            <a:ext cx="127000" cy="0"/>
          </a:xfrm>
          <a:custGeom>
            <a:avLst/>
            <a:gdLst/>
            <a:ahLst/>
            <a:cxnLst/>
            <a:rect l="l" t="t" r="r" b="b"/>
            <a:pathLst>
              <a:path w="127000">
                <a:moveTo>
                  <a:pt x="0" y="0"/>
                </a:moveTo>
                <a:lnTo>
                  <a:pt x="127000" y="0"/>
                </a:lnTo>
              </a:path>
            </a:pathLst>
          </a:custGeom>
          <a:solidFill>
            <a:srgbClr val="000000"/>
          </a:solidFill>
          <a:ln w="25400">
            <a:solidFill>
              <a:srgbClr val="8C6BF7"/>
            </a:solidFill>
            <a:custDash>
              <a:ds d="150000" sp="125000"/>
            </a:custDash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텍스트"/>
          <p:cNvSpPr txBox="1"/>
          <p:nvPr/>
        </p:nvSpPr>
        <p:spPr>
          <a:xfrm>
            <a:off x="9188450" y="5614352"/>
            <a:ext cx="1371054" cy="121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순찰 코스 · 한 바퀴 약 1.1km</a:t>
            </a:r>
          </a:p>
        </p:txBody>
      </p:sp>
      <p:sp>
        <p:nvSpPr>
          <p:cNvPr id="151" name="텍스트"/>
          <p:cNvSpPr txBox="1"/>
          <p:nvPr/>
        </p:nvSpPr>
        <p:spPr>
          <a:xfrm>
            <a:off x="806450" y="6415088"/>
            <a:ext cx="163274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러닝으로 만드는 AI 생활안전망</a:t>
            </a:r>
          </a:p>
        </p:txBody>
      </p:sp>
      <p:sp>
        <p:nvSpPr>
          <p:cNvPr id="152" name="텍스트"/>
          <p:cNvSpPr txBox="1"/>
          <p:nvPr/>
        </p:nvSpPr>
        <p:spPr>
          <a:xfrm>
            <a:off x="10944076" y="6415088"/>
            <a:ext cx="58117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"/>
          <p:cNvSpPr txBox="1"/>
          <p:nvPr/>
        </p:nvSpPr>
        <p:spPr>
          <a:xfrm>
            <a:off x="806450" y="706438"/>
            <a:ext cx="1250454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4">
                <a:solidFill>
                  <a:srgbClr val="B7A2FF"/>
                </a:solidFill>
                <a:latin typeface="Paperlogy 7 Bold"/>
                <a:ea typeface="Paperlogy 7 Bold"/>
                <a:cs typeface="Paperlogy 7 Bold"/>
              </a:rPr>
              <a:t>데이터 활용 현황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806450" y="1013271"/>
            <a:ext cx="6142052" cy="7792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67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 spc="-7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공공데이터를 </a:t>
            </a:r>
            <a:r>
              <a:rPr sz="2600" b="0" i="0" spc="-78">
                <a:solidFill>
                  <a:srgbClr val="B7A2FF"/>
                </a:solidFill>
                <a:latin typeface="Paperlogy 8 ExtraBold"/>
                <a:ea typeface="Paperlogy 8 ExtraBold"/>
                <a:cs typeface="Paperlogy 8 ExtraBold"/>
              </a:rPr>
              <a:t>어떻게 활용하고</a:t>
            </a:r>
            <a:r>
              <a:rPr sz="2600" b="0" i="0" spc="-7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,</a:t>
            </a:r>
          </a:p>
          <a:p>
            <a:pPr algn="l">
              <a:lnSpc>
                <a:spcPts val="3067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 spc="-7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부족한 정보는 무엇인지 한눈에 보여드립니다</a:t>
            </a:r>
          </a:p>
        </p:txBody>
      </p:sp>
      <p:cxnSp>
        <p:nvCxnSpPr>
          <p:cNvPr id="4" name="선"/>
          <p:cNvCxnSpPr/>
          <p:nvPr/>
        </p:nvCxnSpPr>
        <p:spPr>
          <a:xfrm>
            <a:off x="812800" y="2376289"/>
            <a:ext cx="2341562" cy="0"/>
          </a:xfrm>
          <a:prstGeom prst="line">
            <a:avLst/>
          </a:prstGeom>
          <a:ln w="12700">
            <a:solidFill>
              <a:srgbClr val="2E265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869950" y="2103239"/>
            <a:ext cx="762943" cy="1349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1">
                <a:solidFill>
                  <a:srgbClr val="8D84B6"/>
                </a:solidFill>
                <a:latin typeface="Paperlogy 8 ExtraBold"/>
                <a:ea typeface="Paperlogy 8 ExtraBold"/>
                <a:cs typeface="Paperlogy 8 ExtraBold"/>
              </a:rPr>
              <a:t>데이터 · 출처</a:t>
            </a:r>
          </a:p>
        </p:txBody>
      </p:sp>
      <p:cxnSp>
        <p:nvCxnSpPr>
          <p:cNvPr id="6" name="선"/>
          <p:cNvCxnSpPr/>
          <p:nvPr/>
        </p:nvCxnSpPr>
        <p:spPr>
          <a:xfrm>
            <a:off x="3154362" y="2376289"/>
            <a:ext cx="907356" cy="0"/>
          </a:xfrm>
          <a:prstGeom prst="line">
            <a:avLst/>
          </a:prstGeom>
          <a:ln w="12700">
            <a:solidFill>
              <a:srgbClr val="2E265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3430339" y="2035770"/>
            <a:ext cx="355352" cy="269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1">
                <a:solidFill>
                  <a:srgbClr val="8D84B6"/>
                </a:solidFill>
                <a:latin typeface="Paperlogy 8 ExtraBold"/>
                <a:ea typeface="Paperlogy 8 ExtraBold"/>
                <a:cs typeface="Paperlogy 8 ExtraBold"/>
              </a:rPr>
              <a:t>문제</a:t>
            </a:r>
          </a:p>
          <a:p>
            <a:pPr algn="ct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1">
                <a:solidFill>
                  <a:srgbClr val="8D84B6"/>
                </a:solidFill>
                <a:latin typeface="Paperlogy 8 ExtraBold"/>
                <a:ea typeface="Paperlogy 8 ExtraBold"/>
                <a:cs typeface="Paperlogy 8 ExtraBold"/>
              </a:rPr>
              <a:t>파악</a:t>
            </a:r>
          </a:p>
        </p:txBody>
      </p:sp>
      <p:cxnSp>
        <p:nvCxnSpPr>
          <p:cNvPr id="8" name="선"/>
          <p:cNvCxnSpPr/>
          <p:nvPr/>
        </p:nvCxnSpPr>
        <p:spPr>
          <a:xfrm>
            <a:off x="4061718" y="2376289"/>
            <a:ext cx="907355" cy="0"/>
          </a:xfrm>
          <a:prstGeom prst="line">
            <a:avLst/>
          </a:prstGeom>
          <a:ln w="12700">
            <a:solidFill>
              <a:srgbClr val="2E265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4337695" y="2035770"/>
            <a:ext cx="355352" cy="269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1">
                <a:solidFill>
                  <a:srgbClr val="8D84B6"/>
                </a:solidFill>
                <a:latin typeface="Paperlogy 8 ExtraBold"/>
                <a:ea typeface="Paperlogy 8 ExtraBold"/>
                <a:cs typeface="Paperlogy 8 ExtraBold"/>
              </a:rPr>
              <a:t>코스</a:t>
            </a:r>
          </a:p>
          <a:p>
            <a:pPr algn="ct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1">
                <a:solidFill>
                  <a:srgbClr val="8D84B6"/>
                </a:solidFill>
                <a:latin typeface="Paperlogy 8 ExtraBold"/>
                <a:ea typeface="Paperlogy 8 ExtraBold"/>
                <a:cs typeface="Paperlogy 8 ExtraBold"/>
              </a:rPr>
              <a:t>설계</a:t>
            </a:r>
          </a:p>
        </p:txBody>
      </p:sp>
      <p:cxnSp>
        <p:nvCxnSpPr>
          <p:cNvPr id="10" name="선"/>
          <p:cNvCxnSpPr/>
          <p:nvPr/>
        </p:nvCxnSpPr>
        <p:spPr>
          <a:xfrm>
            <a:off x="4969073" y="2376289"/>
            <a:ext cx="907356" cy="0"/>
          </a:xfrm>
          <a:prstGeom prst="line">
            <a:avLst/>
          </a:prstGeom>
          <a:ln w="12700">
            <a:solidFill>
              <a:srgbClr val="2E265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5245050" y="2035770"/>
            <a:ext cx="355352" cy="269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1">
                <a:solidFill>
                  <a:srgbClr val="8D84B6"/>
                </a:solidFill>
                <a:latin typeface="Paperlogy 8 ExtraBold"/>
                <a:ea typeface="Paperlogy 8 ExtraBold"/>
                <a:cs typeface="Paperlogy 8 ExtraBold"/>
              </a:rPr>
              <a:t>앱</a:t>
            </a:r>
          </a:p>
          <a:p>
            <a:pPr algn="ct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1">
                <a:solidFill>
                  <a:srgbClr val="8D84B6"/>
                </a:solidFill>
                <a:latin typeface="Paperlogy 8 ExtraBold"/>
                <a:ea typeface="Paperlogy 8 ExtraBold"/>
                <a:cs typeface="Paperlogy 8 ExtraBold"/>
              </a:rPr>
              <a:t>지도</a:t>
            </a:r>
          </a:p>
        </p:txBody>
      </p:sp>
      <p:cxnSp>
        <p:nvCxnSpPr>
          <p:cNvPr id="12" name="선"/>
          <p:cNvCxnSpPr/>
          <p:nvPr/>
        </p:nvCxnSpPr>
        <p:spPr>
          <a:xfrm>
            <a:off x="5876429" y="2376289"/>
            <a:ext cx="907405" cy="0"/>
          </a:xfrm>
          <a:prstGeom prst="line">
            <a:avLst/>
          </a:prstGeom>
          <a:ln w="12700">
            <a:solidFill>
              <a:srgbClr val="2E265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6152455" y="2035770"/>
            <a:ext cx="355352" cy="269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1">
                <a:solidFill>
                  <a:srgbClr val="8D84B6"/>
                </a:solidFill>
                <a:latin typeface="Paperlogy 8 ExtraBold"/>
                <a:ea typeface="Paperlogy 8 ExtraBold"/>
                <a:cs typeface="Paperlogy 8 ExtraBold"/>
              </a:rPr>
              <a:t>민원</a:t>
            </a:r>
          </a:p>
          <a:p>
            <a:pPr algn="ct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1">
                <a:solidFill>
                  <a:srgbClr val="8D84B6"/>
                </a:solidFill>
                <a:latin typeface="Paperlogy 8 ExtraBold"/>
                <a:ea typeface="Paperlogy 8 ExtraBold"/>
                <a:cs typeface="Paperlogy 8 ExtraBold"/>
              </a:rPr>
              <a:t>작성</a:t>
            </a:r>
          </a:p>
        </p:txBody>
      </p:sp>
      <p:cxnSp>
        <p:nvCxnSpPr>
          <p:cNvPr id="14" name="선"/>
          <p:cNvCxnSpPr/>
          <p:nvPr/>
        </p:nvCxnSpPr>
        <p:spPr>
          <a:xfrm>
            <a:off x="6783834" y="2376289"/>
            <a:ext cx="907355" cy="0"/>
          </a:xfrm>
          <a:prstGeom prst="line">
            <a:avLst/>
          </a:prstGeom>
          <a:ln w="12700">
            <a:solidFill>
              <a:srgbClr val="2E265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7059811" y="2035770"/>
            <a:ext cx="355352" cy="269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1">
                <a:solidFill>
                  <a:srgbClr val="8D84B6"/>
                </a:solidFill>
                <a:latin typeface="Paperlogy 8 ExtraBold"/>
                <a:ea typeface="Paperlogy 8 ExtraBold"/>
                <a:cs typeface="Paperlogy 8 ExtraBold"/>
              </a:rPr>
              <a:t>행정</a:t>
            </a:r>
          </a:p>
          <a:p>
            <a:pPr algn="ct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1">
                <a:solidFill>
                  <a:srgbClr val="8D84B6"/>
                </a:solidFill>
                <a:latin typeface="Paperlogy 8 ExtraBold"/>
                <a:ea typeface="Paperlogy 8 ExtraBold"/>
                <a:cs typeface="Paperlogy 8 ExtraBold"/>
              </a:rPr>
              <a:t>협력</a:t>
            </a:r>
          </a:p>
        </p:txBody>
      </p:sp>
      <p:cxnSp>
        <p:nvCxnSpPr>
          <p:cNvPr id="16" name="선"/>
          <p:cNvCxnSpPr/>
          <p:nvPr/>
        </p:nvCxnSpPr>
        <p:spPr>
          <a:xfrm>
            <a:off x="7691189" y="2376289"/>
            <a:ext cx="907356" cy="0"/>
          </a:xfrm>
          <a:prstGeom prst="line">
            <a:avLst/>
          </a:prstGeom>
          <a:ln w="12700">
            <a:solidFill>
              <a:srgbClr val="2E265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7865715" y="2035770"/>
            <a:ext cx="558304" cy="269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1">
                <a:solidFill>
                  <a:srgbClr val="8D84B6"/>
                </a:solidFill>
                <a:latin typeface="Paperlogy 8 ExtraBold"/>
                <a:ea typeface="Paperlogy 8 ExtraBold"/>
                <a:cs typeface="Paperlogy 8 ExtraBold"/>
              </a:rPr>
              <a:t>공개·</a:t>
            </a:r>
          </a:p>
          <a:p>
            <a:pPr algn="ct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1">
                <a:solidFill>
                  <a:srgbClr val="8D84B6"/>
                </a:solidFill>
                <a:latin typeface="Paperlogy 8 ExtraBold"/>
                <a:ea typeface="Paperlogy 8 ExtraBold"/>
                <a:cs typeface="Paperlogy 8 ExtraBold"/>
              </a:rPr>
              <a:t>성과지표</a:t>
            </a:r>
          </a:p>
        </p:txBody>
      </p:sp>
      <p:cxnSp>
        <p:nvCxnSpPr>
          <p:cNvPr id="18" name="선"/>
          <p:cNvCxnSpPr/>
          <p:nvPr/>
        </p:nvCxnSpPr>
        <p:spPr>
          <a:xfrm>
            <a:off x="8598545" y="2376289"/>
            <a:ext cx="2780655" cy="0"/>
          </a:xfrm>
          <a:prstGeom prst="line">
            <a:avLst/>
          </a:prstGeom>
          <a:ln w="12700">
            <a:solidFill>
              <a:srgbClr val="2E2658"/>
            </a:solidFill>
          </a:ln>
        </p:spPr>
      </p:cxnSp>
      <p:sp>
        <p:nvSpPr>
          <p:cNvPr id="19" name="텍스트"/>
          <p:cNvSpPr txBox="1"/>
          <p:nvPr/>
        </p:nvSpPr>
        <p:spPr>
          <a:xfrm>
            <a:off x="8655695" y="2103239"/>
            <a:ext cx="588566" cy="1349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1">
                <a:solidFill>
                  <a:srgbClr val="8D84B6"/>
                </a:solidFill>
                <a:latin typeface="Paperlogy 8 ExtraBold"/>
                <a:ea typeface="Paperlogy 8 ExtraBold"/>
                <a:cs typeface="Paperlogy 8 ExtraBold"/>
              </a:rPr>
              <a:t>활용 현황</a:t>
            </a:r>
          </a:p>
        </p:txBody>
      </p:sp>
      <p:cxnSp>
        <p:nvCxnSpPr>
          <p:cNvPr id="20" name="선"/>
          <p:cNvCxnSpPr/>
          <p:nvPr/>
        </p:nvCxnSpPr>
        <p:spPr>
          <a:xfrm>
            <a:off x="812800" y="2785219"/>
            <a:ext cx="2341562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869950" y="2432169"/>
            <a:ext cx="1529854" cy="1676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-22" dirty="0" err="1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보행자</a:t>
            </a:r>
            <a:r>
              <a:rPr sz="1100" b="0" i="0" spc="-22" dirty="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 </a:t>
            </a:r>
            <a:r>
              <a:rPr sz="1100" b="0" i="0" spc="-22" dirty="0" err="1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교통사고</a:t>
            </a:r>
            <a:r>
              <a:rPr sz="1100" b="0" i="0" spc="-22" dirty="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 </a:t>
            </a:r>
            <a:r>
              <a:rPr sz="1100" b="0" i="0" spc="-22" dirty="0" err="1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다발지역</a:t>
            </a:r>
            <a:endParaRPr sz="1100" b="0" i="0" spc="-22" dirty="0">
              <a:solidFill>
                <a:srgbClr val="EEEAFB"/>
              </a:solidFill>
              <a:latin typeface="Paperlogy 8 ExtraBold"/>
              <a:ea typeface="Paperlogy 8 ExtraBold"/>
              <a:cs typeface="Paperlogy 8 ExtraBold"/>
            </a:endParaRPr>
          </a:p>
        </p:txBody>
      </p:sp>
      <p:sp>
        <p:nvSpPr>
          <p:cNvPr id="22" name="텍스트"/>
          <p:cNvSpPr txBox="1"/>
          <p:nvPr/>
        </p:nvSpPr>
        <p:spPr>
          <a:xfrm>
            <a:off x="869950" y="2616150"/>
            <a:ext cx="1012627" cy="1190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dirty="0">
                <a:solidFill>
                  <a:srgbClr val="5E5588"/>
                </a:solidFill>
                <a:latin typeface="Menlo"/>
                <a:ea typeface="Paperlogy 6 SemiBold"/>
                <a:cs typeface="Paperlogy 6 SemiBold"/>
              </a:rPr>
              <a:t>TAAS · 15105289</a:t>
            </a:r>
          </a:p>
        </p:txBody>
      </p:sp>
      <p:cxnSp>
        <p:nvCxnSpPr>
          <p:cNvPr id="23" name="선"/>
          <p:cNvCxnSpPr/>
          <p:nvPr/>
        </p:nvCxnSpPr>
        <p:spPr>
          <a:xfrm>
            <a:off x="3154362" y="2785219"/>
            <a:ext cx="90735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24" name="도형"/>
          <p:cNvSpPr/>
          <p:nvPr/>
        </p:nvSpPr>
        <p:spPr>
          <a:xfrm>
            <a:off x="3538190" y="2512467"/>
            <a:ext cx="139700" cy="1397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선"/>
          <p:cNvCxnSpPr/>
          <p:nvPr/>
        </p:nvCxnSpPr>
        <p:spPr>
          <a:xfrm>
            <a:off x="4061718" y="2785219"/>
            <a:ext cx="90735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26" name="도형"/>
          <p:cNvSpPr/>
          <p:nvPr/>
        </p:nvSpPr>
        <p:spPr>
          <a:xfrm>
            <a:off x="4445546" y="2512467"/>
            <a:ext cx="139700" cy="1397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선"/>
          <p:cNvCxnSpPr/>
          <p:nvPr/>
        </p:nvCxnSpPr>
        <p:spPr>
          <a:xfrm>
            <a:off x="4969073" y="2785219"/>
            <a:ext cx="90735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28" name="도형"/>
          <p:cNvSpPr/>
          <p:nvPr/>
        </p:nvSpPr>
        <p:spPr>
          <a:xfrm>
            <a:off x="5352901" y="2512467"/>
            <a:ext cx="139700" cy="1397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선"/>
          <p:cNvCxnSpPr/>
          <p:nvPr/>
        </p:nvCxnSpPr>
        <p:spPr>
          <a:xfrm>
            <a:off x="5876429" y="2785219"/>
            <a:ext cx="90740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30" name="도형"/>
          <p:cNvSpPr/>
          <p:nvPr/>
        </p:nvSpPr>
        <p:spPr>
          <a:xfrm>
            <a:off x="6260257" y="2512467"/>
            <a:ext cx="139700" cy="1397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선"/>
          <p:cNvCxnSpPr/>
          <p:nvPr/>
        </p:nvCxnSpPr>
        <p:spPr>
          <a:xfrm>
            <a:off x="6783834" y="2785219"/>
            <a:ext cx="90735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32" name="선"/>
          <p:cNvCxnSpPr/>
          <p:nvPr/>
        </p:nvCxnSpPr>
        <p:spPr>
          <a:xfrm>
            <a:off x="7691189" y="2785219"/>
            <a:ext cx="90735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33" name="선"/>
          <p:cNvCxnSpPr/>
          <p:nvPr/>
        </p:nvCxnSpPr>
        <p:spPr>
          <a:xfrm>
            <a:off x="8598545" y="2785219"/>
            <a:ext cx="278065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34" name="도형"/>
          <p:cNvSpPr/>
          <p:nvPr/>
        </p:nvSpPr>
        <p:spPr>
          <a:xfrm>
            <a:off x="8662045" y="2484090"/>
            <a:ext cx="435769" cy="196503"/>
          </a:xfrm>
          <a:prstGeom prst="roundRect">
            <a:avLst>
              <a:gd name="adj" fmla="val 22620"/>
            </a:avLst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텍스트"/>
          <p:cNvSpPr txBox="1"/>
          <p:nvPr/>
        </p:nvSpPr>
        <p:spPr>
          <a:xfrm>
            <a:off x="8719195" y="2506474"/>
            <a:ext cx="461169" cy="1457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47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B0919"/>
                </a:solidFill>
                <a:latin typeface="Paperlogy 8 ExtraBold"/>
                <a:ea typeface="Paperlogy 8 ExtraBold"/>
                <a:cs typeface="Paperlogy 8 ExtraBold"/>
              </a:rPr>
              <a:t>활용 중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9154964" y="2504222"/>
            <a:ext cx="1492548" cy="1543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다발지역 4곳, 중상사고 34건</a:t>
            </a:r>
          </a:p>
        </p:txBody>
      </p:sp>
      <p:cxnSp>
        <p:nvCxnSpPr>
          <p:cNvPr id="37" name="선"/>
          <p:cNvCxnSpPr/>
          <p:nvPr/>
        </p:nvCxnSpPr>
        <p:spPr>
          <a:xfrm>
            <a:off x="812800" y="3190974"/>
            <a:ext cx="2341562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869950" y="2837924"/>
            <a:ext cx="1990889" cy="1676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-22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보행노인·지자체 TOP3 다발지역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869950" y="3021905"/>
            <a:ext cx="381794" cy="1190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E5588"/>
                </a:solidFill>
                <a:latin typeface="Menlo"/>
                <a:ea typeface="Paperlogy 6 SemiBold"/>
                <a:cs typeface="Paperlogy 6 SemiBold"/>
              </a:rPr>
              <a:t>TAAS</a:t>
            </a:r>
          </a:p>
        </p:txBody>
      </p:sp>
      <p:cxnSp>
        <p:nvCxnSpPr>
          <p:cNvPr id="40" name="선"/>
          <p:cNvCxnSpPr/>
          <p:nvPr/>
        </p:nvCxnSpPr>
        <p:spPr>
          <a:xfrm>
            <a:off x="3154362" y="3190974"/>
            <a:ext cx="90735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41" name="선"/>
          <p:cNvCxnSpPr/>
          <p:nvPr/>
        </p:nvCxnSpPr>
        <p:spPr>
          <a:xfrm>
            <a:off x="4061718" y="3190974"/>
            <a:ext cx="90735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42" name="도형"/>
          <p:cNvSpPr/>
          <p:nvPr/>
        </p:nvSpPr>
        <p:spPr>
          <a:xfrm>
            <a:off x="4445546" y="2918222"/>
            <a:ext cx="139700" cy="1397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선"/>
          <p:cNvCxnSpPr/>
          <p:nvPr/>
        </p:nvCxnSpPr>
        <p:spPr>
          <a:xfrm>
            <a:off x="4969073" y="3190974"/>
            <a:ext cx="90735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44" name="선"/>
          <p:cNvCxnSpPr/>
          <p:nvPr/>
        </p:nvCxnSpPr>
        <p:spPr>
          <a:xfrm>
            <a:off x="5876429" y="3190974"/>
            <a:ext cx="90740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45" name="선"/>
          <p:cNvCxnSpPr/>
          <p:nvPr/>
        </p:nvCxnSpPr>
        <p:spPr>
          <a:xfrm>
            <a:off x="6783834" y="3190974"/>
            <a:ext cx="90735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46" name="선"/>
          <p:cNvCxnSpPr/>
          <p:nvPr/>
        </p:nvCxnSpPr>
        <p:spPr>
          <a:xfrm>
            <a:off x="7691189" y="3190974"/>
            <a:ext cx="90735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47" name="선"/>
          <p:cNvCxnSpPr/>
          <p:nvPr/>
        </p:nvCxnSpPr>
        <p:spPr>
          <a:xfrm>
            <a:off x="8598545" y="3190974"/>
            <a:ext cx="278065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48" name="도형"/>
          <p:cNvSpPr/>
          <p:nvPr/>
        </p:nvSpPr>
        <p:spPr>
          <a:xfrm>
            <a:off x="8662045" y="2889845"/>
            <a:ext cx="435769" cy="196503"/>
          </a:xfrm>
          <a:prstGeom prst="roundRect">
            <a:avLst>
              <a:gd name="adj" fmla="val 22620"/>
            </a:avLst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텍스트"/>
          <p:cNvSpPr txBox="1"/>
          <p:nvPr/>
        </p:nvSpPr>
        <p:spPr>
          <a:xfrm>
            <a:off x="8719195" y="2912229"/>
            <a:ext cx="461169" cy="1457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47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B0919"/>
                </a:solidFill>
                <a:latin typeface="Paperlogy 8 ExtraBold"/>
                <a:ea typeface="Paperlogy 8 ExtraBold"/>
                <a:cs typeface="Paperlogy 8 ExtraBold"/>
              </a:rPr>
              <a:t>활용 중</a:t>
            </a:r>
          </a:p>
        </p:txBody>
      </p:sp>
      <p:sp>
        <p:nvSpPr>
          <p:cNvPr id="50" name="텍스트"/>
          <p:cNvSpPr txBox="1"/>
          <p:nvPr/>
        </p:nvSpPr>
        <p:spPr>
          <a:xfrm>
            <a:off x="9154964" y="2909977"/>
            <a:ext cx="1460004" cy="1543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주요 지점을 반영해 코스 보완</a:t>
            </a:r>
          </a:p>
        </p:txBody>
      </p:sp>
      <p:cxnSp>
        <p:nvCxnSpPr>
          <p:cNvPr id="51" name="선"/>
          <p:cNvCxnSpPr/>
          <p:nvPr/>
        </p:nvCxnSpPr>
        <p:spPr>
          <a:xfrm>
            <a:off x="812800" y="3599904"/>
            <a:ext cx="2341562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52" name="텍스트"/>
          <p:cNvSpPr txBox="1"/>
          <p:nvPr/>
        </p:nvSpPr>
        <p:spPr>
          <a:xfrm>
            <a:off x="869950" y="3243679"/>
            <a:ext cx="873274" cy="1676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-22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지역안전지수</a:t>
            </a:r>
          </a:p>
        </p:txBody>
      </p:sp>
      <p:sp>
        <p:nvSpPr>
          <p:cNvPr id="53" name="텍스트"/>
          <p:cNvSpPr txBox="1"/>
          <p:nvPr/>
        </p:nvSpPr>
        <p:spPr>
          <a:xfrm>
            <a:off x="869950" y="3430836"/>
            <a:ext cx="1202333" cy="1190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E5588"/>
                </a:solidFill>
                <a:latin typeface="Menlo"/>
                <a:ea typeface="Paperlogy 6 SemiBold"/>
                <a:cs typeface="Paperlogy 6 SemiBold"/>
              </a:rPr>
              <a:t>행정안전부 · 15069240</a:t>
            </a:r>
          </a:p>
        </p:txBody>
      </p:sp>
      <p:cxnSp>
        <p:nvCxnSpPr>
          <p:cNvPr id="54" name="선"/>
          <p:cNvCxnSpPr/>
          <p:nvPr/>
        </p:nvCxnSpPr>
        <p:spPr>
          <a:xfrm>
            <a:off x="3154362" y="3599904"/>
            <a:ext cx="90735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55" name="선"/>
          <p:cNvCxnSpPr/>
          <p:nvPr/>
        </p:nvCxnSpPr>
        <p:spPr>
          <a:xfrm>
            <a:off x="4061718" y="3599904"/>
            <a:ext cx="90735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56" name="선"/>
          <p:cNvCxnSpPr/>
          <p:nvPr/>
        </p:nvCxnSpPr>
        <p:spPr>
          <a:xfrm>
            <a:off x="4969073" y="3599904"/>
            <a:ext cx="90735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57" name="선"/>
          <p:cNvCxnSpPr/>
          <p:nvPr/>
        </p:nvCxnSpPr>
        <p:spPr>
          <a:xfrm>
            <a:off x="5876429" y="3599904"/>
            <a:ext cx="90740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58" name="선"/>
          <p:cNvCxnSpPr/>
          <p:nvPr/>
        </p:nvCxnSpPr>
        <p:spPr>
          <a:xfrm>
            <a:off x="6783834" y="3599904"/>
            <a:ext cx="90735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59" name="선"/>
          <p:cNvCxnSpPr/>
          <p:nvPr/>
        </p:nvCxnSpPr>
        <p:spPr>
          <a:xfrm>
            <a:off x="7691189" y="3599904"/>
            <a:ext cx="90735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60" name="도형"/>
          <p:cNvSpPr/>
          <p:nvPr/>
        </p:nvSpPr>
        <p:spPr>
          <a:xfrm>
            <a:off x="8075017" y="3325564"/>
            <a:ext cx="139700" cy="1397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1" name="선"/>
          <p:cNvCxnSpPr/>
          <p:nvPr/>
        </p:nvCxnSpPr>
        <p:spPr>
          <a:xfrm>
            <a:off x="8598545" y="3599904"/>
            <a:ext cx="278065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62" name="도형"/>
          <p:cNvSpPr/>
          <p:nvPr/>
        </p:nvSpPr>
        <p:spPr>
          <a:xfrm>
            <a:off x="8662045" y="3297188"/>
            <a:ext cx="435769" cy="196503"/>
          </a:xfrm>
          <a:prstGeom prst="roundRect">
            <a:avLst>
              <a:gd name="adj" fmla="val 22620"/>
            </a:avLst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텍스트"/>
          <p:cNvSpPr txBox="1"/>
          <p:nvPr/>
        </p:nvSpPr>
        <p:spPr>
          <a:xfrm>
            <a:off x="8719195" y="3319572"/>
            <a:ext cx="461169" cy="1457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47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B0919"/>
                </a:solidFill>
                <a:latin typeface="Paperlogy 8 ExtraBold"/>
                <a:ea typeface="Paperlogy 8 ExtraBold"/>
                <a:cs typeface="Paperlogy 8 ExtraBold"/>
              </a:rPr>
              <a:t>활용 중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9154964" y="3317319"/>
            <a:ext cx="1410494" cy="1543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안양시 9년간 안전등급 확인</a:t>
            </a:r>
          </a:p>
        </p:txBody>
      </p:sp>
      <p:cxnSp>
        <p:nvCxnSpPr>
          <p:cNvPr id="65" name="선"/>
          <p:cNvCxnSpPr/>
          <p:nvPr/>
        </p:nvCxnSpPr>
        <p:spPr>
          <a:xfrm>
            <a:off x="812800" y="4005659"/>
            <a:ext cx="2341562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869950" y="3652609"/>
            <a:ext cx="1381770" cy="1676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-22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안양시 안전귀가서비스</a:t>
            </a:r>
          </a:p>
        </p:txBody>
      </p:sp>
      <p:sp>
        <p:nvSpPr>
          <p:cNvPr id="67" name="텍스트"/>
          <p:cNvSpPr txBox="1"/>
          <p:nvPr/>
        </p:nvSpPr>
        <p:spPr>
          <a:xfrm>
            <a:off x="869950" y="3836591"/>
            <a:ext cx="611188" cy="1190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E5588"/>
                </a:solidFill>
                <a:latin typeface="Menlo"/>
                <a:ea typeface="Paperlogy 6 SemiBold"/>
                <a:cs typeface="Paperlogy 6 SemiBold"/>
              </a:rPr>
              <a:t>15148579</a:t>
            </a:r>
          </a:p>
        </p:txBody>
      </p:sp>
      <p:cxnSp>
        <p:nvCxnSpPr>
          <p:cNvPr id="68" name="선"/>
          <p:cNvCxnSpPr/>
          <p:nvPr/>
        </p:nvCxnSpPr>
        <p:spPr>
          <a:xfrm>
            <a:off x="3154362" y="4005659"/>
            <a:ext cx="90735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69" name="선"/>
          <p:cNvCxnSpPr/>
          <p:nvPr/>
        </p:nvCxnSpPr>
        <p:spPr>
          <a:xfrm>
            <a:off x="4061718" y="4005659"/>
            <a:ext cx="90735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70" name="선"/>
          <p:cNvCxnSpPr/>
          <p:nvPr/>
        </p:nvCxnSpPr>
        <p:spPr>
          <a:xfrm>
            <a:off x="4969073" y="4005659"/>
            <a:ext cx="90735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71" name="선"/>
          <p:cNvCxnSpPr/>
          <p:nvPr/>
        </p:nvCxnSpPr>
        <p:spPr>
          <a:xfrm>
            <a:off x="5876429" y="4005659"/>
            <a:ext cx="90740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72" name="선"/>
          <p:cNvCxnSpPr/>
          <p:nvPr/>
        </p:nvCxnSpPr>
        <p:spPr>
          <a:xfrm>
            <a:off x="6783834" y="4005659"/>
            <a:ext cx="90735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73" name="도형"/>
          <p:cNvSpPr/>
          <p:nvPr/>
        </p:nvSpPr>
        <p:spPr>
          <a:xfrm>
            <a:off x="7167662" y="3732907"/>
            <a:ext cx="139700" cy="1397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4" name="선"/>
          <p:cNvCxnSpPr/>
          <p:nvPr/>
        </p:nvCxnSpPr>
        <p:spPr>
          <a:xfrm>
            <a:off x="7691189" y="4005659"/>
            <a:ext cx="90735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75" name="선"/>
          <p:cNvCxnSpPr/>
          <p:nvPr/>
        </p:nvCxnSpPr>
        <p:spPr>
          <a:xfrm>
            <a:off x="8598545" y="4005659"/>
            <a:ext cx="278065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76" name="도형"/>
          <p:cNvSpPr/>
          <p:nvPr/>
        </p:nvSpPr>
        <p:spPr>
          <a:xfrm>
            <a:off x="8662045" y="3704530"/>
            <a:ext cx="435769" cy="196503"/>
          </a:xfrm>
          <a:prstGeom prst="roundRect">
            <a:avLst>
              <a:gd name="adj" fmla="val 22620"/>
            </a:avLst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텍스트"/>
          <p:cNvSpPr txBox="1"/>
          <p:nvPr/>
        </p:nvSpPr>
        <p:spPr>
          <a:xfrm>
            <a:off x="8719195" y="3726914"/>
            <a:ext cx="461169" cy="1457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47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B0919"/>
                </a:solidFill>
                <a:latin typeface="Paperlogy 8 ExtraBold"/>
                <a:ea typeface="Paperlogy 8 ExtraBold"/>
                <a:cs typeface="Paperlogy 8 ExtraBold"/>
              </a:rPr>
              <a:t>활용 중</a:t>
            </a:r>
          </a:p>
        </p:txBody>
      </p:sp>
      <p:sp>
        <p:nvSpPr>
          <p:cNvPr id="78" name="텍스트"/>
          <p:cNvSpPr txBox="1"/>
          <p:nvPr/>
        </p:nvSpPr>
        <p:spPr>
          <a:xfrm>
            <a:off x="9154964" y="3724662"/>
            <a:ext cx="1560612" cy="1543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담당 부서와의 협력 창구로 활용</a:t>
            </a:r>
          </a:p>
        </p:txBody>
      </p:sp>
      <p:cxnSp>
        <p:nvCxnSpPr>
          <p:cNvPr id="79" name="선"/>
          <p:cNvCxnSpPr/>
          <p:nvPr/>
        </p:nvCxnSpPr>
        <p:spPr>
          <a:xfrm>
            <a:off x="812800" y="4411414"/>
            <a:ext cx="2341562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80" name="텍스트"/>
          <p:cNvSpPr txBox="1"/>
          <p:nvPr/>
        </p:nvSpPr>
        <p:spPr>
          <a:xfrm>
            <a:off x="869950" y="4058364"/>
            <a:ext cx="1942430" cy="1676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-22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안전신문고 불법주정차 민원 현황</a:t>
            </a:r>
          </a:p>
        </p:txBody>
      </p:sp>
      <p:sp>
        <p:nvSpPr>
          <p:cNvPr id="81" name="텍스트"/>
          <p:cNvSpPr txBox="1"/>
          <p:nvPr/>
        </p:nvSpPr>
        <p:spPr>
          <a:xfrm>
            <a:off x="869950" y="4242346"/>
            <a:ext cx="611188" cy="1190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E5588"/>
                </a:solidFill>
                <a:latin typeface="Menlo"/>
                <a:ea typeface="Paperlogy 6 SemiBold"/>
                <a:cs typeface="Paperlogy 6 SemiBold"/>
              </a:rPr>
              <a:t>15152827</a:t>
            </a:r>
          </a:p>
        </p:txBody>
      </p:sp>
      <p:cxnSp>
        <p:nvCxnSpPr>
          <p:cNvPr id="82" name="선"/>
          <p:cNvCxnSpPr/>
          <p:nvPr/>
        </p:nvCxnSpPr>
        <p:spPr>
          <a:xfrm>
            <a:off x="3154362" y="4411414"/>
            <a:ext cx="90735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83" name="선"/>
          <p:cNvCxnSpPr/>
          <p:nvPr/>
        </p:nvCxnSpPr>
        <p:spPr>
          <a:xfrm>
            <a:off x="4061718" y="4411414"/>
            <a:ext cx="90735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84" name="선"/>
          <p:cNvCxnSpPr/>
          <p:nvPr/>
        </p:nvCxnSpPr>
        <p:spPr>
          <a:xfrm>
            <a:off x="4969073" y="4411414"/>
            <a:ext cx="90735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85" name="선"/>
          <p:cNvCxnSpPr/>
          <p:nvPr/>
        </p:nvCxnSpPr>
        <p:spPr>
          <a:xfrm>
            <a:off x="5876429" y="4411414"/>
            <a:ext cx="90740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86" name="선"/>
          <p:cNvCxnSpPr/>
          <p:nvPr/>
        </p:nvCxnSpPr>
        <p:spPr>
          <a:xfrm>
            <a:off x="6783834" y="4411414"/>
            <a:ext cx="90735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87" name="선"/>
          <p:cNvCxnSpPr/>
          <p:nvPr/>
        </p:nvCxnSpPr>
        <p:spPr>
          <a:xfrm>
            <a:off x="7691189" y="4411414"/>
            <a:ext cx="90735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88" name="도형"/>
          <p:cNvSpPr/>
          <p:nvPr/>
        </p:nvSpPr>
        <p:spPr>
          <a:xfrm>
            <a:off x="8075017" y="4138662"/>
            <a:ext cx="139700" cy="1397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9" name="선"/>
          <p:cNvCxnSpPr/>
          <p:nvPr/>
        </p:nvCxnSpPr>
        <p:spPr>
          <a:xfrm>
            <a:off x="8598545" y="4411414"/>
            <a:ext cx="278065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90" name="도형"/>
          <p:cNvSpPr/>
          <p:nvPr/>
        </p:nvSpPr>
        <p:spPr>
          <a:xfrm>
            <a:off x="8662045" y="4110286"/>
            <a:ext cx="435769" cy="196503"/>
          </a:xfrm>
          <a:prstGeom prst="roundRect">
            <a:avLst>
              <a:gd name="adj" fmla="val 22620"/>
            </a:avLst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텍스트"/>
          <p:cNvSpPr txBox="1"/>
          <p:nvPr/>
        </p:nvSpPr>
        <p:spPr>
          <a:xfrm>
            <a:off x="8719195" y="4132669"/>
            <a:ext cx="461169" cy="1457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47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B0919"/>
                </a:solidFill>
                <a:latin typeface="Paperlogy 8 ExtraBold"/>
                <a:ea typeface="Paperlogy 8 ExtraBold"/>
                <a:cs typeface="Paperlogy 8 ExtraBold"/>
              </a:rPr>
              <a:t>활용 중</a:t>
            </a:r>
          </a:p>
        </p:txBody>
      </p:sp>
      <p:sp>
        <p:nvSpPr>
          <p:cNvPr id="92" name="텍스트"/>
          <p:cNvSpPr txBox="1"/>
          <p:nvPr/>
        </p:nvSpPr>
        <p:spPr>
          <a:xfrm>
            <a:off x="9154964" y="4130417"/>
            <a:ext cx="1485156" cy="1543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민원 처리 결과 공개 사례 참고</a:t>
            </a:r>
          </a:p>
        </p:txBody>
      </p:sp>
      <p:cxnSp>
        <p:nvCxnSpPr>
          <p:cNvPr id="93" name="선"/>
          <p:cNvCxnSpPr/>
          <p:nvPr/>
        </p:nvCxnSpPr>
        <p:spPr>
          <a:xfrm>
            <a:off x="812800" y="4827935"/>
            <a:ext cx="2341562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94" name="텍스트"/>
          <p:cNvSpPr txBox="1"/>
          <p:nvPr/>
        </p:nvSpPr>
        <p:spPr>
          <a:xfrm>
            <a:off x="869950" y="4464119"/>
            <a:ext cx="1622078" cy="1676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-22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전국보안등정보 표준데이터</a:t>
            </a:r>
          </a:p>
        </p:txBody>
      </p:sp>
      <p:sp>
        <p:nvSpPr>
          <p:cNvPr id="95" name="텍스트"/>
          <p:cNvSpPr txBox="1"/>
          <p:nvPr/>
        </p:nvSpPr>
        <p:spPr>
          <a:xfrm>
            <a:off x="869950" y="4648101"/>
            <a:ext cx="611188" cy="1190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E5588"/>
                </a:solidFill>
                <a:latin typeface="Menlo"/>
                <a:ea typeface="Paperlogy 6 SemiBold"/>
                <a:cs typeface="Paperlogy 6 SemiBold"/>
              </a:rPr>
              <a:t>15017320</a:t>
            </a:r>
          </a:p>
        </p:txBody>
      </p:sp>
      <p:cxnSp>
        <p:nvCxnSpPr>
          <p:cNvPr id="96" name="선"/>
          <p:cNvCxnSpPr/>
          <p:nvPr/>
        </p:nvCxnSpPr>
        <p:spPr>
          <a:xfrm>
            <a:off x="3154362" y="4827935"/>
            <a:ext cx="90735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97" name="선"/>
          <p:cNvCxnSpPr/>
          <p:nvPr/>
        </p:nvCxnSpPr>
        <p:spPr>
          <a:xfrm>
            <a:off x="4061718" y="4827935"/>
            <a:ext cx="90735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98" name="도형"/>
          <p:cNvSpPr/>
          <p:nvPr/>
        </p:nvSpPr>
        <p:spPr>
          <a:xfrm>
            <a:off x="4445546" y="4549825"/>
            <a:ext cx="139700" cy="1397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9" name="선"/>
          <p:cNvCxnSpPr/>
          <p:nvPr/>
        </p:nvCxnSpPr>
        <p:spPr>
          <a:xfrm>
            <a:off x="4969073" y="4827935"/>
            <a:ext cx="90735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100" name="도형"/>
          <p:cNvSpPr/>
          <p:nvPr/>
        </p:nvSpPr>
        <p:spPr>
          <a:xfrm>
            <a:off x="5352901" y="4549825"/>
            <a:ext cx="139700" cy="1397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1" name="선"/>
          <p:cNvCxnSpPr/>
          <p:nvPr/>
        </p:nvCxnSpPr>
        <p:spPr>
          <a:xfrm>
            <a:off x="5876429" y="4827935"/>
            <a:ext cx="90740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102" name="도형"/>
          <p:cNvSpPr/>
          <p:nvPr/>
        </p:nvSpPr>
        <p:spPr>
          <a:xfrm>
            <a:off x="6260257" y="4549825"/>
            <a:ext cx="139700" cy="1397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3" name="선"/>
          <p:cNvCxnSpPr/>
          <p:nvPr/>
        </p:nvCxnSpPr>
        <p:spPr>
          <a:xfrm>
            <a:off x="6783834" y="4827935"/>
            <a:ext cx="90735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104" name="선"/>
          <p:cNvCxnSpPr/>
          <p:nvPr/>
        </p:nvCxnSpPr>
        <p:spPr>
          <a:xfrm>
            <a:off x="7691189" y="4827935"/>
            <a:ext cx="90735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105" name="선"/>
          <p:cNvCxnSpPr/>
          <p:nvPr/>
        </p:nvCxnSpPr>
        <p:spPr>
          <a:xfrm>
            <a:off x="8598545" y="4827935"/>
            <a:ext cx="278065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106" name="도형"/>
          <p:cNvSpPr/>
          <p:nvPr/>
        </p:nvSpPr>
        <p:spPr>
          <a:xfrm>
            <a:off x="8662045" y="4521398"/>
            <a:ext cx="435769" cy="196503"/>
          </a:xfrm>
          <a:prstGeom prst="roundRect">
            <a:avLst>
              <a:gd name="adj" fmla="val 22620"/>
            </a:avLst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텍스트"/>
          <p:cNvSpPr txBox="1"/>
          <p:nvPr/>
        </p:nvSpPr>
        <p:spPr>
          <a:xfrm>
            <a:off x="8719195" y="4543782"/>
            <a:ext cx="461169" cy="1457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47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B0919"/>
                </a:solidFill>
                <a:latin typeface="Paperlogy 8 ExtraBold"/>
                <a:ea typeface="Paperlogy 8 ExtraBold"/>
                <a:cs typeface="Paperlogy 8 ExtraBold"/>
              </a:rPr>
              <a:t>활용 중</a:t>
            </a:r>
          </a:p>
        </p:txBody>
      </p:sp>
      <p:sp>
        <p:nvSpPr>
          <p:cNvPr id="108" name="텍스트"/>
          <p:cNvSpPr txBox="1"/>
          <p:nvPr/>
        </p:nvSpPr>
        <p:spPr>
          <a:xfrm>
            <a:off x="9154964" y="4464447"/>
            <a:ext cx="2301448" cy="3085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위치 데이터는 활용하고, 실제 점등 여부는 현장</a:t>
            </a:r>
          </a:p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순찰로 확인</a:t>
            </a:r>
          </a:p>
        </p:txBody>
      </p:sp>
      <p:cxnSp>
        <p:nvCxnSpPr>
          <p:cNvPr id="109" name="선"/>
          <p:cNvCxnSpPr/>
          <p:nvPr/>
        </p:nvCxnSpPr>
        <p:spPr>
          <a:xfrm>
            <a:off x="812800" y="5236865"/>
            <a:ext cx="2341562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110" name="텍스트"/>
          <p:cNvSpPr txBox="1"/>
          <p:nvPr/>
        </p:nvSpPr>
        <p:spPr>
          <a:xfrm>
            <a:off x="869950" y="4880640"/>
            <a:ext cx="1483916" cy="1676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-22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비상벨·방범 CCTV 위치</a:t>
            </a:r>
          </a:p>
        </p:txBody>
      </p:sp>
      <p:sp>
        <p:nvSpPr>
          <p:cNvPr id="111" name="텍스트"/>
          <p:cNvSpPr txBox="1"/>
          <p:nvPr/>
        </p:nvSpPr>
        <p:spPr>
          <a:xfrm>
            <a:off x="869950" y="5067796"/>
            <a:ext cx="853877" cy="1190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E5588"/>
                </a:solidFill>
                <a:latin typeface="Menlo"/>
                <a:ea typeface="Paperlogy 6 SemiBold"/>
                <a:cs typeface="Paperlogy 6 SemiBold"/>
              </a:rPr>
              <a:t>공개 데이터 없음</a:t>
            </a:r>
          </a:p>
        </p:txBody>
      </p:sp>
      <p:cxnSp>
        <p:nvCxnSpPr>
          <p:cNvPr id="112" name="선"/>
          <p:cNvCxnSpPr/>
          <p:nvPr/>
        </p:nvCxnSpPr>
        <p:spPr>
          <a:xfrm>
            <a:off x="3154362" y="5236865"/>
            <a:ext cx="90735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113" name="선"/>
          <p:cNvCxnSpPr/>
          <p:nvPr/>
        </p:nvCxnSpPr>
        <p:spPr>
          <a:xfrm>
            <a:off x="4061718" y="5236865"/>
            <a:ext cx="90735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114" name="선"/>
          <p:cNvCxnSpPr/>
          <p:nvPr/>
        </p:nvCxnSpPr>
        <p:spPr>
          <a:xfrm>
            <a:off x="4969073" y="5236865"/>
            <a:ext cx="90735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115" name="도형"/>
          <p:cNvSpPr/>
          <p:nvPr/>
        </p:nvSpPr>
        <p:spPr>
          <a:xfrm>
            <a:off x="5360839" y="4970462"/>
            <a:ext cx="123825" cy="123825"/>
          </a:xfrm>
          <a:prstGeom prst="ellipse">
            <a:avLst/>
          </a:prstGeom>
          <a:solidFill>
            <a:srgbClr val="FFC97A">
              <a:alpha val="12000"/>
            </a:srgbClr>
          </a:solidFill>
          <a:ln w="15875">
            <a:solidFill>
              <a:srgbClr val="FFC97A"/>
            </a:solidFill>
            <a:custDash>
              <a:ds d="300000" sp="200000"/>
            </a:custDash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6" name="선"/>
          <p:cNvCxnSpPr/>
          <p:nvPr/>
        </p:nvCxnSpPr>
        <p:spPr>
          <a:xfrm>
            <a:off x="5876429" y="5236865"/>
            <a:ext cx="90740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117" name="선"/>
          <p:cNvCxnSpPr/>
          <p:nvPr/>
        </p:nvCxnSpPr>
        <p:spPr>
          <a:xfrm>
            <a:off x="6783834" y="5236865"/>
            <a:ext cx="90735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118" name="선"/>
          <p:cNvCxnSpPr/>
          <p:nvPr/>
        </p:nvCxnSpPr>
        <p:spPr>
          <a:xfrm>
            <a:off x="7691189" y="5236865"/>
            <a:ext cx="90735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119" name="선"/>
          <p:cNvCxnSpPr/>
          <p:nvPr/>
        </p:nvCxnSpPr>
        <p:spPr>
          <a:xfrm>
            <a:off x="8598545" y="5236865"/>
            <a:ext cx="278065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120" name="도형"/>
          <p:cNvSpPr/>
          <p:nvPr/>
        </p:nvSpPr>
        <p:spPr>
          <a:xfrm>
            <a:off x="8666807" y="4929386"/>
            <a:ext cx="635298" cy="206028"/>
          </a:xfrm>
          <a:prstGeom prst="roundRect">
            <a:avLst>
              <a:gd name="adj" fmla="val 19263"/>
            </a:avLst>
          </a:prstGeom>
          <a:noFill/>
          <a:ln w="9525">
            <a:solidFill>
              <a:srgbClr val="FFC97A"/>
            </a:solidFill>
            <a:custDash>
              <a:ds d="300000" sp="200000"/>
            </a:custDash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텍스트"/>
          <p:cNvSpPr txBox="1"/>
          <p:nvPr/>
        </p:nvSpPr>
        <p:spPr>
          <a:xfrm>
            <a:off x="8728720" y="4956532"/>
            <a:ext cx="651173" cy="1457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47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C97A"/>
                </a:solidFill>
                <a:latin typeface="Paperlogy 8 ExtraBold"/>
                <a:ea typeface="Paperlogy 8 ExtraBold"/>
                <a:cs typeface="Paperlogy 8 ExtraBold"/>
              </a:rPr>
              <a:t>데이터 공백</a:t>
            </a:r>
          </a:p>
        </p:txBody>
      </p:sp>
      <p:sp>
        <p:nvSpPr>
          <p:cNvPr id="122" name="텍스트"/>
          <p:cNvSpPr txBox="1"/>
          <p:nvPr/>
        </p:nvSpPr>
        <p:spPr>
          <a:xfrm>
            <a:off x="9364018" y="4954280"/>
            <a:ext cx="1309886" cy="1543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공개데이터 검색 결과 0건</a:t>
            </a:r>
          </a:p>
        </p:txBody>
      </p:sp>
      <p:cxnSp>
        <p:nvCxnSpPr>
          <p:cNvPr id="123" name="선"/>
          <p:cNvCxnSpPr/>
          <p:nvPr/>
        </p:nvCxnSpPr>
        <p:spPr>
          <a:xfrm>
            <a:off x="812800" y="5645795"/>
            <a:ext cx="2341562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124" name="텍스트"/>
          <p:cNvSpPr txBox="1"/>
          <p:nvPr/>
        </p:nvSpPr>
        <p:spPr>
          <a:xfrm>
            <a:off x="869950" y="5289570"/>
            <a:ext cx="960834" cy="1676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-22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VWorld 지도</a:t>
            </a:r>
          </a:p>
        </p:txBody>
      </p:sp>
      <p:sp>
        <p:nvSpPr>
          <p:cNvPr id="125" name="텍스트"/>
          <p:cNvSpPr txBox="1"/>
          <p:nvPr/>
        </p:nvSpPr>
        <p:spPr>
          <a:xfrm>
            <a:off x="869950" y="5476726"/>
            <a:ext cx="571500" cy="1190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E5588"/>
                </a:solidFill>
                <a:latin typeface="Menlo"/>
                <a:ea typeface="Paperlogy 6 SemiBold"/>
                <a:cs typeface="Paperlogy 6 SemiBold"/>
              </a:rPr>
              <a:t>국토교통부</a:t>
            </a:r>
          </a:p>
        </p:txBody>
      </p:sp>
      <p:cxnSp>
        <p:nvCxnSpPr>
          <p:cNvPr id="126" name="선"/>
          <p:cNvCxnSpPr/>
          <p:nvPr/>
        </p:nvCxnSpPr>
        <p:spPr>
          <a:xfrm>
            <a:off x="3154362" y="5645795"/>
            <a:ext cx="90735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127" name="선"/>
          <p:cNvCxnSpPr/>
          <p:nvPr/>
        </p:nvCxnSpPr>
        <p:spPr>
          <a:xfrm>
            <a:off x="4061718" y="5645795"/>
            <a:ext cx="90735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128" name="선"/>
          <p:cNvCxnSpPr/>
          <p:nvPr/>
        </p:nvCxnSpPr>
        <p:spPr>
          <a:xfrm>
            <a:off x="4969073" y="5645795"/>
            <a:ext cx="90735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129" name="도형"/>
          <p:cNvSpPr/>
          <p:nvPr/>
        </p:nvSpPr>
        <p:spPr>
          <a:xfrm>
            <a:off x="5360839" y="5379393"/>
            <a:ext cx="123825" cy="123825"/>
          </a:xfrm>
          <a:prstGeom prst="ellipse">
            <a:avLst/>
          </a:prstGeom>
          <a:noFill/>
          <a:ln w="15875">
            <a:solidFill>
              <a:srgbClr val="B7A2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0" name="선"/>
          <p:cNvCxnSpPr/>
          <p:nvPr/>
        </p:nvCxnSpPr>
        <p:spPr>
          <a:xfrm>
            <a:off x="5876429" y="5645795"/>
            <a:ext cx="90740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131" name="선"/>
          <p:cNvCxnSpPr/>
          <p:nvPr/>
        </p:nvCxnSpPr>
        <p:spPr>
          <a:xfrm>
            <a:off x="6783834" y="5645795"/>
            <a:ext cx="90735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132" name="선"/>
          <p:cNvCxnSpPr/>
          <p:nvPr/>
        </p:nvCxnSpPr>
        <p:spPr>
          <a:xfrm>
            <a:off x="7691189" y="5645795"/>
            <a:ext cx="90735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133" name="선"/>
          <p:cNvCxnSpPr/>
          <p:nvPr/>
        </p:nvCxnSpPr>
        <p:spPr>
          <a:xfrm>
            <a:off x="8598545" y="5645795"/>
            <a:ext cx="2780655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134" name="도형"/>
          <p:cNvSpPr/>
          <p:nvPr/>
        </p:nvSpPr>
        <p:spPr>
          <a:xfrm>
            <a:off x="8666807" y="5338316"/>
            <a:ext cx="540296" cy="206028"/>
          </a:xfrm>
          <a:prstGeom prst="roundRect">
            <a:avLst>
              <a:gd name="adj" fmla="val 19263"/>
            </a:avLst>
          </a:prstGeom>
          <a:noFill/>
          <a:ln w="9525">
            <a:solidFill>
              <a:srgbClr val="B7A2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텍스트"/>
          <p:cNvSpPr txBox="1"/>
          <p:nvPr/>
        </p:nvSpPr>
        <p:spPr>
          <a:xfrm>
            <a:off x="8728720" y="5365462"/>
            <a:ext cx="556171" cy="1457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47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7A2FF"/>
                </a:solidFill>
                <a:latin typeface="Paperlogy 8 ExtraBold"/>
                <a:ea typeface="Paperlogy 8 ExtraBold"/>
                <a:cs typeface="Paperlogy 8 ExtraBold"/>
              </a:rPr>
              <a:t>실행 계획</a:t>
            </a:r>
          </a:p>
        </p:txBody>
      </p:sp>
      <p:sp>
        <p:nvSpPr>
          <p:cNvPr id="136" name="텍스트"/>
          <p:cNvSpPr txBox="1"/>
          <p:nvPr/>
        </p:nvSpPr>
        <p:spPr>
          <a:xfrm>
            <a:off x="9269016" y="5363210"/>
            <a:ext cx="1107976" cy="1543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앱의 배경지도로 활용</a:t>
            </a:r>
          </a:p>
        </p:txBody>
      </p:sp>
      <p:sp>
        <p:nvSpPr>
          <p:cNvPr id="137" name="도형"/>
          <p:cNvSpPr/>
          <p:nvPr/>
        </p:nvSpPr>
        <p:spPr>
          <a:xfrm>
            <a:off x="812800" y="5975350"/>
            <a:ext cx="114300" cy="1143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텍스트"/>
          <p:cNvSpPr txBox="1"/>
          <p:nvPr/>
        </p:nvSpPr>
        <p:spPr>
          <a:xfrm>
            <a:off x="984250" y="5942012"/>
            <a:ext cx="767110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D84B6"/>
                </a:solidFill>
                <a:latin typeface="Paperlogy 6 SemiBold"/>
                <a:ea typeface="Paperlogy 6 SemiBold"/>
                <a:cs typeface="Paperlogy 6 SemiBold"/>
              </a:rPr>
              <a:t>현재 활용 중</a:t>
            </a:r>
          </a:p>
        </p:txBody>
      </p:sp>
      <p:sp>
        <p:nvSpPr>
          <p:cNvPr id="139" name="도형"/>
          <p:cNvSpPr/>
          <p:nvPr/>
        </p:nvSpPr>
        <p:spPr>
          <a:xfrm>
            <a:off x="1803747" y="5983288"/>
            <a:ext cx="98425" cy="98425"/>
          </a:xfrm>
          <a:prstGeom prst="ellipse">
            <a:avLst/>
          </a:prstGeom>
          <a:noFill/>
          <a:ln w="15875">
            <a:solidFill>
              <a:srgbClr val="B7A2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텍스트"/>
          <p:cNvSpPr txBox="1"/>
          <p:nvPr/>
        </p:nvSpPr>
        <p:spPr>
          <a:xfrm>
            <a:off x="1967260" y="5942012"/>
            <a:ext cx="1353840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D84B6"/>
                </a:solidFill>
                <a:latin typeface="Paperlogy 6 SemiBold"/>
                <a:ea typeface="Paperlogy 6 SemiBold"/>
                <a:cs typeface="Paperlogy 6 SemiBold"/>
              </a:rPr>
              <a:t>실행 단계에서 활용 예정</a:t>
            </a:r>
          </a:p>
        </p:txBody>
      </p:sp>
      <p:sp>
        <p:nvSpPr>
          <p:cNvPr id="141" name="도형"/>
          <p:cNvSpPr/>
          <p:nvPr/>
        </p:nvSpPr>
        <p:spPr>
          <a:xfrm>
            <a:off x="3373487" y="5983288"/>
            <a:ext cx="98425" cy="98425"/>
          </a:xfrm>
          <a:prstGeom prst="ellipse">
            <a:avLst/>
          </a:prstGeom>
          <a:solidFill>
            <a:srgbClr val="FFC97A">
              <a:alpha val="12000"/>
            </a:srgbClr>
          </a:solidFill>
          <a:ln w="15875">
            <a:solidFill>
              <a:srgbClr val="FFC97A"/>
            </a:solidFill>
            <a:custDash>
              <a:ds d="300000" sp="200000"/>
            </a:custDash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텍스트"/>
          <p:cNvSpPr txBox="1"/>
          <p:nvPr/>
        </p:nvSpPr>
        <p:spPr>
          <a:xfrm>
            <a:off x="3537000" y="5942012"/>
            <a:ext cx="2089934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D84B6"/>
                </a:solidFill>
                <a:latin typeface="Paperlogy 6 SemiBold"/>
                <a:ea typeface="Paperlogy 6 SemiBold"/>
                <a:cs typeface="Paperlogy 6 SemiBold"/>
              </a:rPr>
              <a:t>공개데이터가 없어 순찰 기록으로 보완</a:t>
            </a:r>
          </a:p>
        </p:txBody>
      </p:sp>
      <p:sp>
        <p:nvSpPr>
          <p:cNvPr id="143" name="텍스트"/>
          <p:cNvSpPr txBox="1"/>
          <p:nvPr/>
        </p:nvSpPr>
        <p:spPr>
          <a:xfrm>
            <a:off x="806450" y="6415088"/>
            <a:ext cx="163274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러닝으로 만드는 AI 생활안전망</a:t>
            </a:r>
          </a:p>
        </p:txBody>
      </p:sp>
      <p:sp>
        <p:nvSpPr>
          <p:cNvPr id="144" name="텍스트"/>
          <p:cNvSpPr txBox="1"/>
          <p:nvPr/>
        </p:nvSpPr>
        <p:spPr>
          <a:xfrm>
            <a:off x="10944076" y="6415088"/>
            <a:ext cx="58117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"/>
          <p:cNvSpPr txBox="1"/>
          <p:nvPr/>
        </p:nvSpPr>
        <p:spPr>
          <a:xfrm>
            <a:off x="806450" y="706438"/>
            <a:ext cx="1535460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4">
                <a:solidFill>
                  <a:srgbClr val="B7A2FF"/>
                </a:solidFill>
                <a:latin typeface="Paperlogy 7 Bold"/>
                <a:ea typeface="Paperlogy 7 Bold"/>
                <a:cs typeface="Paperlogy 7 Bold"/>
              </a:rPr>
              <a:t>달리며 발견하는 위험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806450" y="1013271"/>
            <a:ext cx="7584127" cy="7792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67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 spc="-7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가로등만 살피는 것이 아닙니다</a:t>
            </a:r>
          </a:p>
          <a:p>
            <a:pPr algn="l">
              <a:lnSpc>
                <a:spcPts val="3067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 spc="-7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밤길 보행자를 위협하는 </a:t>
            </a:r>
            <a:r>
              <a:rPr sz="2600" b="0" i="0" spc="-78">
                <a:solidFill>
                  <a:srgbClr val="B7A2FF"/>
                </a:solidFill>
                <a:latin typeface="Paperlogy 8 ExtraBold"/>
                <a:ea typeface="Paperlogy 8 ExtraBold"/>
                <a:cs typeface="Paperlogy 8 ExtraBold"/>
              </a:rPr>
              <a:t>네 가지 위험</a:t>
            </a:r>
            <a:r>
              <a:rPr sz="2600" b="0" i="0" spc="-7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을 함께 점검합니다</a:t>
            </a:r>
          </a:p>
        </p:txBody>
      </p:sp>
      <p:cxnSp>
        <p:nvCxnSpPr>
          <p:cNvPr id="4" name="선"/>
          <p:cNvCxnSpPr/>
          <p:nvPr/>
        </p:nvCxnSpPr>
        <p:spPr>
          <a:xfrm>
            <a:off x="812800" y="2481064"/>
            <a:ext cx="2413000" cy="0"/>
          </a:xfrm>
          <a:prstGeom prst="line">
            <a:avLst/>
          </a:prstGeom>
          <a:ln w="12700">
            <a:solidFill>
              <a:srgbClr val="FFC97A"/>
            </a:solidFill>
          </a:ln>
        </p:spPr>
      </p:cxnSp>
      <p:sp>
        <p:nvSpPr>
          <p:cNvPr id="5" name="도형"/>
          <p:cNvSpPr/>
          <p:nvPr/>
        </p:nvSpPr>
        <p:spPr>
          <a:xfrm>
            <a:off x="812800" y="2147689"/>
            <a:ext cx="101600" cy="10160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텍스트"/>
          <p:cNvSpPr txBox="1"/>
          <p:nvPr/>
        </p:nvSpPr>
        <p:spPr>
          <a:xfrm>
            <a:off x="996950" y="2039739"/>
            <a:ext cx="368300" cy="317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pc="-6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빛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806450" y="2622352"/>
            <a:ext cx="64849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8">
                <a:solidFill>
                  <a:srgbClr val="5E5588"/>
                </a:solidFill>
                <a:latin typeface="Paperlogy 8 ExtraBold"/>
                <a:ea typeface="Paperlogy 8 ExtraBold"/>
                <a:cs typeface="Paperlogy 8 ExtraBold"/>
              </a:rPr>
              <a:t>점검 항목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806450" y="2823805"/>
            <a:ext cx="818406" cy="197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-12">
                <a:solidFill>
                  <a:srgbClr val="EEEAFB"/>
                </a:solidFill>
                <a:latin typeface="Paperlogy 6 SemiBold"/>
                <a:ea typeface="Paperlogy 6 SemiBold"/>
                <a:cs typeface="Paperlogy 6 SemiBold"/>
              </a:rPr>
              <a:t>보안등 소등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806450" y="3071753"/>
            <a:ext cx="1116211" cy="197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-12">
                <a:solidFill>
                  <a:srgbClr val="EEEAFB"/>
                </a:solidFill>
                <a:latin typeface="Paperlogy 6 SemiBold"/>
                <a:ea typeface="Paperlogy 6 SemiBold"/>
                <a:cs typeface="Paperlogy 6 SemiBold"/>
              </a:rPr>
              <a:t>조도 부족·깜빡임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806450" y="3319701"/>
            <a:ext cx="1515070" cy="197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-12">
                <a:solidFill>
                  <a:srgbClr val="EEEAFB"/>
                </a:solidFill>
                <a:latin typeface="Paperlogy 6 SemiBold"/>
                <a:ea typeface="Paperlogy 6 SemiBold"/>
                <a:cs typeface="Paperlogy 6 SemiBold"/>
              </a:rPr>
              <a:t>나뭇가지로 인한 빛 가림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806450" y="3651945"/>
            <a:ext cx="76279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8">
                <a:solidFill>
                  <a:srgbClr val="5E5588"/>
                </a:solidFill>
                <a:latin typeface="Paperlogy 8 ExtraBold"/>
                <a:ea typeface="Paperlogy 8 ExtraBold"/>
                <a:cs typeface="Paperlogy 8 ExtraBold"/>
              </a:rPr>
              <a:t>데이터 근거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806450" y="3825156"/>
            <a:ext cx="2002130" cy="38665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코스 반경 50m 이내 보안등 </a:t>
            </a:r>
            <a:r>
              <a:rPr sz="1050" b="0" i="0">
                <a:solidFill>
                  <a:srgbClr val="C4BBE6"/>
                </a:solidFill>
                <a:latin typeface="Paperlogy 8 ExtraBold"/>
                <a:ea typeface="Paperlogy 8 ExtraBold"/>
                <a:cs typeface="Paperlogy 8 ExtraBold"/>
              </a:rPr>
              <a:t>24개</a:t>
            </a:r>
          </a:p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순찰할 때마다 실제 점등 여부 확인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06450" y="4349750"/>
            <a:ext cx="64849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8">
                <a:solidFill>
                  <a:srgbClr val="5E5588"/>
                </a:solidFill>
                <a:latin typeface="Paperlogy 8 ExtraBold"/>
                <a:ea typeface="Paperlogy 8 ExtraBold"/>
                <a:cs typeface="Paperlogy 8 ExtraBold"/>
              </a:rPr>
              <a:t>개선 요청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06450" y="4522946"/>
            <a:ext cx="1755691" cy="1933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점등 시설 수리 · 나뭇가지 정비</a:t>
            </a:r>
          </a:p>
        </p:txBody>
      </p:sp>
      <p:cxnSp>
        <p:nvCxnSpPr>
          <p:cNvPr id="15" name="선"/>
          <p:cNvCxnSpPr/>
          <p:nvPr/>
        </p:nvCxnSpPr>
        <p:spPr>
          <a:xfrm>
            <a:off x="3530600" y="2481064"/>
            <a:ext cx="2413000" cy="0"/>
          </a:xfrm>
          <a:prstGeom prst="line">
            <a:avLst/>
          </a:prstGeom>
          <a:ln w="12700">
            <a:solidFill>
              <a:srgbClr val="B7A2FF"/>
            </a:solidFill>
          </a:ln>
        </p:spPr>
      </p:cxnSp>
      <p:sp>
        <p:nvSpPr>
          <p:cNvPr id="16" name="도형"/>
          <p:cNvSpPr/>
          <p:nvPr/>
        </p:nvSpPr>
        <p:spPr>
          <a:xfrm>
            <a:off x="3530600" y="2147689"/>
            <a:ext cx="101600" cy="1016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텍스트"/>
          <p:cNvSpPr txBox="1"/>
          <p:nvPr/>
        </p:nvSpPr>
        <p:spPr>
          <a:xfrm>
            <a:off x="3714750" y="2039739"/>
            <a:ext cx="800100" cy="317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pc="-6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건널목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3524250" y="2622352"/>
            <a:ext cx="64849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8">
                <a:solidFill>
                  <a:srgbClr val="5E5588"/>
                </a:solidFill>
                <a:latin typeface="Paperlogy 8 ExtraBold"/>
                <a:ea typeface="Paperlogy 8 ExtraBold"/>
                <a:cs typeface="Paperlogy 8 ExtraBold"/>
              </a:rPr>
              <a:t>점검 항목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3524250" y="2823805"/>
            <a:ext cx="976164" cy="197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-12">
                <a:solidFill>
                  <a:srgbClr val="EEEAFB"/>
                </a:solidFill>
                <a:latin typeface="Paperlogy 6 SemiBold"/>
                <a:ea typeface="Paperlogy 6 SemiBold"/>
                <a:cs typeface="Paperlogy 6 SemiBold"/>
              </a:rPr>
              <a:t>노면 표시 마모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3524250" y="3071753"/>
            <a:ext cx="945455" cy="197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-12">
                <a:solidFill>
                  <a:srgbClr val="EEEAFB"/>
                </a:solidFill>
                <a:latin typeface="Paperlogy 6 SemiBold"/>
                <a:ea typeface="Paperlogy 6 SemiBold"/>
                <a:cs typeface="Paperlogy 6 SemiBold"/>
              </a:rPr>
              <a:t>보행신호 고장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3524250" y="3319701"/>
            <a:ext cx="1642120" cy="197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-12">
                <a:solidFill>
                  <a:srgbClr val="EEEAFB"/>
                </a:solidFill>
                <a:latin typeface="Paperlogy 6 SemiBold"/>
                <a:ea typeface="Paperlogy 6 SemiBold"/>
                <a:cs typeface="Paperlogy 6 SemiBold"/>
              </a:rPr>
              <a:t>불법주차로 인한 시야 방해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524250" y="3651945"/>
            <a:ext cx="76279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8">
                <a:solidFill>
                  <a:srgbClr val="5E5588"/>
                </a:solidFill>
                <a:latin typeface="Paperlogy 8 ExtraBold"/>
                <a:ea typeface="Paperlogy 8 ExtraBold"/>
                <a:cs typeface="Paperlogy 8 ExtraBold"/>
              </a:rPr>
              <a:t>데이터 근거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3524250" y="3825156"/>
            <a:ext cx="1591717" cy="38665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다발지역 중상사고 34건 중</a:t>
            </a:r>
          </a:p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8 ExtraBold"/>
                <a:ea typeface="Paperlogy 8 ExtraBold"/>
                <a:cs typeface="Paperlogy 8 ExtraBold"/>
              </a:rPr>
              <a:t>횡단 중 사고 17건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3524250" y="4349750"/>
            <a:ext cx="64849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8">
                <a:solidFill>
                  <a:srgbClr val="5E5588"/>
                </a:solidFill>
                <a:latin typeface="Paperlogy 8 ExtraBold"/>
                <a:ea typeface="Paperlogy 8 ExtraBold"/>
                <a:cs typeface="Paperlogy 8 ExtraBold"/>
              </a:rPr>
              <a:t>개선 요청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3524250" y="4522946"/>
            <a:ext cx="2252772" cy="1933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노면 재도색 · 신호 점검 · 불법주차 단속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6248400" y="2481064"/>
            <a:ext cx="2413000" cy="0"/>
          </a:xfrm>
          <a:prstGeom prst="line">
            <a:avLst/>
          </a:prstGeom>
          <a:ln w="12700">
            <a:solidFill>
              <a:srgbClr val="5FD3AC"/>
            </a:solidFill>
          </a:ln>
        </p:spPr>
      </p:cxnSp>
      <p:sp>
        <p:nvSpPr>
          <p:cNvPr id="27" name="도형"/>
          <p:cNvSpPr/>
          <p:nvPr/>
        </p:nvSpPr>
        <p:spPr>
          <a:xfrm>
            <a:off x="6248400" y="2147689"/>
            <a:ext cx="101600" cy="101600"/>
          </a:xfrm>
          <a:prstGeom prst="ellipse">
            <a:avLst/>
          </a:prstGeom>
          <a:solidFill>
            <a:srgbClr val="5FD3A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텍스트"/>
          <p:cNvSpPr txBox="1"/>
          <p:nvPr/>
        </p:nvSpPr>
        <p:spPr>
          <a:xfrm>
            <a:off x="6432550" y="2039739"/>
            <a:ext cx="800100" cy="317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pc="-6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보행로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6242050" y="2622352"/>
            <a:ext cx="64849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8">
                <a:solidFill>
                  <a:srgbClr val="5E5588"/>
                </a:solidFill>
                <a:latin typeface="Paperlogy 8 ExtraBold"/>
                <a:ea typeface="Paperlogy 8 ExtraBold"/>
                <a:cs typeface="Paperlogy 8 ExtraBold"/>
              </a:rPr>
              <a:t>점검 항목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6242050" y="2823805"/>
            <a:ext cx="1357362" cy="197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-12">
                <a:solidFill>
                  <a:srgbClr val="EEEAFB"/>
                </a:solidFill>
                <a:latin typeface="Paperlogy 6 SemiBold"/>
                <a:ea typeface="Paperlogy 6 SemiBold"/>
                <a:cs typeface="Paperlogy 6 SemiBold"/>
              </a:rPr>
              <a:t>들뜬 보도블록과 단차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6242050" y="3071753"/>
            <a:ext cx="1230263" cy="197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-12">
                <a:solidFill>
                  <a:srgbClr val="EEEAFB"/>
                </a:solidFill>
                <a:latin typeface="Paperlogy 6 SemiBold"/>
                <a:ea typeface="Paperlogy 6 SemiBold"/>
                <a:cs typeface="Paperlogy 6 SemiBold"/>
              </a:rPr>
              <a:t>적치물과 보도 점유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6242050" y="3319701"/>
            <a:ext cx="2231544" cy="197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-12">
                <a:solidFill>
                  <a:srgbClr val="EEEAFB"/>
                </a:solidFill>
                <a:latin typeface="Paperlogy 6 SemiBold"/>
                <a:ea typeface="Paperlogy 6 SemiBold"/>
                <a:cs typeface="Paperlogy 6 SemiBold"/>
              </a:rPr>
              <a:t>물고임과 낙엽으로 인한 미끄럼 위험</a:t>
            </a:r>
          </a:p>
        </p:txBody>
      </p:sp>
      <p:sp>
        <p:nvSpPr>
          <p:cNvPr id="33" name="텍스트"/>
          <p:cNvSpPr txBox="1"/>
          <p:nvPr/>
        </p:nvSpPr>
        <p:spPr>
          <a:xfrm>
            <a:off x="6242050" y="3651945"/>
            <a:ext cx="76279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8">
                <a:solidFill>
                  <a:srgbClr val="5E5588"/>
                </a:solidFill>
                <a:latin typeface="Paperlogy 8 ExtraBold"/>
                <a:ea typeface="Paperlogy 8 ExtraBold"/>
                <a:cs typeface="Paperlogy 8 ExtraBold"/>
              </a:rPr>
              <a:t>데이터 근거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6242050" y="3825156"/>
            <a:ext cx="1300113" cy="38665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중상사고 34건 중</a:t>
            </a:r>
          </a:p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8 ExtraBold"/>
                <a:ea typeface="Paperlogy 8 ExtraBold"/>
                <a:cs typeface="Paperlogy 8 ExtraBold"/>
              </a:rPr>
              <a:t>65세 이상 피해 21건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6242050" y="4349750"/>
            <a:ext cx="64849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8">
                <a:solidFill>
                  <a:srgbClr val="5E5588"/>
                </a:solidFill>
                <a:latin typeface="Paperlogy 8 ExtraBold"/>
                <a:ea typeface="Paperlogy 8 ExtraBold"/>
                <a:cs typeface="Paperlogy 8 ExtraBold"/>
              </a:rPr>
              <a:t>개선 요청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6242050" y="4522946"/>
            <a:ext cx="1367086" cy="1933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보도 정비 · 적치물 제거</a:t>
            </a:r>
          </a:p>
        </p:txBody>
      </p:sp>
      <p:cxnSp>
        <p:nvCxnSpPr>
          <p:cNvPr id="37" name="선"/>
          <p:cNvCxnSpPr/>
          <p:nvPr/>
        </p:nvCxnSpPr>
        <p:spPr>
          <a:xfrm>
            <a:off x="8966200" y="2481064"/>
            <a:ext cx="2413000" cy="0"/>
          </a:xfrm>
          <a:prstGeom prst="line">
            <a:avLst/>
          </a:prstGeom>
          <a:ln w="12700">
            <a:solidFill>
              <a:srgbClr val="FF7B9C"/>
            </a:solidFill>
          </a:ln>
        </p:spPr>
      </p:cxnSp>
      <p:sp>
        <p:nvSpPr>
          <p:cNvPr id="38" name="도형"/>
          <p:cNvSpPr/>
          <p:nvPr/>
        </p:nvSpPr>
        <p:spPr>
          <a:xfrm>
            <a:off x="8966200" y="2147689"/>
            <a:ext cx="101600" cy="101600"/>
          </a:xfrm>
          <a:prstGeom prst="ellipse">
            <a:avLst/>
          </a:prstGeom>
          <a:solidFill>
            <a:srgbClr val="FF7B9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텍스트"/>
          <p:cNvSpPr txBox="1"/>
          <p:nvPr/>
        </p:nvSpPr>
        <p:spPr>
          <a:xfrm>
            <a:off x="9150350" y="2039739"/>
            <a:ext cx="1016000" cy="317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pc="-6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안전시설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8959850" y="2622352"/>
            <a:ext cx="64849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8">
                <a:solidFill>
                  <a:srgbClr val="5E5588"/>
                </a:solidFill>
                <a:latin typeface="Paperlogy 8 ExtraBold"/>
                <a:ea typeface="Paperlogy 8 ExtraBold"/>
                <a:cs typeface="Paperlogy 8 ExtraBold"/>
              </a:rPr>
              <a:t>점검 항목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8959850" y="2823805"/>
            <a:ext cx="818406" cy="197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-12">
                <a:solidFill>
                  <a:srgbClr val="EEEAFB"/>
                </a:solidFill>
                <a:latin typeface="Paperlogy 6 SemiBold"/>
                <a:ea typeface="Paperlogy 6 SemiBold"/>
                <a:cs typeface="Paperlogy 6 SemiBold"/>
              </a:rPr>
              <a:t>비상벨 고장</a:t>
            </a:r>
          </a:p>
        </p:txBody>
      </p:sp>
      <p:sp>
        <p:nvSpPr>
          <p:cNvPr id="42" name="텍스트"/>
          <p:cNvSpPr txBox="1"/>
          <p:nvPr/>
        </p:nvSpPr>
        <p:spPr>
          <a:xfrm>
            <a:off x="8959850" y="3071753"/>
            <a:ext cx="1095573" cy="197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-12">
                <a:solidFill>
                  <a:srgbClr val="EEEAFB"/>
                </a:solidFill>
                <a:latin typeface="Paperlogy 6 SemiBold"/>
                <a:ea typeface="Paperlogy 6 SemiBold"/>
                <a:cs typeface="Paperlogy 6 SemiBold"/>
              </a:rPr>
              <a:t>CCTV 사각지대</a:t>
            </a:r>
          </a:p>
        </p:txBody>
      </p:sp>
      <p:sp>
        <p:nvSpPr>
          <p:cNvPr id="43" name="텍스트"/>
          <p:cNvSpPr txBox="1"/>
          <p:nvPr/>
        </p:nvSpPr>
        <p:spPr>
          <a:xfrm>
            <a:off x="8959850" y="3319701"/>
            <a:ext cx="1370310" cy="197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-12">
                <a:solidFill>
                  <a:srgbClr val="EEEAFB"/>
                </a:solidFill>
                <a:latin typeface="Paperlogy 6 SemiBold"/>
                <a:ea typeface="Paperlogy 6 SemiBold"/>
                <a:cs typeface="Paperlogy 6 SemiBold"/>
              </a:rPr>
              <a:t>반사경·안전표지 파손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8959850" y="3651945"/>
            <a:ext cx="76279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8">
                <a:solidFill>
                  <a:srgbClr val="5E5588"/>
                </a:solidFill>
                <a:latin typeface="Paperlogy 8 ExtraBold"/>
                <a:ea typeface="Paperlogy 8 ExtraBold"/>
                <a:cs typeface="Paperlogy 8 ExtraBold"/>
              </a:rPr>
              <a:t>데이터 근거</a:t>
            </a:r>
          </a:p>
        </p:txBody>
      </p:sp>
      <p:sp>
        <p:nvSpPr>
          <p:cNvPr id="45" name="텍스트"/>
          <p:cNvSpPr txBox="1"/>
          <p:nvPr/>
        </p:nvSpPr>
        <p:spPr>
          <a:xfrm>
            <a:off x="8959850" y="3825156"/>
            <a:ext cx="1502817" cy="38665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비상벨·방범 CCTV 위치</a:t>
            </a:r>
          </a:p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8 ExtraBold"/>
                <a:ea typeface="Paperlogy 8 ExtraBold"/>
                <a:cs typeface="Paperlogy 8 ExtraBold"/>
              </a:rPr>
              <a:t>공개데이터 검색 결과 0건</a:t>
            </a:r>
          </a:p>
        </p:txBody>
      </p:sp>
      <p:sp>
        <p:nvSpPr>
          <p:cNvPr id="46" name="텍스트"/>
          <p:cNvSpPr txBox="1"/>
          <p:nvPr/>
        </p:nvSpPr>
        <p:spPr>
          <a:xfrm>
            <a:off x="8959850" y="4349750"/>
            <a:ext cx="64849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8">
                <a:solidFill>
                  <a:srgbClr val="5E5588"/>
                </a:solidFill>
                <a:latin typeface="Paperlogy 8 ExtraBold"/>
                <a:ea typeface="Paperlogy 8 ExtraBold"/>
                <a:cs typeface="Paperlogy 8 ExtraBold"/>
              </a:rPr>
              <a:t>개선 요청</a:t>
            </a:r>
          </a:p>
        </p:txBody>
      </p:sp>
      <p:sp>
        <p:nvSpPr>
          <p:cNvPr id="47" name="텍스트"/>
          <p:cNvSpPr txBox="1"/>
          <p:nvPr/>
        </p:nvSpPr>
        <p:spPr>
          <a:xfrm>
            <a:off x="8959850" y="4522946"/>
            <a:ext cx="1787942" cy="1933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시설 작동 점검 · 신규 설치 건의</a:t>
            </a:r>
          </a:p>
        </p:txBody>
      </p:sp>
      <p:sp>
        <p:nvSpPr>
          <p:cNvPr id="48" name="텍스트"/>
          <p:cNvSpPr txBox="1"/>
          <p:nvPr/>
        </p:nvSpPr>
        <p:spPr>
          <a:xfrm>
            <a:off x="806450" y="5637212"/>
            <a:ext cx="3693428" cy="457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네 영역의 위험을 </a:t>
            </a:r>
            <a:r>
              <a:rPr sz="1200" b="0" i="0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하나의 앱과 동일한 기준</a:t>
            </a:r>
            <a:r>
              <a:rPr sz="12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으로 기록하고,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안전신문고를 통해 담당 기관에 전달합니다.</a:t>
            </a:r>
          </a:p>
        </p:txBody>
      </p:sp>
      <p:sp>
        <p:nvSpPr>
          <p:cNvPr id="49" name="텍스트"/>
          <p:cNvSpPr txBox="1"/>
          <p:nvPr/>
        </p:nvSpPr>
        <p:spPr>
          <a:xfrm>
            <a:off x="806450" y="6415088"/>
            <a:ext cx="163274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러닝으로 만드는 AI 생활안전망</a:t>
            </a:r>
          </a:p>
        </p:txBody>
      </p:sp>
      <p:sp>
        <p:nvSpPr>
          <p:cNvPr id="50" name="텍스트"/>
          <p:cNvSpPr txBox="1"/>
          <p:nvPr/>
        </p:nvSpPr>
        <p:spPr>
          <a:xfrm>
            <a:off x="10944076" y="6415088"/>
            <a:ext cx="58117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"/>
          <p:cNvSpPr txBox="1"/>
          <p:nvPr/>
        </p:nvSpPr>
        <p:spPr>
          <a:xfrm>
            <a:off x="806450" y="706438"/>
            <a:ext cx="772716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4">
                <a:solidFill>
                  <a:srgbClr val="B7A2FF"/>
                </a:solidFill>
                <a:latin typeface="Paperlogy 7 Bold"/>
                <a:ea typeface="Paperlogy 7 Bold"/>
                <a:cs typeface="Paperlogy 7 Bold"/>
              </a:rPr>
              <a:t>작동 방식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806450" y="1053852"/>
            <a:ext cx="4619650" cy="839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03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 spc="-84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한 번 신고하고 끝내지 않습니다</a:t>
            </a:r>
          </a:p>
          <a:p>
            <a:pPr algn="l">
              <a:lnSpc>
                <a:spcPts val="3303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 spc="-84">
                <a:solidFill>
                  <a:srgbClr val="B7A2FF"/>
                </a:solidFill>
                <a:latin typeface="Paperlogy 8 ExtraBold"/>
                <a:ea typeface="Paperlogy 8 ExtraBold"/>
                <a:cs typeface="Paperlogy 8 ExtraBold"/>
              </a:rPr>
              <a:t>고쳐질 때까지 다시 확인합니다</a:t>
            </a:r>
          </a:p>
        </p:txBody>
      </p:sp>
      <p:sp>
        <p:nvSpPr>
          <p:cNvPr id="4" name="도형"/>
          <p:cNvSpPr/>
          <p:nvPr/>
        </p:nvSpPr>
        <p:spPr>
          <a:xfrm>
            <a:off x="882650" y="2286992"/>
            <a:ext cx="8491240" cy="12700"/>
          </a:xfrm>
          <a:prstGeom prst="rect">
            <a:avLst/>
          </a:prstGeom>
          <a:gradFill rotWithShape="1">
            <a:gsLst>
              <a:gs pos="0">
                <a:srgbClr val="5B3FD1"/>
              </a:gs>
              <a:gs pos="100000">
                <a:srgbClr val="B7A2FF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도형"/>
          <p:cNvSpPr/>
          <p:nvPr/>
        </p:nvSpPr>
        <p:spPr>
          <a:xfrm>
            <a:off x="812800" y="2223492"/>
            <a:ext cx="139700" cy="139700"/>
          </a:xfrm>
          <a:prstGeom prst="ellipse">
            <a:avLst/>
          </a:prstGeom>
          <a:solidFill>
            <a:srgbClr val="8C6B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텍스트"/>
          <p:cNvSpPr txBox="1"/>
          <p:nvPr/>
        </p:nvSpPr>
        <p:spPr>
          <a:xfrm>
            <a:off x="806450" y="2523530"/>
            <a:ext cx="401340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00">
                <a:solidFill>
                  <a:srgbClr val="8D84B6"/>
                </a:solidFill>
                <a:latin typeface="Paperlogy 7 Bold"/>
                <a:ea typeface="Paperlogy 7 Bold"/>
                <a:cs typeface="Paperlogy 7 Bold"/>
              </a:rPr>
              <a:t>순찰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806450" y="2766417"/>
            <a:ext cx="1358305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-45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함께 달리며 발견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806450" y="3074392"/>
            <a:ext cx="1807205" cy="4000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정해진 야간 코스를 크루가 함께</a:t>
            </a:r>
          </a:p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달리며 위험 요소를 찾습니다.</a:t>
            </a:r>
          </a:p>
        </p:txBody>
      </p:sp>
      <p:sp>
        <p:nvSpPr>
          <p:cNvPr id="9" name="도형"/>
          <p:cNvSpPr/>
          <p:nvPr/>
        </p:nvSpPr>
        <p:spPr>
          <a:xfrm>
            <a:off x="2961630" y="2223492"/>
            <a:ext cx="139700" cy="139700"/>
          </a:xfrm>
          <a:prstGeom prst="ellipse">
            <a:avLst/>
          </a:prstGeom>
          <a:solidFill>
            <a:srgbClr val="8C6B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텍스트"/>
          <p:cNvSpPr txBox="1"/>
          <p:nvPr/>
        </p:nvSpPr>
        <p:spPr>
          <a:xfrm>
            <a:off x="2955280" y="2523530"/>
            <a:ext cx="401340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00">
                <a:solidFill>
                  <a:srgbClr val="8D84B6"/>
                </a:solidFill>
                <a:latin typeface="Paperlogy 7 Bold"/>
                <a:ea typeface="Paperlogy 7 Bold"/>
                <a:cs typeface="Paperlogy 7 Bold"/>
              </a:rPr>
              <a:t>기록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955280" y="2766417"/>
            <a:ext cx="1600448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-45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사진·위치·메모 등록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955280" y="3074392"/>
            <a:ext cx="2117819" cy="4000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사진을 촬영하고 메모를 남기면 GPS</a:t>
            </a:r>
          </a:p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좌표가 자동으로 기록됩니다.</a:t>
            </a:r>
          </a:p>
        </p:txBody>
      </p:sp>
      <p:sp>
        <p:nvSpPr>
          <p:cNvPr id="13" name="도형"/>
          <p:cNvSpPr/>
          <p:nvPr/>
        </p:nvSpPr>
        <p:spPr>
          <a:xfrm>
            <a:off x="5110460" y="2223492"/>
            <a:ext cx="139700" cy="13970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텍스트"/>
          <p:cNvSpPr txBox="1"/>
          <p:nvPr/>
        </p:nvSpPr>
        <p:spPr>
          <a:xfrm>
            <a:off x="5104110" y="2523530"/>
            <a:ext cx="727720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00">
                <a:solidFill>
                  <a:srgbClr val="8D84B6"/>
                </a:solidFill>
                <a:latin typeface="Paperlogy 7 Bold"/>
                <a:ea typeface="Paperlogy 7 Bold"/>
                <a:cs typeface="Paperlogy 7 Bold"/>
              </a:rPr>
              <a:t>AI 구조화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104110" y="2766417"/>
            <a:ext cx="1600448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-45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분류·병합·문안 작성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104110" y="3074392"/>
            <a:ext cx="1866359" cy="600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AI가 위험 유형을 분류하고, 같은</a:t>
            </a:r>
          </a:p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장소의 제보를 묶어 민원 문안을</a:t>
            </a:r>
          </a:p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작성합니다.</a:t>
            </a:r>
          </a:p>
        </p:txBody>
      </p:sp>
      <p:sp>
        <p:nvSpPr>
          <p:cNvPr id="17" name="도형"/>
          <p:cNvSpPr/>
          <p:nvPr/>
        </p:nvSpPr>
        <p:spPr>
          <a:xfrm>
            <a:off x="7259290" y="2223492"/>
            <a:ext cx="139700" cy="139700"/>
          </a:xfrm>
          <a:prstGeom prst="ellipse">
            <a:avLst/>
          </a:prstGeom>
          <a:solidFill>
            <a:srgbClr val="8C6B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텍스트"/>
          <p:cNvSpPr txBox="1"/>
          <p:nvPr/>
        </p:nvSpPr>
        <p:spPr>
          <a:xfrm>
            <a:off x="7252940" y="2523530"/>
            <a:ext cx="690910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00">
                <a:solidFill>
                  <a:srgbClr val="8D84B6"/>
                </a:solidFill>
                <a:latin typeface="Paperlogy 7 Bold"/>
                <a:ea typeface="Paperlogy 7 Bold"/>
                <a:cs typeface="Paperlogy 7 Bold"/>
              </a:rPr>
              <a:t>민원 연계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7252940" y="2766417"/>
            <a:ext cx="1358305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-45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담당 기관에 전달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7252940" y="3074392"/>
            <a:ext cx="2097628" cy="600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사고 이력과 반복 관측 기록을 근거로</a:t>
            </a:r>
          </a:p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안전신문고와 안양시에 민원을</a:t>
            </a:r>
          </a:p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제출합니다.</a:t>
            </a:r>
          </a:p>
        </p:txBody>
      </p:sp>
      <p:sp>
        <p:nvSpPr>
          <p:cNvPr id="21" name="도형"/>
          <p:cNvSpPr/>
          <p:nvPr/>
        </p:nvSpPr>
        <p:spPr>
          <a:xfrm>
            <a:off x="9408120" y="2223492"/>
            <a:ext cx="139700" cy="139700"/>
          </a:xfrm>
          <a:prstGeom prst="ellipse">
            <a:avLst/>
          </a:prstGeom>
          <a:solidFill>
            <a:srgbClr val="5FD3A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텍스트"/>
          <p:cNvSpPr txBox="1"/>
          <p:nvPr/>
        </p:nvSpPr>
        <p:spPr>
          <a:xfrm>
            <a:off x="9401770" y="2523530"/>
            <a:ext cx="525810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00">
                <a:solidFill>
                  <a:srgbClr val="8D84B6"/>
                </a:solidFill>
                <a:latin typeface="Paperlogy 7 Bold"/>
                <a:ea typeface="Paperlogy 7 Bold"/>
                <a:cs typeface="Paperlogy 7 Bold"/>
              </a:rPr>
              <a:t>재확인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9401770" y="2766417"/>
            <a:ext cx="1520230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-45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다음 순찰에서 확인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9401770" y="3074392"/>
            <a:ext cx="2129879" cy="4000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다음 순찰 때 현장을 다시 방문해 실제</a:t>
            </a:r>
          </a:p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개선 여부를 확인합니다.</a:t>
            </a:r>
          </a:p>
        </p:txBody>
      </p:sp>
      <p:sp>
        <p:nvSpPr>
          <p:cNvPr id="25" name="선"/>
          <p:cNvSpPr/>
          <p:nvPr/>
        </p:nvSpPr>
        <p:spPr>
          <a:xfrm>
            <a:off x="882650" y="3788767"/>
            <a:ext cx="8477250" cy="444501"/>
          </a:xfrm>
          <a:custGeom>
            <a:avLst/>
            <a:gdLst/>
            <a:ahLst/>
            <a:cxnLst/>
            <a:rect l="l" t="t" r="r" b="b"/>
            <a:pathLst>
              <a:path w="8477250" h="444501">
                <a:moveTo>
                  <a:pt x="8477250" y="0"/>
                </a:moveTo>
                <a:lnTo>
                  <a:pt x="8475290" y="54962"/>
                </a:lnTo>
                <a:lnTo>
                  <a:pt x="8468602" y="109540"/>
                </a:lnTo>
                <a:lnTo>
                  <a:pt x="8455743" y="162985"/>
                </a:lnTo>
                <a:lnTo>
                  <a:pt x="8435177" y="213937"/>
                </a:lnTo>
                <a:lnTo>
                  <a:pt x="8405889" y="260403"/>
                </a:lnTo>
                <a:lnTo>
                  <a:pt x="8368249" y="300403"/>
                </a:lnTo>
                <a:lnTo>
                  <a:pt x="8324045" y="333037"/>
                </a:lnTo>
                <a:lnTo>
                  <a:pt x="8275460" y="358748"/>
                </a:lnTo>
                <a:lnTo>
                  <a:pt x="8224228" y="378718"/>
                </a:lnTo>
                <a:lnTo>
                  <a:pt x="8171451" y="394182"/>
                </a:lnTo>
                <a:lnTo>
                  <a:pt x="8117775" y="406188"/>
                </a:lnTo>
                <a:lnTo>
                  <a:pt x="8063570" y="415534"/>
                </a:lnTo>
                <a:lnTo>
                  <a:pt x="8009048" y="422815"/>
                </a:lnTo>
                <a:lnTo>
                  <a:pt x="7954334" y="428492"/>
                </a:lnTo>
                <a:lnTo>
                  <a:pt x="7899502" y="432900"/>
                </a:lnTo>
                <a:lnTo>
                  <a:pt x="7844599" y="436299"/>
                </a:lnTo>
                <a:lnTo>
                  <a:pt x="7789651" y="438885"/>
                </a:lnTo>
                <a:lnTo>
                  <a:pt x="7734675" y="440819"/>
                </a:lnTo>
                <a:lnTo>
                  <a:pt x="7679685" y="442232"/>
                </a:lnTo>
                <a:lnTo>
                  <a:pt x="7624684" y="443231"/>
                </a:lnTo>
                <a:lnTo>
                  <a:pt x="7569679" y="443882"/>
                </a:lnTo>
                <a:lnTo>
                  <a:pt x="7514672" y="444275"/>
                </a:lnTo>
                <a:lnTo>
                  <a:pt x="7459662" y="444468"/>
                </a:lnTo>
                <a:lnTo>
                  <a:pt x="7404653" y="444501"/>
                </a:lnTo>
                <a:lnTo>
                  <a:pt x="7349644" y="444501"/>
                </a:lnTo>
                <a:lnTo>
                  <a:pt x="7294634" y="444501"/>
                </a:lnTo>
                <a:lnTo>
                  <a:pt x="7239625" y="444501"/>
                </a:lnTo>
                <a:lnTo>
                  <a:pt x="7184616" y="444501"/>
                </a:lnTo>
                <a:lnTo>
                  <a:pt x="7129606" y="444501"/>
                </a:lnTo>
                <a:lnTo>
                  <a:pt x="7074597" y="444501"/>
                </a:lnTo>
                <a:lnTo>
                  <a:pt x="7019587" y="444501"/>
                </a:lnTo>
                <a:lnTo>
                  <a:pt x="6964578" y="444501"/>
                </a:lnTo>
                <a:lnTo>
                  <a:pt x="6909569" y="444501"/>
                </a:lnTo>
                <a:lnTo>
                  <a:pt x="6854559" y="444501"/>
                </a:lnTo>
                <a:lnTo>
                  <a:pt x="6799550" y="444501"/>
                </a:lnTo>
                <a:lnTo>
                  <a:pt x="6744540" y="444501"/>
                </a:lnTo>
                <a:lnTo>
                  <a:pt x="6689531" y="444501"/>
                </a:lnTo>
                <a:lnTo>
                  <a:pt x="6634522" y="444501"/>
                </a:lnTo>
                <a:lnTo>
                  <a:pt x="6579513" y="444500"/>
                </a:lnTo>
                <a:lnTo>
                  <a:pt x="6524503" y="444500"/>
                </a:lnTo>
                <a:lnTo>
                  <a:pt x="6469493" y="444500"/>
                </a:lnTo>
                <a:lnTo>
                  <a:pt x="6414484" y="444500"/>
                </a:lnTo>
                <a:lnTo>
                  <a:pt x="6359475" y="444500"/>
                </a:lnTo>
                <a:lnTo>
                  <a:pt x="6304466" y="444500"/>
                </a:lnTo>
                <a:lnTo>
                  <a:pt x="6249457" y="444500"/>
                </a:lnTo>
                <a:lnTo>
                  <a:pt x="6194447" y="444500"/>
                </a:lnTo>
                <a:lnTo>
                  <a:pt x="6139438" y="444500"/>
                </a:lnTo>
                <a:lnTo>
                  <a:pt x="6084429" y="444500"/>
                </a:lnTo>
                <a:lnTo>
                  <a:pt x="6029419" y="444500"/>
                </a:lnTo>
                <a:lnTo>
                  <a:pt x="5974410" y="444500"/>
                </a:lnTo>
                <a:lnTo>
                  <a:pt x="5919401" y="444500"/>
                </a:lnTo>
                <a:lnTo>
                  <a:pt x="5864391" y="444500"/>
                </a:lnTo>
                <a:lnTo>
                  <a:pt x="5809382" y="444500"/>
                </a:lnTo>
                <a:lnTo>
                  <a:pt x="5754372" y="444500"/>
                </a:lnTo>
                <a:lnTo>
                  <a:pt x="5699363" y="444500"/>
                </a:lnTo>
                <a:lnTo>
                  <a:pt x="5644354" y="444500"/>
                </a:lnTo>
                <a:lnTo>
                  <a:pt x="5589344" y="444500"/>
                </a:lnTo>
                <a:lnTo>
                  <a:pt x="5534335" y="444500"/>
                </a:lnTo>
                <a:lnTo>
                  <a:pt x="5479326" y="444500"/>
                </a:lnTo>
                <a:lnTo>
                  <a:pt x="5424317" y="444500"/>
                </a:lnTo>
                <a:lnTo>
                  <a:pt x="5369307" y="444500"/>
                </a:lnTo>
                <a:lnTo>
                  <a:pt x="5314298" y="444500"/>
                </a:lnTo>
                <a:lnTo>
                  <a:pt x="5259288" y="444500"/>
                </a:lnTo>
                <a:lnTo>
                  <a:pt x="5204279" y="444500"/>
                </a:lnTo>
                <a:lnTo>
                  <a:pt x="5149270" y="444500"/>
                </a:lnTo>
                <a:lnTo>
                  <a:pt x="5094260" y="444500"/>
                </a:lnTo>
                <a:lnTo>
                  <a:pt x="5039251" y="444500"/>
                </a:lnTo>
                <a:lnTo>
                  <a:pt x="4984242" y="444500"/>
                </a:lnTo>
                <a:lnTo>
                  <a:pt x="4929232" y="444500"/>
                </a:lnTo>
                <a:lnTo>
                  <a:pt x="4874223" y="444500"/>
                </a:lnTo>
                <a:lnTo>
                  <a:pt x="4819214" y="444500"/>
                </a:lnTo>
                <a:lnTo>
                  <a:pt x="4764204" y="444500"/>
                </a:lnTo>
                <a:lnTo>
                  <a:pt x="4709195" y="444500"/>
                </a:lnTo>
                <a:lnTo>
                  <a:pt x="4654186" y="444500"/>
                </a:lnTo>
                <a:lnTo>
                  <a:pt x="4599176" y="444500"/>
                </a:lnTo>
                <a:lnTo>
                  <a:pt x="4544167" y="444500"/>
                </a:lnTo>
                <a:lnTo>
                  <a:pt x="4489157" y="444500"/>
                </a:lnTo>
                <a:lnTo>
                  <a:pt x="4434148" y="444500"/>
                </a:lnTo>
                <a:lnTo>
                  <a:pt x="4379139" y="444500"/>
                </a:lnTo>
                <a:lnTo>
                  <a:pt x="4324129" y="444500"/>
                </a:lnTo>
                <a:lnTo>
                  <a:pt x="4269120" y="444500"/>
                </a:lnTo>
                <a:lnTo>
                  <a:pt x="4214111" y="444500"/>
                </a:lnTo>
                <a:lnTo>
                  <a:pt x="4159102" y="444500"/>
                </a:lnTo>
                <a:lnTo>
                  <a:pt x="4104092" y="444500"/>
                </a:lnTo>
                <a:lnTo>
                  <a:pt x="4049083" y="444500"/>
                </a:lnTo>
                <a:lnTo>
                  <a:pt x="3994073" y="444500"/>
                </a:lnTo>
                <a:lnTo>
                  <a:pt x="3939064" y="444500"/>
                </a:lnTo>
                <a:lnTo>
                  <a:pt x="3884055" y="444500"/>
                </a:lnTo>
                <a:lnTo>
                  <a:pt x="3829045" y="444500"/>
                </a:lnTo>
                <a:lnTo>
                  <a:pt x="3774036" y="444500"/>
                </a:lnTo>
                <a:lnTo>
                  <a:pt x="3719026" y="444500"/>
                </a:lnTo>
                <a:lnTo>
                  <a:pt x="3664017" y="444500"/>
                </a:lnTo>
                <a:lnTo>
                  <a:pt x="3609008" y="444500"/>
                </a:lnTo>
                <a:lnTo>
                  <a:pt x="3553999" y="444500"/>
                </a:lnTo>
                <a:lnTo>
                  <a:pt x="3498989" y="444500"/>
                </a:lnTo>
                <a:lnTo>
                  <a:pt x="3443980" y="444500"/>
                </a:lnTo>
                <a:lnTo>
                  <a:pt x="3388971" y="444500"/>
                </a:lnTo>
                <a:lnTo>
                  <a:pt x="3333961" y="444500"/>
                </a:lnTo>
                <a:lnTo>
                  <a:pt x="3278952" y="444500"/>
                </a:lnTo>
                <a:lnTo>
                  <a:pt x="3223942" y="444500"/>
                </a:lnTo>
                <a:lnTo>
                  <a:pt x="3168933" y="444500"/>
                </a:lnTo>
                <a:lnTo>
                  <a:pt x="3113924" y="444500"/>
                </a:lnTo>
                <a:lnTo>
                  <a:pt x="3058914" y="444500"/>
                </a:lnTo>
                <a:lnTo>
                  <a:pt x="3003905" y="444500"/>
                </a:lnTo>
                <a:lnTo>
                  <a:pt x="2948896" y="444477"/>
                </a:lnTo>
                <a:lnTo>
                  <a:pt x="2893887" y="444348"/>
                </a:lnTo>
                <a:lnTo>
                  <a:pt x="2838878" y="444101"/>
                </a:lnTo>
                <a:lnTo>
                  <a:pt x="2783869" y="443751"/>
                </a:lnTo>
                <a:lnTo>
                  <a:pt x="2728863" y="443300"/>
                </a:lnTo>
                <a:lnTo>
                  <a:pt x="2673856" y="442740"/>
                </a:lnTo>
                <a:lnTo>
                  <a:pt x="2618850" y="442082"/>
                </a:lnTo>
                <a:lnTo>
                  <a:pt x="2563846" y="441325"/>
                </a:lnTo>
                <a:lnTo>
                  <a:pt x="2508843" y="440471"/>
                </a:lnTo>
                <a:lnTo>
                  <a:pt x="2453843" y="439518"/>
                </a:lnTo>
                <a:lnTo>
                  <a:pt x="2398843" y="438466"/>
                </a:lnTo>
                <a:lnTo>
                  <a:pt x="2343846" y="437313"/>
                </a:lnTo>
                <a:lnTo>
                  <a:pt x="2288851" y="436059"/>
                </a:lnTo>
                <a:lnTo>
                  <a:pt x="2233858" y="434703"/>
                </a:lnTo>
                <a:lnTo>
                  <a:pt x="2178869" y="433242"/>
                </a:lnTo>
                <a:lnTo>
                  <a:pt x="2123882" y="431674"/>
                </a:lnTo>
                <a:lnTo>
                  <a:pt x="2068897" y="429998"/>
                </a:lnTo>
                <a:lnTo>
                  <a:pt x="2013918" y="428208"/>
                </a:lnTo>
                <a:lnTo>
                  <a:pt x="1958941" y="426300"/>
                </a:lnTo>
                <a:lnTo>
                  <a:pt x="1903969" y="424274"/>
                </a:lnTo>
                <a:lnTo>
                  <a:pt x="1849002" y="422128"/>
                </a:lnTo>
                <a:lnTo>
                  <a:pt x="1794039" y="419856"/>
                </a:lnTo>
                <a:lnTo>
                  <a:pt x="1739083" y="417447"/>
                </a:lnTo>
                <a:lnTo>
                  <a:pt x="1684132" y="414902"/>
                </a:lnTo>
                <a:lnTo>
                  <a:pt x="1629188" y="412217"/>
                </a:lnTo>
                <a:lnTo>
                  <a:pt x="1574252" y="409387"/>
                </a:lnTo>
                <a:lnTo>
                  <a:pt x="1519324" y="406395"/>
                </a:lnTo>
                <a:lnTo>
                  <a:pt x="1464405" y="403241"/>
                </a:lnTo>
                <a:lnTo>
                  <a:pt x="1409495" y="399925"/>
                </a:lnTo>
                <a:lnTo>
                  <a:pt x="1354599" y="396424"/>
                </a:lnTo>
                <a:lnTo>
                  <a:pt x="1299713" y="392734"/>
                </a:lnTo>
                <a:lnTo>
                  <a:pt x="1244841" y="388839"/>
                </a:lnTo>
                <a:lnTo>
                  <a:pt x="1189985" y="384744"/>
                </a:lnTo>
                <a:lnTo>
                  <a:pt x="1135146" y="380416"/>
                </a:lnTo>
                <a:lnTo>
                  <a:pt x="1080326" y="375849"/>
                </a:lnTo>
                <a:lnTo>
                  <a:pt x="1025529" y="371024"/>
                </a:lnTo>
                <a:lnTo>
                  <a:pt x="970757" y="365920"/>
                </a:lnTo>
                <a:lnTo>
                  <a:pt x="916014" y="360518"/>
                </a:lnTo>
                <a:lnTo>
                  <a:pt x="861304" y="354793"/>
                </a:lnTo>
                <a:lnTo>
                  <a:pt x="806632" y="348713"/>
                </a:lnTo>
                <a:lnTo>
                  <a:pt x="752004" y="342245"/>
                </a:lnTo>
                <a:lnTo>
                  <a:pt x="697429" y="335347"/>
                </a:lnTo>
                <a:lnTo>
                  <a:pt x="642916" y="327973"/>
                </a:lnTo>
                <a:lnTo>
                  <a:pt x="588479" y="320067"/>
                </a:lnTo>
                <a:lnTo>
                  <a:pt x="534132" y="311554"/>
                </a:lnTo>
                <a:lnTo>
                  <a:pt x="479898" y="302351"/>
                </a:lnTo>
                <a:lnTo>
                  <a:pt x="425809" y="292340"/>
                </a:lnTo>
                <a:lnTo>
                  <a:pt x="371903" y="281379"/>
                </a:lnTo>
                <a:lnTo>
                  <a:pt x="318244" y="269274"/>
                </a:lnTo>
                <a:lnTo>
                  <a:pt x="264925" y="255750"/>
                </a:lnTo>
                <a:lnTo>
                  <a:pt x="212099" y="240418"/>
                </a:lnTo>
                <a:lnTo>
                  <a:pt x="160040" y="222667"/>
                </a:lnTo>
                <a:lnTo>
                  <a:pt x="109293" y="201475"/>
                </a:lnTo>
                <a:lnTo>
                  <a:pt x="61165" y="174930"/>
                </a:lnTo>
                <a:lnTo>
                  <a:pt x="19726" y="139068"/>
                </a:lnTo>
                <a:lnTo>
                  <a:pt x="0" y="88900"/>
                </a:lnTo>
              </a:path>
            </a:pathLst>
          </a:custGeom>
          <a:noFill/>
          <a:ln w="15875">
            <a:solidFill>
              <a:srgbClr val="5FD3AC">
                <a:alpha val="70000"/>
              </a:srgbClr>
            </a:solidFill>
            <a:custDash>
              <a:ds d="400000" sp="360000"/>
            </a:custDash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선"/>
          <p:cNvSpPr/>
          <p:nvPr/>
        </p:nvSpPr>
        <p:spPr>
          <a:xfrm>
            <a:off x="819150" y="3839567"/>
            <a:ext cx="127000" cy="114300"/>
          </a:xfrm>
          <a:custGeom>
            <a:avLst/>
            <a:gdLst/>
            <a:ahLst/>
            <a:cxnLst/>
            <a:rect l="l" t="t" r="r" b="b"/>
            <a:pathLst>
              <a:path w="127000" h="114300">
                <a:moveTo>
                  <a:pt x="0" y="114300"/>
                </a:moveTo>
                <a:lnTo>
                  <a:pt x="63500" y="0"/>
                </a:lnTo>
                <a:lnTo>
                  <a:pt x="127000" y="114300"/>
                </a:lnTo>
              </a:path>
            </a:pathLst>
          </a:custGeom>
          <a:noFill/>
          <a:ln w="15875" cap="rnd">
            <a:solidFill>
              <a:srgbClr val="5FD3A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텍스트"/>
          <p:cNvSpPr txBox="1"/>
          <p:nvPr/>
        </p:nvSpPr>
        <p:spPr>
          <a:xfrm>
            <a:off x="806450" y="5831860"/>
            <a:ext cx="730796" cy="2165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88">
                <a:solidFill>
                  <a:srgbClr val="8D84B6"/>
                </a:solidFill>
                <a:latin typeface="Paperlogy 7 Bold"/>
                <a:ea typeface="Paperlogy 7 Bold"/>
                <a:cs typeface="Paperlogy 7 Bold"/>
              </a:rPr>
              <a:t>제보 상태</a:t>
            </a:r>
          </a:p>
        </p:txBody>
      </p:sp>
      <p:sp>
        <p:nvSpPr>
          <p:cNvPr id="28" name="도형"/>
          <p:cNvSpPr/>
          <p:nvPr/>
        </p:nvSpPr>
        <p:spPr>
          <a:xfrm>
            <a:off x="1561058" y="5789612"/>
            <a:ext cx="534839" cy="3016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E265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텍스트"/>
          <p:cNvSpPr txBox="1"/>
          <p:nvPr/>
        </p:nvSpPr>
        <p:spPr>
          <a:xfrm>
            <a:off x="1699171" y="5853112"/>
            <a:ext cx="398314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BBE6"/>
                </a:solidFill>
                <a:latin typeface="Paperlogy 7 Bold"/>
                <a:ea typeface="Paperlogy 7 Bold"/>
                <a:cs typeface="Paperlogy 7 Bold"/>
              </a:rPr>
              <a:t>발견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2183209" y="5853112"/>
            <a:ext cx="245566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5588"/>
                </a:solidFill>
                <a:latin typeface="Paperlogy 4 Regular"/>
                <a:ea typeface="Paperlogy 4 Regular"/>
                <a:cs typeface="Paperlogy 4 Regular"/>
              </a:rPr>
              <a:t>→</a:t>
            </a:r>
          </a:p>
        </p:txBody>
      </p:sp>
      <p:sp>
        <p:nvSpPr>
          <p:cNvPr id="31" name="도형"/>
          <p:cNvSpPr/>
          <p:nvPr/>
        </p:nvSpPr>
        <p:spPr>
          <a:xfrm>
            <a:off x="2376388" y="5789612"/>
            <a:ext cx="534839" cy="3016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E265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텍스트"/>
          <p:cNvSpPr txBox="1"/>
          <p:nvPr/>
        </p:nvSpPr>
        <p:spPr>
          <a:xfrm>
            <a:off x="2514501" y="5853112"/>
            <a:ext cx="398314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BBE6"/>
                </a:solidFill>
                <a:latin typeface="Paperlogy 7 Bold"/>
                <a:ea typeface="Paperlogy 7 Bold"/>
                <a:cs typeface="Paperlogy 7 Bold"/>
              </a:rPr>
              <a:t>신고</a:t>
            </a:r>
          </a:p>
        </p:txBody>
      </p:sp>
      <p:sp>
        <p:nvSpPr>
          <p:cNvPr id="33" name="텍스트"/>
          <p:cNvSpPr txBox="1"/>
          <p:nvPr/>
        </p:nvSpPr>
        <p:spPr>
          <a:xfrm>
            <a:off x="2998539" y="5853112"/>
            <a:ext cx="245566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5588"/>
                </a:solidFill>
                <a:latin typeface="Paperlogy 4 Regular"/>
                <a:ea typeface="Paperlogy 4 Regular"/>
                <a:cs typeface="Paperlogy 4 Regular"/>
              </a:rPr>
              <a:t>→</a:t>
            </a:r>
          </a:p>
        </p:txBody>
      </p:sp>
      <p:sp>
        <p:nvSpPr>
          <p:cNvPr id="34" name="도형"/>
          <p:cNvSpPr/>
          <p:nvPr/>
        </p:nvSpPr>
        <p:spPr>
          <a:xfrm>
            <a:off x="3191718" y="5789612"/>
            <a:ext cx="534839" cy="3016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E265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텍스트"/>
          <p:cNvSpPr txBox="1"/>
          <p:nvPr/>
        </p:nvSpPr>
        <p:spPr>
          <a:xfrm>
            <a:off x="3329831" y="5853112"/>
            <a:ext cx="398314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BBE6"/>
                </a:solidFill>
                <a:latin typeface="Paperlogy 7 Bold"/>
                <a:ea typeface="Paperlogy 7 Bold"/>
                <a:cs typeface="Paperlogy 7 Bold"/>
              </a:rPr>
              <a:t>처리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3813870" y="5853112"/>
            <a:ext cx="245566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5588"/>
                </a:solidFill>
                <a:latin typeface="Paperlogy 4 Regular"/>
                <a:ea typeface="Paperlogy 4 Regular"/>
                <a:cs typeface="Paperlogy 4 Regular"/>
              </a:rPr>
              <a:t>→</a:t>
            </a:r>
          </a:p>
        </p:txBody>
      </p:sp>
      <p:sp>
        <p:nvSpPr>
          <p:cNvPr id="37" name="도형"/>
          <p:cNvSpPr/>
          <p:nvPr/>
        </p:nvSpPr>
        <p:spPr>
          <a:xfrm>
            <a:off x="4007048" y="5789612"/>
            <a:ext cx="811411" cy="3016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FD3A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텍스트"/>
          <p:cNvSpPr txBox="1"/>
          <p:nvPr/>
        </p:nvSpPr>
        <p:spPr>
          <a:xfrm>
            <a:off x="4145161" y="5853112"/>
            <a:ext cx="674886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FD3AC"/>
                </a:solidFill>
                <a:latin typeface="Paperlogy 7 Bold"/>
                <a:ea typeface="Paperlogy 7 Bold"/>
                <a:cs typeface="Paperlogy 7 Bold"/>
              </a:rPr>
              <a:t>개선 확인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806450" y="6415088"/>
            <a:ext cx="163274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러닝으로 만드는 AI 생활안전망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10944076" y="6415088"/>
            <a:ext cx="58117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"/>
          <p:cNvSpPr txBox="1"/>
          <p:nvPr/>
        </p:nvSpPr>
        <p:spPr>
          <a:xfrm>
            <a:off x="806450" y="737096"/>
            <a:ext cx="579884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4">
                <a:solidFill>
                  <a:srgbClr val="B7A2FF"/>
                </a:solidFill>
                <a:latin typeface="Paperlogy 7 Bold"/>
                <a:ea typeface="Paperlogy 7 Bold"/>
                <a:cs typeface="Paperlogy 7 Bold"/>
              </a:rPr>
              <a:t>서비스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806450" y="1056630"/>
            <a:ext cx="3294464" cy="7792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67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 spc="-7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순찰 중 필요한 기능을</a:t>
            </a:r>
          </a:p>
          <a:p>
            <a:pPr algn="l">
              <a:lnSpc>
                <a:spcPts val="3067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 spc="-78">
                <a:solidFill>
                  <a:srgbClr val="B7A2FF"/>
                </a:solidFill>
                <a:latin typeface="Paperlogy 8 ExtraBold"/>
                <a:ea typeface="Paperlogy 8 ExtraBold"/>
                <a:cs typeface="Paperlogy 8 ExtraBold"/>
              </a:rPr>
              <a:t>네 개의 탭</a:t>
            </a:r>
            <a:r>
              <a:rPr sz="2600" b="0" i="0" spc="-7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에 담았습니다</a:t>
            </a:r>
          </a:p>
        </p:txBody>
      </p:sp>
      <p:cxnSp>
        <p:nvCxnSpPr>
          <p:cNvPr id="4" name="선"/>
          <p:cNvCxnSpPr/>
          <p:nvPr/>
        </p:nvCxnSpPr>
        <p:spPr>
          <a:xfrm>
            <a:off x="812800" y="2044998"/>
            <a:ext cx="69469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806450" y="2146598"/>
            <a:ext cx="54104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spc="-54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순찰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089150" y="2211437"/>
            <a:ext cx="3324533" cy="4327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03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오늘의 코스와 점검 지점을 확인하고,</a:t>
            </a:r>
          </a:p>
          <a:p>
            <a:pPr algn="l">
              <a:lnSpc>
                <a:spcPts val="1703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순찰을 시작하면 활동 시간이 자동으로 기록됩니다.</a:t>
            </a:r>
          </a:p>
        </p:txBody>
      </p:sp>
      <p:cxnSp>
        <p:nvCxnSpPr>
          <p:cNvPr id="7" name="선"/>
          <p:cNvCxnSpPr/>
          <p:nvPr/>
        </p:nvCxnSpPr>
        <p:spPr>
          <a:xfrm>
            <a:off x="812800" y="2757190"/>
            <a:ext cx="69469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806450" y="2858790"/>
            <a:ext cx="54104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spc="-54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제보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89150" y="2923629"/>
            <a:ext cx="2402513" cy="4327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03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사진 한 장과 짧은 메모만 남기면</a:t>
            </a:r>
          </a:p>
          <a:p>
            <a:pPr algn="l">
              <a:lnSpc>
                <a:spcPts val="1703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위치 정보와 함께 제보가 등록됩니다.</a:t>
            </a:r>
          </a:p>
        </p:txBody>
      </p:sp>
      <p:cxnSp>
        <p:nvCxnSpPr>
          <p:cNvPr id="10" name="선"/>
          <p:cNvCxnSpPr/>
          <p:nvPr/>
        </p:nvCxnSpPr>
        <p:spPr>
          <a:xfrm>
            <a:off x="812800" y="3469382"/>
            <a:ext cx="69469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806450" y="3570982"/>
            <a:ext cx="92968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spc="-54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위험지도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89150" y="3635821"/>
            <a:ext cx="2550016" cy="4327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03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반복 제보와 사고 이력을 결합해</a:t>
            </a:r>
          </a:p>
          <a:p>
            <a:pPr algn="l">
              <a:lnSpc>
                <a:spcPts val="1703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우선 점검이 필요한 장소를 보여줍니다.</a:t>
            </a:r>
          </a:p>
        </p:txBody>
      </p:sp>
      <p:cxnSp>
        <p:nvCxnSpPr>
          <p:cNvPr id="13" name="선"/>
          <p:cNvCxnSpPr/>
          <p:nvPr/>
        </p:nvCxnSpPr>
        <p:spPr>
          <a:xfrm>
            <a:off x="812800" y="4181574"/>
            <a:ext cx="69469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14" name="선"/>
          <p:cNvCxnSpPr/>
          <p:nvPr/>
        </p:nvCxnSpPr>
        <p:spPr>
          <a:xfrm>
            <a:off x="812800" y="4893766"/>
            <a:ext cx="69469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806450" y="4283174"/>
            <a:ext cx="778768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spc="-54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내 활동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89150" y="4348014"/>
            <a:ext cx="2402513" cy="4327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03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누적 봉사시간과</a:t>
            </a:r>
          </a:p>
          <a:p>
            <a:pPr algn="l">
              <a:lnSpc>
                <a:spcPts val="1703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직접 확인한 개선 결과를 확인합니다.</a:t>
            </a:r>
          </a:p>
        </p:txBody>
      </p:sp>
      <p:sp>
        <p:nvSpPr>
          <p:cNvPr id="17" name="도형"/>
          <p:cNvSpPr/>
          <p:nvPr/>
        </p:nvSpPr>
        <p:spPr>
          <a:xfrm>
            <a:off x="812800" y="5074741"/>
            <a:ext cx="990600" cy="9906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QR 코드"/>
          <p:cNvSpPr/>
          <p:nvPr/>
        </p:nvSpPr>
        <p:spPr>
          <a:xfrm>
            <a:off x="889000" y="5150941"/>
            <a:ext cx="838200" cy="838200"/>
          </a:xfrm>
          <a:custGeom>
            <a:avLst/>
            <a:gdLst/>
            <a:ahLst/>
            <a:cxnLst/>
            <a:rect l="l" t="t" r="r" b="b"/>
            <a:pathLst>
              <a:path w="838200" h="838200">
                <a:moveTo>
                  <a:pt x="0" y="0"/>
                </a:moveTo>
                <a:lnTo>
                  <a:pt x="177800" y="0"/>
                </a:lnTo>
                <a:lnTo>
                  <a:pt x="177800" y="25400"/>
                </a:lnTo>
                <a:lnTo>
                  <a:pt x="0" y="25400"/>
                </a:lnTo>
                <a:close/>
                <a:moveTo>
                  <a:pt x="228600" y="0"/>
                </a:moveTo>
                <a:lnTo>
                  <a:pt x="254000" y="0"/>
                </a:lnTo>
                <a:lnTo>
                  <a:pt x="254000" y="25400"/>
                </a:lnTo>
                <a:lnTo>
                  <a:pt x="228600" y="25400"/>
                </a:lnTo>
                <a:close/>
                <a:moveTo>
                  <a:pt x="304800" y="0"/>
                </a:moveTo>
                <a:lnTo>
                  <a:pt x="330200" y="0"/>
                </a:lnTo>
                <a:lnTo>
                  <a:pt x="330200" y="25400"/>
                </a:lnTo>
                <a:lnTo>
                  <a:pt x="304800" y="25400"/>
                </a:lnTo>
                <a:close/>
                <a:moveTo>
                  <a:pt x="406400" y="0"/>
                </a:moveTo>
                <a:lnTo>
                  <a:pt x="558800" y="0"/>
                </a:lnTo>
                <a:lnTo>
                  <a:pt x="558800" y="25400"/>
                </a:lnTo>
                <a:lnTo>
                  <a:pt x="406400" y="25400"/>
                </a:lnTo>
                <a:close/>
                <a:moveTo>
                  <a:pt x="584200" y="0"/>
                </a:moveTo>
                <a:lnTo>
                  <a:pt x="609600" y="0"/>
                </a:lnTo>
                <a:lnTo>
                  <a:pt x="609600" y="25400"/>
                </a:lnTo>
                <a:lnTo>
                  <a:pt x="584200" y="25400"/>
                </a:lnTo>
                <a:close/>
                <a:moveTo>
                  <a:pt x="660400" y="0"/>
                </a:moveTo>
                <a:lnTo>
                  <a:pt x="838200" y="0"/>
                </a:lnTo>
                <a:lnTo>
                  <a:pt x="838200" y="25400"/>
                </a:lnTo>
                <a:lnTo>
                  <a:pt x="660400" y="25400"/>
                </a:lnTo>
                <a:close/>
                <a:moveTo>
                  <a:pt x="0" y="25400"/>
                </a:moveTo>
                <a:lnTo>
                  <a:pt x="25400" y="25400"/>
                </a:lnTo>
                <a:lnTo>
                  <a:pt x="25400" y="50800"/>
                </a:lnTo>
                <a:lnTo>
                  <a:pt x="0" y="50800"/>
                </a:lnTo>
                <a:close/>
                <a:moveTo>
                  <a:pt x="152400" y="25400"/>
                </a:moveTo>
                <a:lnTo>
                  <a:pt x="177800" y="25400"/>
                </a:lnTo>
                <a:lnTo>
                  <a:pt x="177800" y="50800"/>
                </a:lnTo>
                <a:lnTo>
                  <a:pt x="152400" y="50800"/>
                </a:lnTo>
                <a:close/>
                <a:moveTo>
                  <a:pt x="254000" y="25400"/>
                </a:moveTo>
                <a:lnTo>
                  <a:pt x="330200" y="25400"/>
                </a:lnTo>
                <a:lnTo>
                  <a:pt x="330200" y="50800"/>
                </a:lnTo>
                <a:lnTo>
                  <a:pt x="254000" y="50800"/>
                </a:lnTo>
                <a:close/>
                <a:moveTo>
                  <a:pt x="381000" y="25400"/>
                </a:moveTo>
                <a:lnTo>
                  <a:pt x="406400" y="25400"/>
                </a:lnTo>
                <a:lnTo>
                  <a:pt x="406400" y="50800"/>
                </a:lnTo>
                <a:lnTo>
                  <a:pt x="381000" y="50800"/>
                </a:lnTo>
                <a:close/>
                <a:moveTo>
                  <a:pt x="457200" y="25400"/>
                </a:moveTo>
                <a:lnTo>
                  <a:pt x="482600" y="25400"/>
                </a:lnTo>
                <a:lnTo>
                  <a:pt x="482600" y="50800"/>
                </a:lnTo>
                <a:lnTo>
                  <a:pt x="457200" y="50800"/>
                </a:lnTo>
                <a:close/>
                <a:moveTo>
                  <a:pt x="508000" y="25400"/>
                </a:moveTo>
                <a:lnTo>
                  <a:pt x="558800" y="25400"/>
                </a:lnTo>
                <a:lnTo>
                  <a:pt x="558800" y="50800"/>
                </a:lnTo>
                <a:lnTo>
                  <a:pt x="508000" y="50800"/>
                </a:lnTo>
                <a:close/>
                <a:moveTo>
                  <a:pt x="660400" y="25400"/>
                </a:moveTo>
                <a:lnTo>
                  <a:pt x="685800" y="25400"/>
                </a:lnTo>
                <a:lnTo>
                  <a:pt x="685800" y="50800"/>
                </a:lnTo>
                <a:lnTo>
                  <a:pt x="660400" y="50800"/>
                </a:lnTo>
                <a:close/>
                <a:moveTo>
                  <a:pt x="812800" y="25400"/>
                </a:moveTo>
                <a:lnTo>
                  <a:pt x="838200" y="25400"/>
                </a:lnTo>
                <a:lnTo>
                  <a:pt x="838200" y="50800"/>
                </a:lnTo>
                <a:lnTo>
                  <a:pt x="812800" y="50800"/>
                </a:lnTo>
                <a:close/>
                <a:moveTo>
                  <a:pt x="0" y="50800"/>
                </a:moveTo>
                <a:lnTo>
                  <a:pt x="25400" y="50800"/>
                </a:lnTo>
                <a:lnTo>
                  <a:pt x="25400" y="76200"/>
                </a:lnTo>
                <a:lnTo>
                  <a:pt x="0" y="76200"/>
                </a:lnTo>
                <a:close/>
                <a:moveTo>
                  <a:pt x="50800" y="50800"/>
                </a:moveTo>
                <a:lnTo>
                  <a:pt x="127000" y="50800"/>
                </a:lnTo>
                <a:lnTo>
                  <a:pt x="127000" y="76200"/>
                </a:lnTo>
                <a:lnTo>
                  <a:pt x="50800" y="76200"/>
                </a:lnTo>
                <a:close/>
                <a:moveTo>
                  <a:pt x="152400" y="50800"/>
                </a:moveTo>
                <a:lnTo>
                  <a:pt x="177800" y="50800"/>
                </a:lnTo>
                <a:lnTo>
                  <a:pt x="177800" y="76200"/>
                </a:lnTo>
                <a:lnTo>
                  <a:pt x="152400" y="76200"/>
                </a:lnTo>
                <a:close/>
                <a:moveTo>
                  <a:pt x="203200" y="50800"/>
                </a:moveTo>
                <a:lnTo>
                  <a:pt x="330200" y="50800"/>
                </a:lnTo>
                <a:lnTo>
                  <a:pt x="330200" y="76200"/>
                </a:lnTo>
                <a:lnTo>
                  <a:pt x="203200" y="76200"/>
                </a:lnTo>
                <a:close/>
                <a:moveTo>
                  <a:pt x="355600" y="50800"/>
                </a:moveTo>
                <a:lnTo>
                  <a:pt x="431800" y="50800"/>
                </a:lnTo>
                <a:lnTo>
                  <a:pt x="431800" y="76200"/>
                </a:lnTo>
                <a:lnTo>
                  <a:pt x="355600" y="76200"/>
                </a:lnTo>
                <a:close/>
                <a:moveTo>
                  <a:pt x="508000" y="50800"/>
                </a:moveTo>
                <a:lnTo>
                  <a:pt x="584200" y="50800"/>
                </a:lnTo>
                <a:lnTo>
                  <a:pt x="584200" y="76200"/>
                </a:lnTo>
                <a:lnTo>
                  <a:pt x="508000" y="76200"/>
                </a:lnTo>
                <a:close/>
                <a:moveTo>
                  <a:pt x="609600" y="50800"/>
                </a:moveTo>
                <a:lnTo>
                  <a:pt x="635000" y="50800"/>
                </a:lnTo>
                <a:lnTo>
                  <a:pt x="635000" y="76200"/>
                </a:lnTo>
                <a:lnTo>
                  <a:pt x="609600" y="76200"/>
                </a:lnTo>
                <a:close/>
                <a:moveTo>
                  <a:pt x="660400" y="50800"/>
                </a:moveTo>
                <a:lnTo>
                  <a:pt x="685800" y="50800"/>
                </a:lnTo>
                <a:lnTo>
                  <a:pt x="685800" y="76200"/>
                </a:lnTo>
                <a:lnTo>
                  <a:pt x="660400" y="76200"/>
                </a:lnTo>
                <a:close/>
                <a:moveTo>
                  <a:pt x="711200" y="50800"/>
                </a:moveTo>
                <a:lnTo>
                  <a:pt x="787400" y="50800"/>
                </a:lnTo>
                <a:lnTo>
                  <a:pt x="787400" y="76200"/>
                </a:lnTo>
                <a:lnTo>
                  <a:pt x="711200" y="76200"/>
                </a:lnTo>
                <a:close/>
                <a:moveTo>
                  <a:pt x="812800" y="50800"/>
                </a:moveTo>
                <a:lnTo>
                  <a:pt x="838200" y="50800"/>
                </a:lnTo>
                <a:lnTo>
                  <a:pt x="838200" y="76200"/>
                </a:lnTo>
                <a:lnTo>
                  <a:pt x="812800" y="76200"/>
                </a:lnTo>
                <a:close/>
                <a:moveTo>
                  <a:pt x="0" y="76200"/>
                </a:moveTo>
                <a:lnTo>
                  <a:pt x="25400" y="76200"/>
                </a:lnTo>
                <a:lnTo>
                  <a:pt x="25400" y="101600"/>
                </a:lnTo>
                <a:lnTo>
                  <a:pt x="0" y="101600"/>
                </a:lnTo>
                <a:close/>
                <a:moveTo>
                  <a:pt x="50800" y="76200"/>
                </a:moveTo>
                <a:lnTo>
                  <a:pt x="127000" y="76200"/>
                </a:lnTo>
                <a:lnTo>
                  <a:pt x="127000" y="101600"/>
                </a:lnTo>
                <a:lnTo>
                  <a:pt x="50800" y="101600"/>
                </a:lnTo>
                <a:close/>
                <a:moveTo>
                  <a:pt x="152400" y="76200"/>
                </a:moveTo>
                <a:lnTo>
                  <a:pt x="177800" y="76200"/>
                </a:lnTo>
                <a:lnTo>
                  <a:pt x="177800" y="101600"/>
                </a:lnTo>
                <a:lnTo>
                  <a:pt x="152400" y="101600"/>
                </a:lnTo>
                <a:close/>
                <a:moveTo>
                  <a:pt x="203200" y="76200"/>
                </a:moveTo>
                <a:lnTo>
                  <a:pt x="228600" y="76200"/>
                </a:lnTo>
                <a:lnTo>
                  <a:pt x="228600" y="101600"/>
                </a:lnTo>
                <a:lnTo>
                  <a:pt x="203200" y="101600"/>
                </a:lnTo>
                <a:close/>
                <a:moveTo>
                  <a:pt x="254000" y="76200"/>
                </a:moveTo>
                <a:lnTo>
                  <a:pt x="279400" y="76200"/>
                </a:lnTo>
                <a:lnTo>
                  <a:pt x="279400" y="101600"/>
                </a:lnTo>
                <a:lnTo>
                  <a:pt x="254000" y="101600"/>
                </a:lnTo>
                <a:close/>
                <a:moveTo>
                  <a:pt x="304800" y="76200"/>
                </a:moveTo>
                <a:lnTo>
                  <a:pt x="330200" y="76200"/>
                </a:lnTo>
                <a:lnTo>
                  <a:pt x="330200" y="101600"/>
                </a:lnTo>
                <a:lnTo>
                  <a:pt x="304800" y="101600"/>
                </a:lnTo>
                <a:close/>
                <a:moveTo>
                  <a:pt x="381000" y="76200"/>
                </a:moveTo>
                <a:lnTo>
                  <a:pt x="406400" y="76200"/>
                </a:lnTo>
                <a:lnTo>
                  <a:pt x="406400" y="101600"/>
                </a:lnTo>
                <a:lnTo>
                  <a:pt x="381000" y="101600"/>
                </a:lnTo>
                <a:close/>
                <a:moveTo>
                  <a:pt x="431800" y="76200"/>
                </a:moveTo>
                <a:lnTo>
                  <a:pt x="533400" y="76200"/>
                </a:lnTo>
                <a:lnTo>
                  <a:pt x="533400" y="101600"/>
                </a:lnTo>
                <a:lnTo>
                  <a:pt x="431800" y="101600"/>
                </a:lnTo>
                <a:close/>
                <a:moveTo>
                  <a:pt x="558800" y="76200"/>
                </a:moveTo>
                <a:lnTo>
                  <a:pt x="635000" y="76200"/>
                </a:lnTo>
                <a:lnTo>
                  <a:pt x="635000" y="101600"/>
                </a:lnTo>
                <a:lnTo>
                  <a:pt x="558800" y="101600"/>
                </a:lnTo>
                <a:close/>
                <a:moveTo>
                  <a:pt x="660400" y="76200"/>
                </a:moveTo>
                <a:lnTo>
                  <a:pt x="685800" y="76200"/>
                </a:lnTo>
                <a:lnTo>
                  <a:pt x="685800" y="101600"/>
                </a:lnTo>
                <a:lnTo>
                  <a:pt x="660400" y="101600"/>
                </a:lnTo>
                <a:close/>
                <a:moveTo>
                  <a:pt x="711200" y="76200"/>
                </a:moveTo>
                <a:lnTo>
                  <a:pt x="787400" y="76200"/>
                </a:lnTo>
                <a:lnTo>
                  <a:pt x="787400" y="101600"/>
                </a:lnTo>
                <a:lnTo>
                  <a:pt x="711200" y="101600"/>
                </a:lnTo>
                <a:close/>
                <a:moveTo>
                  <a:pt x="812800" y="76200"/>
                </a:moveTo>
                <a:lnTo>
                  <a:pt x="838200" y="76200"/>
                </a:lnTo>
                <a:lnTo>
                  <a:pt x="838200" y="101600"/>
                </a:lnTo>
                <a:lnTo>
                  <a:pt x="812800" y="101600"/>
                </a:lnTo>
                <a:close/>
                <a:moveTo>
                  <a:pt x="0" y="101600"/>
                </a:moveTo>
                <a:lnTo>
                  <a:pt x="25400" y="101600"/>
                </a:lnTo>
                <a:lnTo>
                  <a:pt x="25400" y="127000"/>
                </a:lnTo>
                <a:lnTo>
                  <a:pt x="0" y="127000"/>
                </a:lnTo>
                <a:close/>
                <a:moveTo>
                  <a:pt x="50800" y="101600"/>
                </a:moveTo>
                <a:lnTo>
                  <a:pt x="127000" y="101600"/>
                </a:lnTo>
                <a:lnTo>
                  <a:pt x="127000" y="127000"/>
                </a:lnTo>
                <a:lnTo>
                  <a:pt x="50800" y="127000"/>
                </a:lnTo>
                <a:close/>
                <a:moveTo>
                  <a:pt x="152400" y="101600"/>
                </a:moveTo>
                <a:lnTo>
                  <a:pt x="177800" y="101600"/>
                </a:lnTo>
                <a:lnTo>
                  <a:pt x="177800" y="127000"/>
                </a:lnTo>
                <a:lnTo>
                  <a:pt x="152400" y="127000"/>
                </a:lnTo>
                <a:close/>
                <a:moveTo>
                  <a:pt x="203200" y="101600"/>
                </a:moveTo>
                <a:lnTo>
                  <a:pt x="254000" y="101600"/>
                </a:lnTo>
                <a:lnTo>
                  <a:pt x="254000" y="127000"/>
                </a:lnTo>
                <a:lnTo>
                  <a:pt x="203200" y="127000"/>
                </a:lnTo>
                <a:close/>
                <a:moveTo>
                  <a:pt x="330200" y="101600"/>
                </a:moveTo>
                <a:lnTo>
                  <a:pt x="533400" y="101600"/>
                </a:lnTo>
                <a:lnTo>
                  <a:pt x="533400" y="127000"/>
                </a:lnTo>
                <a:lnTo>
                  <a:pt x="330200" y="127000"/>
                </a:lnTo>
                <a:close/>
                <a:moveTo>
                  <a:pt x="584200" y="101600"/>
                </a:moveTo>
                <a:lnTo>
                  <a:pt x="609600" y="101600"/>
                </a:lnTo>
                <a:lnTo>
                  <a:pt x="609600" y="127000"/>
                </a:lnTo>
                <a:lnTo>
                  <a:pt x="584200" y="127000"/>
                </a:lnTo>
                <a:close/>
                <a:moveTo>
                  <a:pt x="660400" y="101600"/>
                </a:moveTo>
                <a:lnTo>
                  <a:pt x="685800" y="101600"/>
                </a:lnTo>
                <a:lnTo>
                  <a:pt x="685800" y="127000"/>
                </a:lnTo>
                <a:lnTo>
                  <a:pt x="660400" y="127000"/>
                </a:lnTo>
                <a:close/>
                <a:moveTo>
                  <a:pt x="711200" y="101600"/>
                </a:moveTo>
                <a:lnTo>
                  <a:pt x="787400" y="101600"/>
                </a:lnTo>
                <a:lnTo>
                  <a:pt x="787400" y="127000"/>
                </a:lnTo>
                <a:lnTo>
                  <a:pt x="711200" y="127000"/>
                </a:lnTo>
                <a:close/>
                <a:moveTo>
                  <a:pt x="812800" y="101600"/>
                </a:moveTo>
                <a:lnTo>
                  <a:pt x="838200" y="101600"/>
                </a:lnTo>
                <a:lnTo>
                  <a:pt x="838200" y="127000"/>
                </a:lnTo>
                <a:lnTo>
                  <a:pt x="812800" y="127000"/>
                </a:lnTo>
                <a:close/>
                <a:moveTo>
                  <a:pt x="0" y="127000"/>
                </a:moveTo>
                <a:lnTo>
                  <a:pt x="25400" y="127000"/>
                </a:lnTo>
                <a:lnTo>
                  <a:pt x="25400" y="152400"/>
                </a:lnTo>
                <a:lnTo>
                  <a:pt x="0" y="152400"/>
                </a:lnTo>
                <a:close/>
                <a:moveTo>
                  <a:pt x="152400" y="127000"/>
                </a:moveTo>
                <a:lnTo>
                  <a:pt x="177800" y="127000"/>
                </a:lnTo>
                <a:lnTo>
                  <a:pt x="177800" y="152400"/>
                </a:lnTo>
                <a:lnTo>
                  <a:pt x="152400" y="152400"/>
                </a:lnTo>
                <a:close/>
                <a:moveTo>
                  <a:pt x="203200" y="127000"/>
                </a:moveTo>
                <a:lnTo>
                  <a:pt x="279400" y="127000"/>
                </a:lnTo>
                <a:lnTo>
                  <a:pt x="279400" y="152400"/>
                </a:lnTo>
                <a:lnTo>
                  <a:pt x="203200" y="152400"/>
                </a:lnTo>
                <a:close/>
                <a:moveTo>
                  <a:pt x="558800" y="127000"/>
                </a:moveTo>
                <a:lnTo>
                  <a:pt x="584200" y="127000"/>
                </a:lnTo>
                <a:lnTo>
                  <a:pt x="584200" y="152400"/>
                </a:lnTo>
                <a:lnTo>
                  <a:pt x="558800" y="152400"/>
                </a:lnTo>
                <a:close/>
                <a:moveTo>
                  <a:pt x="660400" y="127000"/>
                </a:moveTo>
                <a:lnTo>
                  <a:pt x="685800" y="127000"/>
                </a:lnTo>
                <a:lnTo>
                  <a:pt x="685800" y="152400"/>
                </a:lnTo>
                <a:lnTo>
                  <a:pt x="660400" y="152400"/>
                </a:lnTo>
                <a:close/>
                <a:moveTo>
                  <a:pt x="812800" y="127000"/>
                </a:moveTo>
                <a:lnTo>
                  <a:pt x="838200" y="127000"/>
                </a:lnTo>
                <a:lnTo>
                  <a:pt x="838200" y="152400"/>
                </a:lnTo>
                <a:lnTo>
                  <a:pt x="812800" y="152400"/>
                </a:lnTo>
                <a:close/>
                <a:moveTo>
                  <a:pt x="0" y="152400"/>
                </a:moveTo>
                <a:lnTo>
                  <a:pt x="177800" y="152400"/>
                </a:lnTo>
                <a:lnTo>
                  <a:pt x="177800" y="177800"/>
                </a:lnTo>
                <a:lnTo>
                  <a:pt x="0" y="177800"/>
                </a:lnTo>
                <a:close/>
                <a:moveTo>
                  <a:pt x="203200" y="152400"/>
                </a:moveTo>
                <a:lnTo>
                  <a:pt x="228600" y="152400"/>
                </a:lnTo>
                <a:lnTo>
                  <a:pt x="228600" y="177800"/>
                </a:lnTo>
                <a:lnTo>
                  <a:pt x="203200" y="177800"/>
                </a:lnTo>
                <a:close/>
                <a:moveTo>
                  <a:pt x="254000" y="152400"/>
                </a:moveTo>
                <a:lnTo>
                  <a:pt x="279400" y="152400"/>
                </a:lnTo>
                <a:lnTo>
                  <a:pt x="279400" y="177800"/>
                </a:lnTo>
                <a:lnTo>
                  <a:pt x="254000" y="177800"/>
                </a:lnTo>
                <a:close/>
                <a:moveTo>
                  <a:pt x="304800" y="152400"/>
                </a:moveTo>
                <a:lnTo>
                  <a:pt x="330200" y="152400"/>
                </a:lnTo>
                <a:lnTo>
                  <a:pt x="330200" y="177800"/>
                </a:lnTo>
                <a:lnTo>
                  <a:pt x="304800" y="177800"/>
                </a:lnTo>
                <a:close/>
                <a:moveTo>
                  <a:pt x="355600" y="152400"/>
                </a:moveTo>
                <a:lnTo>
                  <a:pt x="381000" y="152400"/>
                </a:lnTo>
                <a:lnTo>
                  <a:pt x="381000" y="177800"/>
                </a:lnTo>
                <a:lnTo>
                  <a:pt x="355600" y="177800"/>
                </a:lnTo>
                <a:close/>
                <a:moveTo>
                  <a:pt x="406400" y="152400"/>
                </a:moveTo>
                <a:lnTo>
                  <a:pt x="431800" y="152400"/>
                </a:lnTo>
                <a:lnTo>
                  <a:pt x="431800" y="177800"/>
                </a:lnTo>
                <a:lnTo>
                  <a:pt x="406400" y="177800"/>
                </a:lnTo>
                <a:close/>
                <a:moveTo>
                  <a:pt x="457200" y="152400"/>
                </a:moveTo>
                <a:lnTo>
                  <a:pt x="482600" y="152400"/>
                </a:lnTo>
                <a:lnTo>
                  <a:pt x="482600" y="177800"/>
                </a:lnTo>
                <a:lnTo>
                  <a:pt x="457200" y="177800"/>
                </a:lnTo>
                <a:close/>
                <a:moveTo>
                  <a:pt x="508000" y="152400"/>
                </a:moveTo>
                <a:lnTo>
                  <a:pt x="533400" y="152400"/>
                </a:lnTo>
                <a:lnTo>
                  <a:pt x="533400" y="177800"/>
                </a:lnTo>
                <a:lnTo>
                  <a:pt x="508000" y="177800"/>
                </a:lnTo>
                <a:close/>
                <a:moveTo>
                  <a:pt x="558800" y="152400"/>
                </a:moveTo>
                <a:lnTo>
                  <a:pt x="584200" y="152400"/>
                </a:lnTo>
                <a:lnTo>
                  <a:pt x="584200" y="177800"/>
                </a:lnTo>
                <a:lnTo>
                  <a:pt x="558800" y="177800"/>
                </a:lnTo>
                <a:close/>
                <a:moveTo>
                  <a:pt x="609600" y="152400"/>
                </a:moveTo>
                <a:lnTo>
                  <a:pt x="635000" y="152400"/>
                </a:lnTo>
                <a:lnTo>
                  <a:pt x="635000" y="177800"/>
                </a:lnTo>
                <a:lnTo>
                  <a:pt x="609600" y="177800"/>
                </a:lnTo>
                <a:close/>
                <a:moveTo>
                  <a:pt x="660400" y="152400"/>
                </a:moveTo>
                <a:lnTo>
                  <a:pt x="838200" y="152400"/>
                </a:lnTo>
                <a:lnTo>
                  <a:pt x="838200" y="177800"/>
                </a:lnTo>
                <a:lnTo>
                  <a:pt x="660400" y="177800"/>
                </a:lnTo>
                <a:close/>
                <a:moveTo>
                  <a:pt x="203200" y="177800"/>
                </a:moveTo>
                <a:lnTo>
                  <a:pt x="254000" y="177800"/>
                </a:lnTo>
                <a:lnTo>
                  <a:pt x="254000" y="203200"/>
                </a:lnTo>
                <a:lnTo>
                  <a:pt x="203200" y="203200"/>
                </a:lnTo>
                <a:close/>
                <a:moveTo>
                  <a:pt x="279400" y="177800"/>
                </a:moveTo>
                <a:lnTo>
                  <a:pt x="330200" y="177800"/>
                </a:lnTo>
                <a:lnTo>
                  <a:pt x="330200" y="203200"/>
                </a:lnTo>
                <a:lnTo>
                  <a:pt x="279400" y="203200"/>
                </a:lnTo>
                <a:close/>
                <a:moveTo>
                  <a:pt x="406400" y="177800"/>
                </a:moveTo>
                <a:lnTo>
                  <a:pt x="431800" y="177800"/>
                </a:lnTo>
                <a:lnTo>
                  <a:pt x="431800" y="203200"/>
                </a:lnTo>
                <a:lnTo>
                  <a:pt x="406400" y="203200"/>
                </a:lnTo>
                <a:close/>
                <a:moveTo>
                  <a:pt x="457200" y="177800"/>
                </a:moveTo>
                <a:lnTo>
                  <a:pt x="482600" y="177800"/>
                </a:lnTo>
                <a:lnTo>
                  <a:pt x="482600" y="203200"/>
                </a:lnTo>
                <a:lnTo>
                  <a:pt x="457200" y="203200"/>
                </a:lnTo>
                <a:close/>
                <a:moveTo>
                  <a:pt x="508000" y="177800"/>
                </a:moveTo>
                <a:lnTo>
                  <a:pt x="558800" y="177800"/>
                </a:lnTo>
                <a:lnTo>
                  <a:pt x="558800" y="203200"/>
                </a:lnTo>
                <a:lnTo>
                  <a:pt x="508000" y="203200"/>
                </a:lnTo>
                <a:close/>
                <a:moveTo>
                  <a:pt x="0" y="203200"/>
                </a:moveTo>
                <a:lnTo>
                  <a:pt x="25400" y="203200"/>
                </a:lnTo>
                <a:lnTo>
                  <a:pt x="25400" y="228600"/>
                </a:lnTo>
                <a:lnTo>
                  <a:pt x="0" y="228600"/>
                </a:lnTo>
                <a:close/>
                <a:moveTo>
                  <a:pt x="50800" y="203200"/>
                </a:moveTo>
                <a:lnTo>
                  <a:pt x="177800" y="203200"/>
                </a:lnTo>
                <a:lnTo>
                  <a:pt x="177800" y="228600"/>
                </a:lnTo>
                <a:lnTo>
                  <a:pt x="50800" y="228600"/>
                </a:lnTo>
                <a:close/>
                <a:moveTo>
                  <a:pt x="254000" y="203200"/>
                </a:moveTo>
                <a:lnTo>
                  <a:pt x="279400" y="203200"/>
                </a:lnTo>
                <a:lnTo>
                  <a:pt x="279400" y="228600"/>
                </a:lnTo>
                <a:lnTo>
                  <a:pt x="254000" y="228600"/>
                </a:lnTo>
                <a:close/>
                <a:moveTo>
                  <a:pt x="304800" y="203200"/>
                </a:moveTo>
                <a:lnTo>
                  <a:pt x="381000" y="203200"/>
                </a:lnTo>
                <a:lnTo>
                  <a:pt x="381000" y="228600"/>
                </a:lnTo>
                <a:lnTo>
                  <a:pt x="304800" y="228600"/>
                </a:lnTo>
                <a:close/>
                <a:moveTo>
                  <a:pt x="406400" y="203200"/>
                </a:moveTo>
                <a:lnTo>
                  <a:pt x="457200" y="203200"/>
                </a:lnTo>
                <a:lnTo>
                  <a:pt x="457200" y="228600"/>
                </a:lnTo>
                <a:lnTo>
                  <a:pt x="406400" y="228600"/>
                </a:lnTo>
                <a:close/>
                <a:moveTo>
                  <a:pt x="584200" y="203200"/>
                </a:moveTo>
                <a:lnTo>
                  <a:pt x="635000" y="203200"/>
                </a:lnTo>
                <a:lnTo>
                  <a:pt x="635000" y="228600"/>
                </a:lnTo>
                <a:lnTo>
                  <a:pt x="584200" y="228600"/>
                </a:lnTo>
                <a:close/>
                <a:moveTo>
                  <a:pt x="660400" y="203200"/>
                </a:moveTo>
                <a:lnTo>
                  <a:pt x="787400" y="203200"/>
                </a:lnTo>
                <a:lnTo>
                  <a:pt x="787400" y="228600"/>
                </a:lnTo>
                <a:lnTo>
                  <a:pt x="660400" y="228600"/>
                </a:lnTo>
                <a:close/>
                <a:moveTo>
                  <a:pt x="25400" y="228600"/>
                </a:moveTo>
                <a:lnTo>
                  <a:pt x="50800" y="228600"/>
                </a:lnTo>
                <a:lnTo>
                  <a:pt x="50800" y="254000"/>
                </a:lnTo>
                <a:lnTo>
                  <a:pt x="25400" y="254000"/>
                </a:lnTo>
                <a:close/>
                <a:moveTo>
                  <a:pt x="76200" y="228600"/>
                </a:moveTo>
                <a:lnTo>
                  <a:pt x="152400" y="228600"/>
                </a:lnTo>
                <a:lnTo>
                  <a:pt x="152400" y="254000"/>
                </a:lnTo>
                <a:lnTo>
                  <a:pt x="76200" y="254000"/>
                </a:lnTo>
                <a:close/>
                <a:moveTo>
                  <a:pt x="177800" y="228600"/>
                </a:moveTo>
                <a:lnTo>
                  <a:pt x="203200" y="228600"/>
                </a:lnTo>
                <a:lnTo>
                  <a:pt x="203200" y="254000"/>
                </a:lnTo>
                <a:lnTo>
                  <a:pt x="177800" y="254000"/>
                </a:lnTo>
                <a:close/>
                <a:moveTo>
                  <a:pt x="228600" y="228600"/>
                </a:moveTo>
                <a:lnTo>
                  <a:pt x="254000" y="228600"/>
                </a:lnTo>
                <a:lnTo>
                  <a:pt x="254000" y="254000"/>
                </a:lnTo>
                <a:lnTo>
                  <a:pt x="228600" y="254000"/>
                </a:lnTo>
                <a:close/>
                <a:moveTo>
                  <a:pt x="304800" y="228600"/>
                </a:moveTo>
                <a:lnTo>
                  <a:pt x="381000" y="228600"/>
                </a:lnTo>
                <a:lnTo>
                  <a:pt x="381000" y="254000"/>
                </a:lnTo>
                <a:lnTo>
                  <a:pt x="304800" y="254000"/>
                </a:lnTo>
                <a:close/>
                <a:moveTo>
                  <a:pt x="406400" y="228600"/>
                </a:moveTo>
                <a:lnTo>
                  <a:pt x="508000" y="228600"/>
                </a:lnTo>
                <a:lnTo>
                  <a:pt x="508000" y="254000"/>
                </a:lnTo>
                <a:lnTo>
                  <a:pt x="406400" y="254000"/>
                </a:lnTo>
                <a:close/>
                <a:moveTo>
                  <a:pt x="558800" y="228600"/>
                </a:moveTo>
                <a:lnTo>
                  <a:pt x="609600" y="228600"/>
                </a:lnTo>
                <a:lnTo>
                  <a:pt x="609600" y="254000"/>
                </a:lnTo>
                <a:lnTo>
                  <a:pt x="558800" y="254000"/>
                </a:lnTo>
                <a:close/>
                <a:moveTo>
                  <a:pt x="660400" y="228600"/>
                </a:moveTo>
                <a:lnTo>
                  <a:pt x="711200" y="228600"/>
                </a:lnTo>
                <a:lnTo>
                  <a:pt x="711200" y="254000"/>
                </a:lnTo>
                <a:lnTo>
                  <a:pt x="660400" y="254000"/>
                </a:lnTo>
                <a:close/>
                <a:moveTo>
                  <a:pt x="736600" y="228600"/>
                </a:moveTo>
                <a:lnTo>
                  <a:pt x="787400" y="228600"/>
                </a:lnTo>
                <a:lnTo>
                  <a:pt x="787400" y="254000"/>
                </a:lnTo>
                <a:lnTo>
                  <a:pt x="736600" y="254000"/>
                </a:lnTo>
                <a:close/>
                <a:moveTo>
                  <a:pt x="812800" y="228600"/>
                </a:moveTo>
                <a:lnTo>
                  <a:pt x="838200" y="228600"/>
                </a:lnTo>
                <a:lnTo>
                  <a:pt x="838200" y="254000"/>
                </a:lnTo>
                <a:lnTo>
                  <a:pt x="812800" y="254000"/>
                </a:lnTo>
                <a:close/>
                <a:moveTo>
                  <a:pt x="101600" y="254000"/>
                </a:moveTo>
                <a:lnTo>
                  <a:pt x="177800" y="254000"/>
                </a:lnTo>
                <a:lnTo>
                  <a:pt x="177800" y="279400"/>
                </a:lnTo>
                <a:lnTo>
                  <a:pt x="101600" y="279400"/>
                </a:lnTo>
                <a:close/>
                <a:moveTo>
                  <a:pt x="228600" y="254000"/>
                </a:moveTo>
                <a:lnTo>
                  <a:pt x="254000" y="254000"/>
                </a:lnTo>
                <a:lnTo>
                  <a:pt x="254000" y="279400"/>
                </a:lnTo>
                <a:lnTo>
                  <a:pt x="228600" y="279400"/>
                </a:lnTo>
                <a:close/>
                <a:moveTo>
                  <a:pt x="304800" y="254000"/>
                </a:moveTo>
                <a:lnTo>
                  <a:pt x="457200" y="254000"/>
                </a:lnTo>
                <a:lnTo>
                  <a:pt x="457200" y="279400"/>
                </a:lnTo>
                <a:lnTo>
                  <a:pt x="304800" y="279400"/>
                </a:lnTo>
                <a:close/>
                <a:moveTo>
                  <a:pt x="508000" y="254000"/>
                </a:moveTo>
                <a:lnTo>
                  <a:pt x="558800" y="254000"/>
                </a:lnTo>
                <a:lnTo>
                  <a:pt x="558800" y="279400"/>
                </a:lnTo>
                <a:lnTo>
                  <a:pt x="508000" y="279400"/>
                </a:lnTo>
                <a:close/>
                <a:moveTo>
                  <a:pt x="635000" y="254000"/>
                </a:moveTo>
                <a:lnTo>
                  <a:pt x="685800" y="254000"/>
                </a:lnTo>
                <a:lnTo>
                  <a:pt x="685800" y="279400"/>
                </a:lnTo>
                <a:lnTo>
                  <a:pt x="635000" y="279400"/>
                </a:lnTo>
                <a:close/>
                <a:moveTo>
                  <a:pt x="711200" y="254000"/>
                </a:moveTo>
                <a:lnTo>
                  <a:pt x="736600" y="254000"/>
                </a:lnTo>
                <a:lnTo>
                  <a:pt x="736600" y="279400"/>
                </a:lnTo>
                <a:lnTo>
                  <a:pt x="711200" y="279400"/>
                </a:lnTo>
                <a:close/>
                <a:moveTo>
                  <a:pt x="762000" y="254000"/>
                </a:moveTo>
                <a:lnTo>
                  <a:pt x="812800" y="254000"/>
                </a:lnTo>
                <a:lnTo>
                  <a:pt x="812800" y="279400"/>
                </a:lnTo>
                <a:lnTo>
                  <a:pt x="762000" y="279400"/>
                </a:lnTo>
                <a:close/>
                <a:moveTo>
                  <a:pt x="50800" y="279400"/>
                </a:moveTo>
                <a:lnTo>
                  <a:pt x="127000" y="279400"/>
                </a:lnTo>
                <a:lnTo>
                  <a:pt x="127000" y="304800"/>
                </a:lnTo>
                <a:lnTo>
                  <a:pt x="50800" y="304800"/>
                </a:lnTo>
                <a:close/>
                <a:moveTo>
                  <a:pt x="304800" y="279400"/>
                </a:moveTo>
                <a:lnTo>
                  <a:pt x="355600" y="279400"/>
                </a:lnTo>
                <a:lnTo>
                  <a:pt x="355600" y="304800"/>
                </a:lnTo>
                <a:lnTo>
                  <a:pt x="304800" y="304800"/>
                </a:lnTo>
                <a:close/>
                <a:moveTo>
                  <a:pt x="381000" y="279400"/>
                </a:moveTo>
                <a:lnTo>
                  <a:pt x="406400" y="279400"/>
                </a:lnTo>
                <a:lnTo>
                  <a:pt x="406400" y="304800"/>
                </a:lnTo>
                <a:lnTo>
                  <a:pt x="381000" y="304800"/>
                </a:lnTo>
                <a:close/>
                <a:moveTo>
                  <a:pt x="508000" y="279400"/>
                </a:moveTo>
                <a:lnTo>
                  <a:pt x="584200" y="279400"/>
                </a:lnTo>
                <a:lnTo>
                  <a:pt x="584200" y="304800"/>
                </a:lnTo>
                <a:lnTo>
                  <a:pt x="508000" y="304800"/>
                </a:lnTo>
                <a:close/>
                <a:moveTo>
                  <a:pt x="660400" y="279400"/>
                </a:moveTo>
                <a:lnTo>
                  <a:pt x="685800" y="279400"/>
                </a:lnTo>
                <a:lnTo>
                  <a:pt x="685800" y="304800"/>
                </a:lnTo>
                <a:lnTo>
                  <a:pt x="660400" y="304800"/>
                </a:lnTo>
                <a:close/>
                <a:moveTo>
                  <a:pt x="711200" y="279400"/>
                </a:moveTo>
                <a:lnTo>
                  <a:pt x="787400" y="279400"/>
                </a:lnTo>
                <a:lnTo>
                  <a:pt x="787400" y="304800"/>
                </a:lnTo>
                <a:lnTo>
                  <a:pt x="711200" y="304800"/>
                </a:lnTo>
                <a:close/>
                <a:moveTo>
                  <a:pt x="812800" y="279400"/>
                </a:moveTo>
                <a:lnTo>
                  <a:pt x="838200" y="279400"/>
                </a:lnTo>
                <a:lnTo>
                  <a:pt x="838200" y="304800"/>
                </a:lnTo>
                <a:lnTo>
                  <a:pt x="812800" y="304800"/>
                </a:lnTo>
                <a:close/>
                <a:moveTo>
                  <a:pt x="25400" y="304800"/>
                </a:moveTo>
                <a:lnTo>
                  <a:pt x="76200" y="304800"/>
                </a:lnTo>
                <a:lnTo>
                  <a:pt x="76200" y="330200"/>
                </a:lnTo>
                <a:lnTo>
                  <a:pt x="25400" y="330200"/>
                </a:lnTo>
                <a:close/>
                <a:moveTo>
                  <a:pt x="127000" y="304800"/>
                </a:moveTo>
                <a:lnTo>
                  <a:pt x="177800" y="304800"/>
                </a:lnTo>
                <a:lnTo>
                  <a:pt x="177800" y="330200"/>
                </a:lnTo>
                <a:lnTo>
                  <a:pt x="127000" y="330200"/>
                </a:lnTo>
                <a:close/>
                <a:moveTo>
                  <a:pt x="203200" y="304800"/>
                </a:moveTo>
                <a:lnTo>
                  <a:pt x="228600" y="304800"/>
                </a:lnTo>
                <a:lnTo>
                  <a:pt x="228600" y="330200"/>
                </a:lnTo>
                <a:lnTo>
                  <a:pt x="203200" y="330200"/>
                </a:lnTo>
                <a:close/>
                <a:moveTo>
                  <a:pt x="254000" y="304800"/>
                </a:moveTo>
                <a:lnTo>
                  <a:pt x="304800" y="304800"/>
                </a:lnTo>
                <a:lnTo>
                  <a:pt x="304800" y="330200"/>
                </a:lnTo>
                <a:lnTo>
                  <a:pt x="254000" y="330200"/>
                </a:lnTo>
                <a:close/>
                <a:moveTo>
                  <a:pt x="355600" y="304800"/>
                </a:moveTo>
                <a:lnTo>
                  <a:pt x="381000" y="304800"/>
                </a:lnTo>
                <a:lnTo>
                  <a:pt x="381000" y="330200"/>
                </a:lnTo>
                <a:lnTo>
                  <a:pt x="355600" y="330200"/>
                </a:lnTo>
                <a:close/>
                <a:moveTo>
                  <a:pt x="406400" y="304800"/>
                </a:moveTo>
                <a:lnTo>
                  <a:pt x="431800" y="304800"/>
                </a:lnTo>
                <a:lnTo>
                  <a:pt x="431800" y="330200"/>
                </a:lnTo>
                <a:lnTo>
                  <a:pt x="406400" y="330200"/>
                </a:lnTo>
                <a:close/>
                <a:moveTo>
                  <a:pt x="457200" y="304800"/>
                </a:moveTo>
                <a:lnTo>
                  <a:pt x="482600" y="304800"/>
                </a:lnTo>
                <a:lnTo>
                  <a:pt x="482600" y="330200"/>
                </a:lnTo>
                <a:lnTo>
                  <a:pt x="457200" y="330200"/>
                </a:lnTo>
                <a:close/>
                <a:moveTo>
                  <a:pt x="508000" y="304800"/>
                </a:moveTo>
                <a:lnTo>
                  <a:pt x="533400" y="304800"/>
                </a:lnTo>
                <a:lnTo>
                  <a:pt x="533400" y="330200"/>
                </a:lnTo>
                <a:lnTo>
                  <a:pt x="508000" y="330200"/>
                </a:lnTo>
                <a:close/>
                <a:moveTo>
                  <a:pt x="584200" y="304800"/>
                </a:moveTo>
                <a:lnTo>
                  <a:pt x="660400" y="304800"/>
                </a:lnTo>
                <a:lnTo>
                  <a:pt x="660400" y="330200"/>
                </a:lnTo>
                <a:lnTo>
                  <a:pt x="584200" y="330200"/>
                </a:lnTo>
                <a:close/>
                <a:moveTo>
                  <a:pt x="685800" y="304800"/>
                </a:moveTo>
                <a:lnTo>
                  <a:pt x="762000" y="304800"/>
                </a:lnTo>
                <a:lnTo>
                  <a:pt x="762000" y="330200"/>
                </a:lnTo>
                <a:lnTo>
                  <a:pt x="685800" y="330200"/>
                </a:lnTo>
                <a:close/>
                <a:moveTo>
                  <a:pt x="787400" y="304800"/>
                </a:moveTo>
                <a:lnTo>
                  <a:pt x="838200" y="304800"/>
                </a:lnTo>
                <a:lnTo>
                  <a:pt x="838200" y="330200"/>
                </a:lnTo>
                <a:lnTo>
                  <a:pt x="787400" y="330200"/>
                </a:lnTo>
                <a:close/>
                <a:moveTo>
                  <a:pt x="0" y="330200"/>
                </a:moveTo>
                <a:lnTo>
                  <a:pt x="25400" y="330200"/>
                </a:lnTo>
                <a:lnTo>
                  <a:pt x="25400" y="355600"/>
                </a:lnTo>
                <a:lnTo>
                  <a:pt x="0" y="355600"/>
                </a:lnTo>
                <a:close/>
                <a:moveTo>
                  <a:pt x="76200" y="330200"/>
                </a:moveTo>
                <a:lnTo>
                  <a:pt x="152400" y="330200"/>
                </a:lnTo>
                <a:lnTo>
                  <a:pt x="152400" y="355600"/>
                </a:lnTo>
                <a:lnTo>
                  <a:pt x="76200" y="355600"/>
                </a:lnTo>
                <a:close/>
                <a:moveTo>
                  <a:pt x="203200" y="330200"/>
                </a:moveTo>
                <a:lnTo>
                  <a:pt x="254000" y="330200"/>
                </a:lnTo>
                <a:lnTo>
                  <a:pt x="254000" y="355600"/>
                </a:lnTo>
                <a:lnTo>
                  <a:pt x="203200" y="355600"/>
                </a:lnTo>
                <a:close/>
                <a:moveTo>
                  <a:pt x="304800" y="330200"/>
                </a:moveTo>
                <a:lnTo>
                  <a:pt x="355600" y="330200"/>
                </a:lnTo>
                <a:lnTo>
                  <a:pt x="355600" y="355600"/>
                </a:lnTo>
                <a:lnTo>
                  <a:pt x="304800" y="355600"/>
                </a:lnTo>
                <a:close/>
                <a:moveTo>
                  <a:pt x="381000" y="330200"/>
                </a:moveTo>
                <a:lnTo>
                  <a:pt x="406400" y="330200"/>
                </a:lnTo>
                <a:lnTo>
                  <a:pt x="406400" y="355600"/>
                </a:lnTo>
                <a:lnTo>
                  <a:pt x="381000" y="355600"/>
                </a:lnTo>
                <a:close/>
                <a:moveTo>
                  <a:pt x="457200" y="330200"/>
                </a:moveTo>
                <a:lnTo>
                  <a:pt x="558800" y="330200"/>
                </a:lnTo>
                <a:lnTo>
                  <a:pt x="558800" y="355600"/>
                </a:lnTo>
                <a:lnTo>
                  <a:pt x="457200" y="355600"/>
                </a:lnTo>
                <a:close/>
                <a:moveTo>
                  <a:pt x="584200" y="330200"/>
                </a:moveTo>
                <a:lnTo>
                  <a:pt x="635000" y="330200"/>
                </a:lnTo>
                <a:lnTo>
                  <a:pt x="635000" y="355600"/>
                </a:lnTo>
                <a:lnTo>
                  <a:pt x="584200" y="355600"/>
                </a:lnTo>
                <a:close/>
                <a:moveTo>
                  <a:pt x="660400" y="330200"/>
                </a:moveTo>
                <a:lnTo>
                  <a:pt x="685800" y="330200"/>
                </a:lnTo>
                <a:lnTo>
                  <a:pt x="685800" y="355600"/>
                </a:lnTo>
                <a:lnTo>
                  <a:pt x="660400" y="355600"/>
                </a:lnTo>
                <a:close/>
                <a:moveTo>
                  <a:pt x="787400" y="330200"/>
                </a:moveTo>
                <a:lnTo>
                  <a:pt x="838200" y="330200"/>
                </a:lnTo>
                <a:lnTo>
                  <a:pt x="838200" y="355600"/>
                </a:lnTo>
                <a:lnTo>
                  <a:pt x="787400" y="355600"/>
                </a:lnTo>
                <a:close/>
                <a:moveTo>
                  <a:pt x="0" y="355600"/>
                </a:moveTo>
                <a:lnTo>
                  <a:pt x="50800" y="355600"/>
                </a:lnTo>
                <a:lnTo>
                  <a:pt x="50800" y="381000"/>
                </a:lnTo>
                <a:lnTo>
                  <a:pt x="0" y="381000"/>
                </a:lnTo>
                <a:close/>
                <a:moveTo>
                  <a:pt x="152400" y="355600"/>
                </a:moveTo>
                <a:lnTo>
                  <a:pt x="228600" y="355600"/>
                </a:lnTo>
                <a:lnTo>
                  <a:pt x="228600" y="381000"/>
                </a:lnTo>
                <a:lnTo>
                  <a:pt x="152400" y="381000"/>
                </a:lnTo>
                <a:close/>
                <a:moveTo>
                  <a:pt x="304800" y="355600"/>
                </a:moveTo>
                <a:lnTo>
                  <a:pt x="330200" y="355600"/>
                </a:lnTo>
                <a:lnTo>
                  <a:pt x="330200" y="381000"/>
                </a:lnTo>
                <a:lnTo>
                  <a:pt x="304800" y="381000"/>
                </a:lnTo>
                <a:close/>
                <a:moveTo>
                  <a:pt x="381000" y="355600"/>
                </a:moveTo>
                <a:lnTo>
                  <a:pt x="457200" y="355600"/>
                </a:lnTo>
                <a:lnTo>
                  <a:pt x="457200" y="381000"/>
                </a:lnTo>
                <a:lnTo>
                  <a:pt x="381000" y="381000"/>
                </a:lnTo>
                <a:close/>
                <a:moveTo>
                  <a:pt x="508000" y="355600"/>
                </a:moveTo>
                <a:lnTo>
                  <a:pt x="558800" y="355600"/>
                </a:lnTo>
                <a:lnTo>
                  <a:pt x="558800" y="381000"/>
                </a:lnTo>
                <a:lnTo>
                  <a:pt x="508000" y="381000"/>
                </a:lnTo>
                <a:close/>
                <a:moveTo>
                  <a:pt x="635000" y="355600"/>
                </a:moveTo>
                <a:lnTo>
                  <a:pt x="685800" y="355600"/>
                </a:lnTo>
                <a:lnTo>
                  <a:pt x="685800" y="381000"/>
                </a:lnTo>
                <a:lnTo>
                  <a:pt x="635000" y="381000"/>
                </a:lnTo>
                <a:close/>
                <a:moveTo>
                  <a:pt x="736600" y="355600"/>
                </a:moveTo>
                <a:lnTo>
                  <a:pt x="812800" y="355600"/>
                </a:lnTo>
                <a:lnTo>
                  <a:pt x="812800" y="381000"/>
                </a:lnTo>
                <a:lnTo>
                  <a:pt x="736600" y="381000"/>
                </a:lnTo>
                <a:close/>
                <a:moveTo>
                  <a:pt x="25400" y="381000"/>
                </a:moveTo>
                <a:lnTo>
                  <a:pt x="50800" y="381000"/>
                </a:lnTo>
                <a:lnTo>
                  <a:pt x="50800" y="406400"/>
                </a:lnTo>
                <a:lnTo>
                  <a:pt x="25400" y="406400"/>
                </a:lnTo>
                <a:close/>
                <a:moveTo>
                  <a:pt x="203200" y="381000"/>
                </a:moveTo>
                <a:lnTo>
                  <a:pt x="228600" y="381000"/>
                </a:lnTo>
                <a:lnTo>
                  <a:pt x="228600" y="406400"/>
                </a:lnTo>
                <a:lnTo>
                  <a:pt x="203200" y="406400"/>
                </a:lnTo>
                <a:close/>
                <a:moveTo>
                  <a:pt x="254000" y="381000"/>
                </a:moveTo>
                <a:lnTo>
                  <a:pt x="279400" y="381000"/>
                </a:lnTo>
                <a:lnTo>
                  <a:pt x="279400" y="406400"/>
                </a:lnTo>
                <a:lnTo>
                  <a:pt x="254000" y="406400"/>
                </a:lnTo>
                <a:close/>
                <a:moveTo>
                  <a:pt x="304800" y="381000"/>
                </a:moveTo>
                <a:lnTo>
                  <a:pt x="406400" y="381000"/>
                </a:lnTo>
                <a:lnTo>
                  <a:pt x="406400" y="406400"/>
                </a:lnTo>
                <a:lnTo>
                  <a:pt x="304800" y="406400"/>
                </a:lnTo>
                <a:close/>
                <a:moveTo>
                  <a:pt x="508000" y="381000"/>
                </a:moveTo>
                <a:lnTo>
                  <a:pt x="558800" y="381000"/>
                </a:lnTo>
                <a:lnTo>
                  <a:pt x="558800" y="406400"/>
                </a:lnTo>
                <a:lnTo>
                  <a:pt x="508000" y="406400"/>
                </a:lnTo>
                <a:close/>
                <a:moveTo>
                  <a:pt x="584200" y="381000"/>
                </a:moveTo>
                <a:lnTo>
                  <a:pt x="609600" y="381000"/>
                </a:lnTo>
                <a:lnTo>
                  <a:pt x="609600" y="406400"/>
                </a:lnTo>
                <a:lnTo>
                  <a:pt x="584200" y="406400"/>
                </a:lnTo>
                <a:close/>
                <a:moveTo>
                  <a:pt x="635000" y="381000"/>
                </a:moveTo>
                <a:lnTo>
                  <a:pt x="685800" y="381000"/>
                </a:lnTo>
                <a:lnTo>
                  <a:pt x="685800" y="406400"/>
                </a:lnTo>
                <a:lnTo>
                  <a:pt x="635000" y="406400"/>
                </a:lnTo>
                <a:close/>
                <a:moveTo>
                  <a:pt x="736600" y="381000"/>
                </a:moveTo>
                <a:lnTo>
                  <a:pt x="787400" y="381000"/>
                </a:lnTo>
                <a:lnTo>
                  <a:pt x="787400" y="406400"/>
                </a:lnTo>
                <a:lnTo>
                  <a:pt x="736600" y="406400"/>
                </a:lnTo>
                <a:close/>
                <a:moveTo>
                  <a:pt x="0" y="406400"/>
                </a:moveTo>
                <a:lnTo>
                  <a:pt x="25400" y="406400"/>
                </a:lnTo>
                <a:lnTo>
                  <a:pt x="25400" y="431800"/>
                </a:lnTo>
                <a:lnTo>
                  <a:pt x="0" y="431800"/>
                </a:lnTo>
                <a:close/>
                <a:moveTo>
                  <a:pt x="127000" y="406400"/>
                </a:moveTo>
                <a:lnTo>
                  <a:pt x="279400" y="406400"/>
                </a:lnTo>
                <a:lnTo>
                  <a:pt x="279400" y="431800"/>
                </a:lnTo>
                <a:lnTo>
                  <a:pt x="127000" y="431800"/>
                </a:lnTo>
                <a:close/>
                <a:moveTo>
                  <a:pt x="355600" y="406400"/>
                </a:moveTo>
                <a:lnTo>
                  <a:pt x="406400" y="406400"/>
                </a:lnTo>
                <a:lnTo>
                  <a:pt x="406400" y="431800"/>
                </a:lnTo>
                <a:lnTo>
                  <a:pt x="355600" y="431800"/>
                </a:lnTo>
                <a:close/>
                <a:moveTo>
                  <a:pt x="431800" y="406400"/>
                </a:moveTo>
                <a:lnTo>
                  <a:pt x="457200" y="406400"/>
                </a:lnTo>
                <a:lnTo>
                  <a:pt x="457200" y="431800"/>
                </a:lnTo>
                <a:lnTo>
                  <a:pt x="431800" y="431800"/>
                </a:lnTo>
                <a:close/>
                <a:moveTo>
                  <a:pt x="508000" y="406400"/>
                </a:moveTo>
                <a:lnTo>
                  <a:pt x="533400" y="406400"/>
                </a:lnTo>
                <a:lnTo>
                  <a:pt x="533400" y="431800"/>
                </a:lnTo>
                <a:lnTo>
                  <a:pt x="508000" y="431800"/>
                </a:lnTo>
                <a:close/>
                <a:moveTo>
                  <a:pt x="609600" y="406400"/>
                </a:moveTo>
                <a:lnTo>
                  <a:pt x="660400" y="406400"/>
                </a:lnTo>
                <a:lnTo>
                  <a:pt x="660400" y="431800"/>
                </a:lnTo>
                <a:lnTo>
                  <a:pt x="609600" y="431800"/>
                </a:lnTo>
                <a:close/>
                <a:moveTo>
                  <a:pt x="685800" y="406400"/>
                </a:moveTo>
                <a:lnTo>
                  <a:pt x="736600" y="406400"/>
                </a:lnTo>
                <a:lnTo>
                  <a:pt x="736600" y="431800"/>
                </a:lnTo>
                <a:lnTo>
                  <a:pt x="685800" y="431800"/>
                </a:lnTo>
                <a:close/>
                <a:moveTo>
                  <a:pt x="812800" y="406400"/>
                </a:moveTo>
                <a:lnTo>
                  <a:pt x="838200" y="406400"/>
                </a:lnTo>
                <a:lnTo>
                  <a:pt x="838200" y="431800"/>
                </a:lnTo>
                <a:lnTo>
                  <a:pt x="812800" y="431800"/>
                </a:lnTo>
                <a:close/>
                <a:moveTo>
                  <a:pt x="101600" y="431800"/>
                </a:moveTo>
                <a:lnTo>
                  <a:pt x="152400" y="431800"/>
                </a:lnTo>
                <a:lnTo>
                  <a:pt x="152400" y="457200"/>
                </a:lnTo>
                <a:lnTo>
                  <a:pt x="101600" y="457200"/>
                </a:lnTo>
                <a:close/>
                <a:moveTo>
                  <a:pt x="203200" y="431800"/>
                </a:moveTo>
                <a:lnTo>
                  <a:pt x="254000" y="431800"/>
                </a:lnTo>
                <a:lnTo>
                  <a:pt x="254000" y="457200"/>
                </a:lnTo>
                <a:lnTo>
                  <a:pt x="203200" y="457200"/>
                </a:lnTo>
                <a:close/>
                <a:moveTo>
                  <a:pt x="330200" y="431800"/>
                </a:moveTo>
                <a:lnTo>
                  <a:pt x="355600" y="431800"/>
                </a:lnTo>
                <a:lnTo>
                  <a:pt x="355600" y="457200"/>
                </a:lnTo>
                <a:lnTo>
                  <a:pt x="330200" y="457200"/>
                </a:lnTo>
                <a:close/>
                <a:moveTo>
                  <a:pt x="406400" y="431800"/>
                </a:moveTo>
                <a:lnTo>
                  <a:pt x="431800" y="431800"/>
                </a:lnTo>
                <a:lnTo>
                  <a:pt x="431800" y="457200"/>
                </a:lnTo>
                <a:lnTo>
                  <a:pt x="406400" y="457200"/>
                </a:lnTo>
                <a:close/>
                <a:moveTo>
                  <a:pt x="482600" y="431800"/>
                </a:moveTo>
                <a:lnTo>
                  <a:pt x="508000" y="431800"/>
                </a:lnTo>
                <a:lnTo>
                  <a:pt x="508000" y="457200"/>
                </a:lnTo>
                <a:lnTo>
                  <a:pt x="482600" y="457200"/>
                </a:lnTo>
                <a:close/>
                <a:moveTo>
                  <a:pt x="558800" y="431800"/>
                </a:moveTo>
                <a:lnTo>
                  <a:pt x="609600" y="431800"/>
                </a:lnTo>
                <a:lnTo>
                  <a:pt x="609600" y="457200"/>
                </a:lnTo>
                <a:lnTo>
                  <a:pt x="558800" y="457200"/>
                </a:lnTo>
                <a:close/>
                <a:moveTo>
                  <a:pt x="660400" y="431800"/>
                </a:moveTo>
                <a:lnTo>
                  <a:pt x="711200" y="431800"/>
                </a:lnTo>
                <a:lnTo>
                  <a:pt x="711200" y="457200"/>
                </a:lnTo>
                <a:lnTo>
                  <a:pt x="660400" y="457200"/>
                </a:lnTo>
                <a:close/>
                <a:moveTo>
                  <a:pt x="736600" y="431800"/>
                </a:moveTo>
                <a:lnTo>
                  <a:pt x="787400" y="431800"/>
                </a:lnTo>
                <a:lnTo>
                  <a:pt x="787400" y="457200"/>
                </a:lnTo>
                <a:lnTo>
                  <a:pt x="736600" y="457200"/>
                </a:lnTo>
                <a:close/>
                <a:moveTo>
                  <a:pt x="812800" y="431800"/>
                </a:moveTo>
                <a:lnTo>
                  <a:pt x="838200" y="431800"/>
                </a:lnTo>
                <a:lnTo>
                  <a:pt x="838200" y="457200"/>
                </a:lnTo>
                <a:lnTo>
                  <a:pt x="812800" y="457200"/>
                </a:lnTo>
                <a:close/>
                <a:moveTo>
                  <a:pt x="0" y="457200"/>
                </a:moveTo>
                <a:lnTo>
                  <a:pt x="25400" y="457200"/>
                </a:lnTo>
                <a:lnTo>
                  <a:pt x="25400" y="482600"/>
                </a:lnTo>
                <a:lnTo>
                  <a:pt x="0" y="482600"/>
                </a:lnTo>
                <a:close/>
                <a:moveTo>
                  <a:pt x="76200" y="457200"/>
                </a:moveTo>
                <a:lnTo>
                  <a:pt x="101600" y="457200"/>
                </a:lnTo>
                <a:lnTo>
                  <a:pt x="101600" y="482600"/>
                </a:lnTo>
                <a:lnTo>
                  <a:pt x="76200" y="482600"/>
                </a:lnTo>
                <a:close/>
                <a:moveTo>
                  <a:pt x="127000" y="457200"/>
                </a:moveTo>
                <a:lnTo>
                  <a:pt x="177800" y="457200"/>
                </a:lnTo>
                <a:lnTo>
                  <a:pt x="177800" y="482600"/>
                </a:lnTo>
                <a:lnTo>
                  <a:pt x="127000" y="482600"/>
                </a:lnTo>
                <a:close/>
                <a:moveTo>
                  <a:pt x="304800" y="457200"/>
                </a:moveTo>
                <a:lnTo>
                  <a:pt x="355600" y="457200"/>
                </a:lnTo>
                <a:lnTo>
                  <a:pt x="355600" y="482600"/>
                </a:lnTo>
                <a:lnTo>
                  <a:pt x="304800" y="482600"/>
                </a:lnTo>
                <a:close/>
                <a:moveTo>
                  <a:pt x="381000" y="457200"/>
                </a:moveTo>
                <a:lnTo>
                  <a:pt x="431800" y="457200"/>
                </a:lnTo>
                <a:lnTo>
                  <a:pt x="431800" y="482600"/>
                </a:lnTo>
                <a:lnTo>
                  <a:pt x="381000" y="482600"/>
                </a:lnTo>
                <a:close/>
                <a:moveTo>
                  <a:pt x="457200" y="457200"/>
                </a:moveTo>
                <a:lnTo>
                  <a:pt x="482600" y="457200"/>
                </a:lnTo>
                <a:lnTo>
                  <a:pt x="482600" y="482600"/>
                </a:lnTo>
                <a:lnTo>
                  <a:pt x="457200" y="482600"/>
                </a:lnTo>
                <a:close/>
                <a:moveTo>
                  <a:pt x="508000" y="457200"/>
                </a:moveTo>
                <a:lnTo>
                  <a:pt x="584200" y="457200"/>
                </a:lnTo>
                <a:lnTo>
                  <a:pt x="584200" y="482600"/>
                </a:lnTo>
                <a:lnTo>
                  <a:pt x="508000" y="482600"/>
                </a:lnTo>
                <a:close/>
                <a:moveTo>
                  <a:pt x="635000" y="457200"/>
                </a:moveTo>
                <a:lnTo>
                  <a:pt x="736600" y="457200"/>
                </a:lnTo>
                <a:lnTo>
                  <a:pt x="736600" y="482600"/>
                </a:lnTo>
                <a:lnTo>
                  <a:pt x="635000" y="482600"/>
                </a:lnTo>
                <a:close/>
                <a:moveTo>
                  <a:pt x="762000" y="457200"/>
                </a:moveTo>
                <a:lnTo>
                  <a:pt x="787400" y="457200"/>
                </a:lnTo>
                <a:lnTo>
                  <a:pt x="787400" y="482600"/>
                </a:lnTo>
                <a:lnTo>
                  <a:pt x="762000" y="482600"/>
                </a:lnTo>
                <a:close/>
                <a:moveTo>
                  <a:pt x="76200" y="482600"/>
                </a:moveTo>
                <a:lnTo>
                  <a:pt x="152400" y="482600"/>
                </a:lnTo>
                <a:lnTo>
                  <a:pt x="152400" y="508000"/>
                </a:lnTo>
                <a:lnTo>
                  <a:pt x="76200" y="508000"/>
                </a:lnTo>
                <a:close/>
                <a:moveTo>
                  <a:pt x="177800" y="482600"/>
                </a:moveTo>
                <a:lnTo>
                  <a:pt x="254000" y="482600"/>
                </a:lnTo>
                <a:lnTo>
                  <a:pt x="254000" y="508000"/>
                </a:lnTo>
                <a:lnTo>
                  <a:pt x="177800" y="508000"/>
                </a:lnTo>
                <a:close/>
                <a:moveTo>
                  <a:pt x="330200" y="482600"/>
                </a:moveTo>
                <a:lnTo>
                  <a:pt x="381000" y="482600"/>
                </a:lnTo>
                <a:lnTo>
                  <a:pt x="381000" y="508000"/>
                </a:lnTo>
                <a:lnTo>
                  <a:pt x="330200" y="508000"/>
                </a:lnTo>
                <a:close/>
                <a:moveTo>
                  <a:pt x="406400" y="482600"/>
                </a:moveTo>
                <a:lnTo>
                  <a:pt x="431800" y="482600"/>
                </a:lnTo>
                <a:lnTo>
                  <a:pt x="431800" y="508000"/>
                </a:lnTo>
                <a:lnTo>
                  <a:pt x="406400" y="508000"/>
                </a:lnTo>
                <a:close/>
                <a:moveTo>
                  <a:pt x="457200" y="482600"/>
                </a:moveTo>
                <a:lnTo>
                  <a:pt x="482600" y="482600"/>
                </a:lnTo>
                <a:lnTo>
                  <a:pt x="482600" y="508000"/>
                </a:lnTo>
                <a:lnTo>
                  <a:pt x="457200" y="508000"/>
                </a:lnTo>
                <a:close/>
                <a:moveTo>
                  <a:pt x="533400" y="482600"/>
                </a:moveTo>
                <a:lnTo>
                  <a:pt x="584200" y="482600"/>
                </a:lnTo>
                <a:lnTo>
                  <a:pt x="584200" y="508000"/>
                </a:lnTo>
                <a:lnTo>
                  <a:pt x="533400" y="508000"/>
                </a:lnTo>
                <a:close/>
                <a:moveTo>
                  <a:pt x="660400" y="482600"/>
                </a:moveTo>
                <a:lnTo>
                  <a:pt x="787400" y="482600"/>
                </a:lnTo>
                <a:lnTo>
                  <a:pt x="787400" y="508000"/>
                </a:lnTo>
                <a:lnTo>
                  <a:pt x="660400" y="508000"/>
                </a:lnTo>
                <a:close/>
                <a:moveTo>
                  <a:pt x="812800" y="482600"/>
                </a:moveTo>
                <a:lnTo>
                  <a:pt x="838200" y="482600"/>
                </a:lnTo>
                <a:lnTo>
                  <a:pt x="838200" y="508000"/>
                </a:lnTo>
                <a:lnTo>
                  <a:pt x="812800" y="508000"/>
                </a:lnTo>
                <a:close/>
                <a:moveTo>
                  <a:pt x="0" y="508000"/>
                </a:moveTo>
                <a:lnTo>
                  <a:pt x="25400" y="508000"/>
                </a:lnTo>
                <a:lnTo>
                  <a:pt x="25400" y="533400"/>
                </a:lnTo>
                <a:lnTo>
                  <a:pt x="0" y="533400"/>
                </a:lnTo>
                <a:close/>
                <a:moveTo>
                  <a:pt x="76200" y="508000"/>
                </a:moveTo>
                <a:lnTo>
                  <a:pt x="101600" y="508000"/>
                </a:lnTo>
                <a:lnTo>
                  <a:pt x="101600" y="533400"/>
                </a:lnTo>
                <a:lnTo>
                  <a:pt x="76200" y="533400"/>
                </a:lnTo>
                <a:close/>
                <a:moveTo>
                  <a:pt x="152400" y="508000"/>
                </a:moveTo>
                <a:lnTo>
                  <a:pt x="177800" y="508000"/>
                </a:lnTo>
                <a:lnTo>
                  <a:pt x="177800" y="533400"/>
                </a:lnTo>
                <a:lnTo>
                  <a:pt x="152400" y="533400"/>
                </a:lnTo>
                <a:close/>
                <a:moveTo>
                  <a:pt x="203200" y="508000"/>
                </a:moveTo>
                <a:lnTo>
                  <a:pt x="254000" y="508000"/>
                </a:lnTo>
                <a:lnTo>
                  <a:pt x="254000" y="533400"/>
                </a:lnTo>
                <a:lnTo>
                  <a:pt x="203200" y="533400"/>
                </a:lnTo>
                <a:close/>
                <a:moveTo>
                  <a:pt x="304800" y="508000"/>
                </a:moveTo>
                <a:lnTo>
                  <a:pt x="355600" y="508000"/>
                </a:lnTo>
                <a:lnTo>
                  <a:pt x="355600" y="533400"/>
                </a:lnTo>
                <a:lnTo>
                  <a:pt x="304800" y="533400"/>
                </a:lnTo>
                <a:close/>
                <a:moveTo>
                  <a:pt x="381000" y="508000"/>
                </a:moveTo>
                <a:lnTo>
                  <a:pt x="406400" y="508000"/>
                </a:lnTo>
                <a:lnTo>
                  <a:pt x="406400" y="533400"/>
                </a:lnTo>
                <a:lnTo>
                  <a:pt x="381000" y="533400"/>
                </a:lnTo>
                <a:close/>
                <a:moveTo>
                  <a:pt x="457200" y="508000"/>
                </a:moveTo>
                <a:lnTo>
                  <a:pt x="482600" y="508000"/>
                </a:lnTo>
                <a:lnTo>
                  <a:pt x="482600" y="533400"/>
                </a:lnTo>
                <a:lnTo>
                  <a:pt x="457200" y="533400"/>
                </a:lnTo>
                <a:close/>
                <a:moveTo>
                  <a:pt x="558800" y="508000"/>
                </a:moveTo>
                <a:lnTo>
                  <a:pt x="584200" y="508000"/>
                </a:lnTo>
                <a:lnTo>
                  <a:pt x="584200" y="533400"/>
                </a:lnTo>
                <a:lnTo>
                  <a:pt x="558800" y="533400"/>
                </a:lnTo>
                <a:close/>
                <a:moveTo>
                  <a:pt x="609600" y="508000"/>
                </a:moveTo>
                <a:lnTo>
                  <a:pt x="660400" y="508000"/>
                </a:lnTo>
                <a:lnTo>
                  <a:pt x="660400" y="533400"/>
                </a:lnTo>
                <a:lnTo>
                  <a:pt x="609600" y="533400"/>
                </a:lnTo>
                <a:close/>
                <a:moveTo>
                  <a:pt x="711200" y="508000"/>
                </a:moveTo>
                <a:lnTo>
                  <a:pt x="762000" y="508000"/>
                </a:lnTo>
                <a:lnTo>
                  <a:pt x="762000" y="533400"/>
                </a:lnTo>
                <a:lnTo>
                  <a:pt x="711200" y="533400"/>
                </a:lnTo>
                <a:close/>
                <a:moveTo>
                  <a:pt x="0" y="533400"/>
                </a:moveTo>
                <a:lnTo>
                  <a:pt x="25400" y="533400"/>
                </a:lnTo>
                <a:lnTo>
                  <a:pt x="25400" y="558800"/>
                </a:lnTo>
                <a:lnTo>
                  <a:pt x="0" y="558800"/>
                </a:lnTo>
                <a:close/>
                <a:moveTo>
                  <a:pt x="50800" y="533400"/>
                </a:moveTo>
                <a:lnTo>
                  <a:pt x="76200" y="533400"/>
                </a:lnTo>
                <a:lnTo>
                  <a:pt x="76200" y="558800"/>
                </a:lnTo>
                <a:lnTo>
                  <a:pt x="50800" y="558800"/>
                </a:lnTo>
                <a:close/>
                <a:moveTo>
                  <a:pt x="101600" y="533400"/>
                </a:moveTo>
                <a:lnTo>
                  <a:pt x="127000" y="533400"/>
                </a:lnTo>
                <a:lnTo>
                  <a:pt x="127000" y="558800"/>
                </a:lnTo>
                <a:lnTo>
                  <a:pt x="101600" y="558800"/>
                </a:lnTo>
                <a:close/>
                <a:moveTo>
                  <a:pt x="228600" y="533400"/>
                </a:moveTo>
                <a:lnTo>
                  <a:pt x="254000" y="533400"/>
                </a:lnTo>
                <a:lnTo>
                  <a:pt x="254000" y="558800"/>
                </a:lnTo>
                <a:lnTo>
                  <a:pt x="228600" y="558800"/>
                </a:lnTo>
                <a:close/>
                <a:moveTo>
                  <a:pt x="304800" y="533400"/>
                </a:moveTo>
                <a:lnTo>
                  <a:pt x="330200" y="533400"/>
                </a:lnTo>
                <a:lnTo>
                  <a:pt x="330200" y="558800"/>
                </a:lnTo>
                <a:lnTo>
                  <a:pt x="304800" y="558800"/>
                </a:lnTo>
                <a:close/>
                <a:moveTo>
                  <a:pt x="355600" y="533400"/>
                </a:moveTo>
                <a:lnTo>
                  <a:pt x="431800" y="533400"/>
                </a:lnTo>
                <a:lnTo>
                  <a:pt x="431800" y="558800"/>
                </a:lnTo>
                <a:lnTo>
                  <a:pt x="355600" y="558800"/>
                </a:lnTo>
                <a:close/>
                <a:moveTo>
                  <a:pt x="457200" y="533400"/>
                </a:moveTo>
                <a:lnTo>
                  <a:pt x="609600" y="533400"/>
                </a:lnTo>
                <a:lnTo>
                  <a:pt x="609600" y="558800"/>
                </a:lnTo>
                <a:lnTo>
                  <a:pt x="457200" y="558800"/>
                </a:lnTo>
                <a:close/>
                <a:moveTo>
                  <a:pt x="660400" y="533400"/>
                </a:moveTo>
                <a:lnTo>
                  <a:pt x="685800" y="533400"/>
                </a:lnTo>
                <a:lnTo>
                  <a:pt x="685800" y="558800"/>
                </a:lnTo>
                <a:lnTo>
                  <a:pt x="660400" y="558800"/>
                </a:lnTo>
                <a:close/>
                <a:moveTo>
                  <a:pt x="736600" y="533400"/>
                </a:moveTo>
                <a:lnTo>
                  <a:pt x="762000" y="533400"/>
                </a:lnTo>
                <a:lnTo>
                  <a:pt x="762000" y="558800"/>
                </a:lnTo>
                <a:lnTo>
                  <a:pt x="736600" y="558800"/>
                </a:lnTo>
                <a:close/>
                <a:moveTo>
                  <a:pt x="812800" y="533400"/>
                </a:moveTo>
                <a:lnTo>
                  <a:pt x="838200" y="533400"/>
                </a:lnTo>
                <a:lnTo>
                  <a:pt x="838200" y="558800"/>
                </a:lnTo>
                <a:lnTo>
                  <a:pt x="812800" y="558800"/>
                </a:lnTo>
                <a:close/>
                <a:moveTo>
                  <a:pt x="0" y="558800"/>
                </a:moveTo>
                <a:lnTo>
                  <a:pt x="25400" y="558800"/>
                </a:lnTo>
                <a:lnTo>
                  <a:pt x="25400" y="584200"/>
                </a:lnTo>
                <a:lnTo>
                  <a:pt x="0" y="584200"/>
                </a:lnTo>
                <a:close/>
                <a:moveTo>
                  <a:pt x="50800" y="558800"/>
                </a:moveTo>
                <a:lnTo>
                  <a:pt x="76200" y="558800"/>
                </a:lnTo>
                <a:lnTo>
                  <a:pt x="76200" y="584200"/>
                </a:lnTo>
                <a:lnTo>
                  <a:pt x="50800" y="584200"/>
                </a:lnTo>
                <a:close/>
                <a:moveTo>
                  <a:pt x="101600" y="558800"/>
                </a:moveTo>
                <a:lnTo>
                  <a:pt x="127000" y="558800"/>
                </a:lnTo>
                <a:lnTo>
                  <a:pt x="127000" y="584200"/>
                </a:lnTo>
                <a:lnTo>
                  <a:pt x="101600" y="584200"/>
                </a:lnTo>
                <a:close/>
                <a:moveTo>
                  <a:pt x="152400" y="558800"/>
                </a:moveTo>
                <a:lnTo>
                  <a:pt x="228600" y="558800"/>
                </a:lnTo>
                <a:lnTo>
                  <a:pt x="228600" y="584200"/>
                </a:lnTo>
                <a:lnTo>
                  <a:pt x="152400" y="584200"/>
                </a:lnTo>
                <a:close/>
                <a:moveTo>
                  <a:pt x="330200" y="558800"/>
                </a:moveTo>
                <a:lnTo>
                  <a:pt x="355600" y="558800"/>
                </a:lnTo>
                <a:lnTo>
                  <a:pt x="355600" y="584200"/>
                </a:lnTo>
                <a:lnTo>
                  <a:pt x="330200" y="584200"/>
                </a:lnTo>
                <a:close/>
                <a:moveTo>
                  <a:pt x="533400" y="558800"/>
                </a:moveTo>
                <a:lnTo>
                  <a:pt x="558800" y="558800"/>
                </a:lnTo>
                <a:lnTo>
                  <a:pt x="558800" y="584200"/>
                </a:lnTo>
                <a:lnTo>
                  <a:pt x="533400" y="584200"/>
                </a:lnTo>
                <a:close/>
                <a:moveTo>
                  <a:pt x="609600" y="558800"/>
                </a:moveTo>
                <a:lnTo>
                  <a:pt x="635000" y="558800"/>
                </a:lnTo>
                <a:lnTo>
                  <a:pt x="635000" y="584200"/>
                </a:lnTo>
                <a:lnTo>
                  <a:pt x="609600" y="584200"/>
                </a:lnTo>
                <a:close/>
                <a:moveTo>
                  <a:pt x="660400" y="558800"/>
                </a:moveTo>
                <a:lnTo>
                  <a:pt x="762000" y="558800"/>
                </a:lnTo>
                <a:lnTo>
                  <a:pt x="762000" y="584200"/>
                </a:lnTo>
                <a:lnTo>
                  <a:pt x="660400" y="584200"/>
                </a:lnTo>
                <a:close/>
                <a:moveTo>
                  <a:pt x="787400" y="558800"/>
                </a:moveTo>
                <a:lnTo>
                  <a:pt x="812800" y="558800"/>
                </a:lnTo>
                <a:lnTo>
                  <a:pt x="812800" y="584200"/>
                </a:lnTo>
                <a:lnTo>
                  <a:pt x="787400" y="584200"/>
                </a:lnTo>
                <a:close/>
                <a:moveTo>
                  <a:pt x="0" y="584200"/>
                </a:moveTo>
                <a:lnTo>
                  <a:pt x="25400" y="584200"/>
                </a:lnTo>
                <a:lnTo>
                  <a:pt x="25400" y="609600"/>
                </a:lnTo>
                <a:lnTo>
                  <a:pt x="0" y="609600"/>
                </a:lnTo>
                <a:close/>
                <a:moveTo>
                  <a:pt x="76200" y="584200"/>
                </a:moveTo>
                <a:lnTo>
                  <a:pt x="152400" y="584200"/>
                </a:lnTo>
                <a:lnTo>
                  <a:pt x="152400" y="609600"/>
                </a:lnTo>
                <a:lnTo>
                  <a:pt x="76200" y="609600"/>
                </a:lnTo>
                <a:close/>
                <a:moveTo>
                  <a:pt x="177800" y="584200"/>
                </a:moveTo>
                <a:lnTo>
                  <a:pt x="228600" y="584200"/>
                </a:lnTo>
                <a:lnTo>
                  <a:pt x="228600" y="609600"/>
                </a:lnTo>
                <a:lnTo>
                  <a:pt x="177800" y="609600"/>
                </a:lnTo>
                <a:close/>
                <a:moveTo>
                  <a:pt x="254000" y="584200"/>
                </a:moveTo>
                <a:lnTo>
                  <a:pt x="279400" y="584200"/>
                </a:lnTo>
                <a:lnTo>
                  <a:pt x="279400" y="609600"/>
                </a:lnTo>
                <a:lnTo>
                  <a:pt x="254000" y="609600"/>
                </a:lnTo>
                <a:close/>
                <a:moveTo>
                  <a:pt x="304800" y="584200"/>
                </a:moveTo>
                <a:lnTo>
                  <a:pt x="330200" y="584200"/>
                </a:lnTo>
                <a:lnTo>
                  <a:pt x="330200" y="609600"/>
                </a:lnTo>
                <a:lnTo>
                  <a:pt x="304800" y="609600"/>
                </a:lnTo>
                <a:close/>
                <a:moveTo>
                  <a:pt x="355600" y="584200"/>
                </a:moveTo>
                <a:lnTo>
                  <a:pt x="381000" y="584200"/>
                </a:lnTo>
                <a:lnTo>
                  <a:pt x="381000" y="609600"/>
                </a:lnTo>
                <a:lnTo>
                  <a:pt x="355600" y="609600"/>
                </a:lnTo>
                <a:close/>
                <a:moveTo>
                  <a:pt x="406400" y="584200"/>
                </a:moveTo>
                <a:lnTo>
                  <a:pt x="431800" y="584200"/>
                </a:lnTo>
                <a:lnTo>
                  <a:pt x="431800" y="609600"/>
                </a:lnTo>
                <a:lnTo>
                  <a:pt x="406400" y="609600"/>
                </a:lnTo>
                <a:close/>
                <a:moveTo>
                  <a:pt x="457200" y="584200"/>
                </a:moveTo>
                <a:lnTo>
                  <a:pt x="558800" y="584200"/>
                </a:lnTo>
                <a:lnTo>
                  <a:pt x="558800" y="609600"/>
                </a:lnTo>
                <a:lnTo>
                  <a:pt x="457200" y="609600"/>
                </a:lnTo>
                <a:close/>
                <a:moveTo>
                  <a:pt x="584200" y="584200"/>
                </a:moveTo>
                <a:lnTo>
                  <a:pt x="609600" y="584200"/>
                </a:lnTo>
                <a:lnTo>
                  <a:pt x="609600" y="609600"/>
                </a:lnTo>
                <a:lnTo>
                  <a:pt x="584200" y="609600"/>
                </a:lnTo>
                <a:close/>
                <a:moveTo>
                  <a:pt x="685800" y="584200"/>
                </a:moveTo>
                <a:lnTo>
                  <a:pt x="711200" y="584200"/>
                </a:lnTo>
                <a:lnTo>
                  <a:pt x="711200" y="609600"/>
                </a:lnTo>
                <a:lnTo>
                  <a:pt x="685800" y="609600"/>
                </a:lnTo>
                <a:close/>
                <a:moveTo>
                  <a:pt x="762000" y="584200"/>
                </a:moveTo>
                <a:lnTo>
                  <a:pt x="787400" y="584200"/>
                </a:lnTo>
                <a:lnTo>
                  <a:pt x="787400" y="609600"/>
                </a:lnTo>
                <a:lnTo>
                  <a:pt x="762000" y="609600"/>
                </a:lnTo>
                <a:close/>
                <a:moveTo>
                  <a:pt x="812800" y="584200"/>
                </a:moveTo>
                <a:lnTo>
                  <a:pt x="838200" y="584200"/>
                </a:lnTo>
                <a:lnTo>
                  <a:pt x="838200" y="609600"/>
                </a:lnTo>
                <a:lnTo>
                  <a:pt x="812800" y="609600"/>
                </a:lnTo>
                <a:close/>
                <a:moveTo>
                  <a:pt x="0" y="609600"/>
                </a:moveTo>
                <a:lnTo>
                  <a:pt x="25400" y="609600"/>
                </a:lnTo>
                <a:lnTo>
                  <a:pt x="25400" y="635000"/>
                </a:lnTo>
                <a:lnTo>
                  <a:pt x="0" y="635000"/>
                </a:lnTo>
                <a:close/>
                <a:moveTo>
                  <a:pt x="152400" y="609600"/>
                </a:moveTo>
                <a:lnTo>
                  <a:pt x="203200" y="609600"/>
                </a:lnTo>
                <a:lnTo>
                  <a:pt x="203200" y="635000"/>
                </a:lnTo>
                <a:lnTo>
                  <a:pt x="152400" y="635000"/>
                </a:lnTo>
                <a:close/>
                <a:moveTo>
                  <a:pt x="228600" y="609600"/>
                </a:moveTo>
                <a:lnTo>
                  <a:pt x="254000" y="609600"/>
                </a:lnTo>
                <a:lnTo>
                  <a:pt x="254000" y="635000"/>
                </a:lnTo>
                <a:lnTo>
                  <a:pt x="228600" y="635000"/>
                </a:lnTo>
                <a:close/>
                <a:moveTo>
                  <a:pt x="431800" y="609600"/>
                </a:moveTo>
                <a:lnTo>
                  <a:pt x="457200" y="609600"/>
                </a:lnTo>
                <a:lnTo>
                  <a:pt x="457200" y="635000"/>
                </a:lnTo>
                <a:lnTo>
                  <a:pt x="431800" y="635000"/>
                </a:lnTo>
                <a:close/>
                <a:moveTo>
                  <a:pt x="508000" y="609600"/>
                </a:moveTo>
                <a:lnTo>
                  <a:pt x="533400" y="609600"/>
                </a:lnTo>
                <a:lnTo>
                  <a:pt x="533400" y="635000"/>
                </a:lnTo>
                <a:lnTo>
                  <a:pt x="508000" y="635000"/>
                </a:lnTo>
                <a:close/>
                <a:moveTo>
                  <a:pt x="584200" y="609600"/>
                </a:moveTo>
                <a:lnTo>
                  <a:pt x="736600" y="609600"/>
                </a:lnTo>
                <a:lnTo>
                  <a:pt x="736600" y="635000"/>
                </a:lnTo>
                <a:lnTo>
                  <a:pt x="584200" y="635000"/>
                </a:lnTo>
                <a:close/>
                <a:moveTo>
                  <a:pt x="787400" y="609600"/>
                </a:moveTo>
                <a:lnTo>
                  <a:pt x="812800" y="609600"/>
                </a:lnTo>
                <a:lnTo>
                  <a:pt x="812800" y="635000"/>
                </a:lnTo>
                <a:lnTo>
                  <a:pt x="787400" y="635000"/>
                </a:lnTo>
                <a:close/>
                <a:moveTo>
                  <a:pt x="203200" y="635000"/>
                </a:moveTo>
                <a:lnTo>
                  <a:pt x="228600" y="635000"/>
                </a:lnTo>
                <a:lnTo>
                  <a:pt x="228600" y="660400"/>
                </a:lnTo>
                <a:lnTo>
                  <a:pt x="203200" y="660400"/>
                </a:lnTo>
                <a:close/>
                <a:moveTo>
                  <a:pt x="254000" y="635000"/>
                </a:moveTo>
                <a:lnTo>
                  <a:pt x="304800" y="635000"/>
                </a:lnTo>
                <a:lnTo>
                  <a:pt x="304800" y="660400"/>
                </a:lnTo>
                <a:lnTo>
                  <a:pt x="254000" y="660400"/>
                </a:lnTo>
                <a:close/>
                <a:moveTo>
                  <a:pt x="330200" y="635000"/>
                </a:moveTo>
                <a:lnTo>
                  <a:pt x="355600" y="635000"/>
                </a:lnTo>
                <a:lnTo>
                  <a:pt x="355600" y="660400"/>
                </a:lnTo>
                <a:lnTo>
                  <a:pt x="330200" y="660400"/>
                </a:lnTo>
                <a:close/>
                <a:moveTo>
                  <a:pt x="406400" y="635000"/>
                </a:moveTo>
                <a:lnTo>
                  <a:pt x="508000" y="635000"/>
                </a:lnTo>
                <a:lnTo>
                  <a:pt x="508000" y="660400"/>
                </a:lnTo>
                <a:lnTo>
                  <a:pt x="406400" y="660400"/>
                </a:lnTo>
                <a:close/>
                <a:moveTo>
                  <a:pt x="533400" y="635000"/>
                </a:moveTo>
                <a:lnTo>
                  <a:pt x="584200" y="635000"/>
                </a:lnTo>
                <a:lnTo>
                  <a:pt x="584200" y="660400"/>
                </a:lnTo>
                <a:lnTo>
                  <a:pt x="533400" y="660400"/>
                </a:lnTo>
                <a:close/>
                <a:moveTo>
                  <a:pt x="609600" y="635000"/>
                </a:moveTo>
                <a:lnTo>
                  <a:pt x="635000" y="635000"/>
                </a:lnTo>
                <a:lnTo>
                  <a:pt x="635000" y="660400"/>
                </a:lnTo>
                <a:lnTo>
                  <a:pt x="609600" y="660400"/>
                </a:lnTo>
                <a:close/>
                <a:moveTo>
                  <a:pt x="711200" y="635000"/>
                </a:moveTo>
                <a:lnTo>
                  <a:pt x="736600" y="635000"/>
                </a:lnTo>
                <a:lnTo>
                  <a:pt x="736600" y="660400"/>
                </a:lnTo>
                <a:lnTo>
                  <a:pt x="711200" y="660400"/>
                </a:lnTo>
                <a:close/>
                <a:moveTo>
                  <a:pt x="762000" y="635000"/>
                </a:moveTo>
                <a:lnTo>
                  <a:pt x="787400" y="635000"/>
                </a:lnTo>
                <a:lnTo>
                  <a:pt x="787400" y="660400"/>
                </a:lnTo>
                <a:lnTo>
                  <a:pt x="762000" y="660400"/>
                </a:lnTo>
                <a:close/>
                <a:moveTo>
                  <a:pt x="812800" y="635000"/>
                </a:moveTo>
                <a:lnTo>
                  <a:pt x="838200" y="635000"/>
                </a:lnTo>
                <a:lnTo>
                  <a:pt x="838200" y="660400"/>
                </a:lnTo>
                <a:lnTo>
                  <a:pt x="812800" y="660400"/>
                </a:lnTo>
                <a:close/>
                <a:moveTo>
                  <a:pt x="0" y="660400"/>
                </a:moveTo>
                <a:lnTo>
                  <a:pt x="177800" y="660400"/>
                </a:lnTo>
                <a:lnTo>
                  <a:pt x="177800" y="685800"/>
                </a:lnTo>
                <a:lnTo>
                  <a:pt x="0" y="685800"/>
                </a:lnTo>
                <a:close/>
                <a:moveTo>
                  <a:pt x="228600" y="660400"/>
                </a:moveTo>
                <a:lnTo>
                  <a:pt x="254000" y="660400"/>
                </a:lnTo>
                <a:lnTo>
                  <a:pt x="254000" y="685800"/>
                </a:lnTo>
                <a:lnTo>
                  <a:pt x="228600" y="685800"/>
                </a:lnTo>
                <a:close/>
                <a:moveTo>
                  <a:pt x="330200" y="660400"/>
                </a:moveTo>
                <a:lnTo>
                  <a:pt x="355600" y="660400"/>
                </a:lnTo>
                <a:lnTo>
                  <a:pt x="355600" y="685800"/>
                </a:lnTo>
                <a:lnTo>
                  <a:pt x="330200" y="685800"/>
                </a:lnTo>
                <a:close/>
                <a:moveTo>
                  <a:pt x="381000" y="660400"/>
                </a:moveTo>
                <a:lnTo>
                  <a:pt x="406400" y="660400"/>
                </a:lnTo>
                <a:lnTo>
                  <a:pt x="406400" y="685800"/>
                </a:lnTo>
                <a:lnTo>
                  <a:pt x="381000" y="685800"/>
                </a:lnTo>
                <a:close/>
                <a:moveTo>
                  <a:pt x="431800" y="660400"/>
                </a:moveTo>
                <a:lnTo>
                  <a:pt x="457200" y="660400"/>
                </a:lnTo>
                <a:lnTo>
                  <a:pt x="457200" y="685800"/>
                </a:lnTo>
                <a:lnTo>
                  <a:pt x="431800" y="685800"/>
                </a:lnTo>
                <a:close/>
                <a:moveTo>
                  <a:pt x="584200" y="660400"/>
                </a:moveTo>
                <a:lnTo>
                  <a:pt x="635000" y="660400"/>
                </a:lnTo>
                <a:lnTo>
                  <a:pt x="635000" y="685800"/>
                </a:lnTo>
                <a:lnTo>
                  <a:pt x="584200" y="685800"/>
                </a:lnTo>
                <a:close/>
                <a:moveTo>
                  <a:pt x="660400" y="660400"/>
                </a:moveTo>
                <a:lnTo>
                  <a:pt x="685800" y="660400"/>
                </a:lnTo>
                <a:lnTo>
                  <a:pt x="685800" y="685800"/>
                </a:lnTo>
                <a:lnTo>
                  <a:pt x="660400" y="685800"/>
                </a:lnTo>
                <a:close/>
                <a:moveTo>
                  <a:pt x="711200" y="660400"/>
                </a:moveTo>
                <a:lnTo>
                  <a:pt x="736600" y="660400"/>
                </a:lnTo>
                <a:lnTo>
                  <a:pt x="736600" y="685800"/>
                </a:lnTo>
                <a:lnTo>
                  <a:pt x="711200" y="685800"/>
                </a:lnTo>
                <a:close/>
                <a:moveTo>
                  <a:pt x="762000" y="660400"/>
                </a:moveTo>
                <a:lnTo>
                  <a:pt x="812800" y="660400"/>
                </a:lnTo>
                <a:lnTo>
                  <a:pt x="812800" y="685800"/>
                </a:lnTo>
                <a:lnTo>
                  <a:pt x="762000" y="685800"/>
                </a:lnTo>
                <a:close/>
                <a:moveTo>
                  <a:pt x="0" y="685800"/>
                </a:moveTo>
                <a:lnTo>
                  <a:pt x="25400" y="685800"/>
                </a:lnTo>
                <a:lnTo>
                  <a:pt x="25400" y="711200"/>
                </a:lnTo>
                <a:lnTo>
                  <a:pt x="0" y="711200"/>
                </a:lnTo>
                <a:close/>
                <a:moveTo>
                  <a:pt x="152400" y="685800"/>
                </a:moveTo>
                <a:lnTo>
                  <a:pt x="177800" y="685800"/>
                </a:lnTo>
                <a:lnTo>
                  <a:pt x="177800" y="711200"/>
                </a:lnTo>
                <a:lnTo>
                  <a:pt x="152400" y="711200"/>
                </a:lnTo>
                <a:close/>
                <a:moveTo>
                  <a:pt x="203200" y="685800"/>
                </a:moveTo>
                <a:lnTo>
                  <a:pt x="279400" y="685800"/>
                </a:lnTo>
                <a:lnTo>
                  <a:pt x="279400" y="711200"/>
                </a:lnTo>
                <a:lnTo>
                  <a:pt x="203200" y="711200"/>
                </a:lnTo>
                <a:close/>
                <a:moveTo>
                  <a:pt x="330200" y="685800"/>
                </a:moveTo>
                <a:lnTo>
                  <a:pt x="355600" y="685800"/>
                </a:lnTo>
                <a:lnTo>
                  <a:pt x="355600" y="711200"/>
                </a:lnTo>
                <a:lnTo>
                  <a:pt x="330200" y="711200"/>
                </a:lnTo>
                <a:close/>
                <a:moveTo>
                  <a:pt x="406400" y="685800"/>
                </a:moveTo>
                <a:lnTo>
                  <a:pt x="482600" y="685800"/>
                </a:lnTo>
                <a:lnTo>
                  <a:pt x="482600" y="711200"/>
                </a:lnTo>
                <a:lnTo>
                  <a:pt x="406400" y="711200"/>
                </a:lnTo>
                <a:close/>
                <a:moveTo>
                  <a:pt x="533400" y="685800"/>
                </a:moveTo>
                <a:lnTo>
                  <a:pt x="635000" y="685800"/>
                </a:lnTo>
                <a:lnTo>
                  <a:pt x="635000" y="711200"/>
                </a:lnTo>
                <a:lnTo>
                  <a:pt x="533400" y="711200"/>
                </a:lnTo>
                <a:close/>
                <a:moveTo>
                  <a:pt x="711200" y="685800"/>
                </a:moveTo>
                <a:lnTo>
                  <a:pt x="812800" y="685800"/>
                </a:lnTo>
                <a:lnTo>
                  <a:pt x="812800" y="711200"/>
                </a:lnTo>
                <a:lnTo>
                  <a:pt x="711200" y="711200"/>
                </a:lnTo>
                <a:close/>
                <a:moveTo>
                  <a:pt x="0" y="711200"/>
                </a:moveTo>
                <a:lnTo>
                  <a:pt x="25400" y="711200"/>
                </a:lnTo>
                <a:lnTo>
                  <a:pt x="25400" y="736600"/>
                </a:lnTo>
                <a:lnTo>
                  <a:pt x="0" y="736600"/>
                </a:lnTo>
                <a:close/>
                <a:moveTo>
                  <a:pt x="50800" y="711200"/>
                </a:moveTo>
                <a:lnTo>
                  <a:pt x="127000" y="711200"/>
                </a:lnTo>
                <a:lnTo>
                  <a:pt x="127000" y="736600"/>
                </a:lnTo>
                <a:lnTo>
                  <a:pt x="50800" y="736600"/>
                </a:lnTo>
                <a:close/>
                <a:moveTo>
                  <a:pt x="152400" y="711200"/>
                </a:moveTo>
                <a:lnTo>
                  <a:pt x="177800" y="711200"/>
                </a:lnTo>
                <a:lnTo>
                  <a:pt x="177800" y="736600"/>
                </a:lnTo>
                <a:lnTo>
                  <a:pt x="152400" y="736600"/>
                </a:lnTo>
                <a:close/>
                <a:moveTo>
                  <a:pt x="203200" y="711200"/>
                </a:moveTo>
                <a:lnTo>
                  <a:pt x="254000" y="711200"/>
                </a:lnTo>
                <a:lnTo>
                  <a:pt x="254000" y="736600"/>
                </a:lnTo>
                <a:lnTo>
                  <a:pt x="203200" y="736600"/>
                </a:lnTo>
                <a:close/>
                <a:moveTo>
                  <a:pt x="355600" y="711200"/>
                </a:moveTo>
                <a:lnTo>
                  <a:pt x="381000" y="711200"/>
                </a:lnTo>
                <a:lnTo>
                  <a:pt x="381000" y="736600"/>
                </a:lnTo>
                <a:lnTo>
                  <a:pt x="355600" y="736600"/>
                </a:lnTo>
                <a:close/>
                <a:moveTo>
                  <a:pt x="406400" y="711200"/>
                </a:moveTo>
                <a:lnTo>
                  <a:pt x="431800" y="711200"/>
                </a:lnTo>
                <a:lnTo>
                  <a:pt x="431800" y="736600"/>
                </a:lnTo>
                <a:lnTo>
                  <a:pt x="406400" y="736600"/>
                </a:lnTo>
                <a:close/>
                <a:moveTo>
                  <a:pt x="558800" y="711200"/>
                </a:moveTo>
                <a:lnTo>
                  <a:pt x="584200" y="711200"/>
                </a:lnTo>
                <a:lnTo>
                  <a:pt x="584200" y="736600"/>
                </a:lnTo>
                <a:lnTo>
                  <a:pt x="558800" y="736600"/>
                </a:lnTo>
                <a:close/>
                <a:moveTo>
                  <a:pt x="609600" y="711200"/>
                </a:moveTo>
                <a:lnTo>
                  <a:pt x="762000" y="711200"/>
                </a:lnTo>
                <a:lnTo>
                  <a:pt x="762000" y="736600"/>
                </a:lnTo>
                <a:lnTo>
                  <a:pt x="609600" y="736600"/>
                </a:lnTo>
                <a:close/>
                <a:moveTo>
                  <a:pt x="787400" y="711200"/>
                </a:moveTo>
                <a:lnTo>
                  <a:pt x="812800" y="711200"/>
                </a:lnTo>
                <a:lnTo>
                  <a:pt x="812800" y="736600"/>
                </a:lnTo>
                <a:lnTo>
                  <a:pt x="787400" y="736600"/>
                </a:lnTo>
                <a:close/>
                <a:moveTo>
                  <a:pt x="0" y="736600"/>
                </a:moveTo>
                <a:lnTo>
                  <a:pt x="25400" y="736600"/>
                </a:lnTo>
                <a:lnTo>
                  <a:pt x="25400" y="762000"/>
                </a:lnTo>
                <a:lnTo>
                  <a:pt x="0" y="762000"/>
                </a:lnTo>
                <a:close/>
                <a:moveTo>
                  <a:pt x="50800" y="736600"/>
                </a:moveTo>
                <a:lnTo>
                  <a:pt x="127000" y="736600"/>
                </a:lnTo>
                <a:lnTo>
                  <a:pt x="127000" y="762000"/>
                </a:lnTo>
                <a:lnTo>
                  <a:pt x="50800" y="762000"/>
                </a:lnTo>
                <a:close/>
                <a:moveTo>
                  <a:pt x="152400" y="736600"/>
                </a:moveTo>
                <a:lnTo>
                  <a:pt x="177800" y="736600"/>
                </a:lnTo>
                <a:lnTo>
                  <a:pt x="177800" y="762000"/>
                </a:lnTo>
                <a:lnTo>
                  <a:pt x="152400" y="762000"/>
                </a:lnTo>
                <a:close/>
                <a:moveTo>
                  <a:pt x="203200" y="736600"/>
                </a:moveTo>
                <a:lnTo>
                  <a:pt x="279400" y="736600"/>
                </a:lnTo>
                <a:lnTo>
                  <a:pt x="279400" y="762000"/>
                </a:lnTo>
                <a:lnTo>
                  <a:pt x="203200" y="762000"/>
                </a:lnTo>
                <a:close/>
                <a:moveTo>
                  <a:pt x="304800" y="736600"/>
                </a:moveTo>
                <a:lnTo>
                  <a:pt x="355600" y="736600"/>
                </a:lnTo>
                <a:lnTo>
                  <a:pt x="355600" y="762000"/>
                </a:lnTo>
                <a:lnTo>
                  <a:pt x="304800" y="762000"/>
                </a:lnTo>
                <a:close/>
                <a:moveTo>
                  <a:pt x="381000" y="736600"/>
                </a:moveTo>
                <a:lnTo>
                  <a:pt x="406400" y="736600"/>
                </a:lnTo>
                <a:lnTo>
                  <a:pt x="406400" y="762000"/>
                </a:lnTo>
                <a:lnTo>
                  <a:pt x="381000" y="762000"/>
                </a:lnTo>
                <a:close/>
                <a:moveTo>
                  <a:pt x="431800" y="736600"/>
                </a:moveTo>
                <a:lnTo>
                  <a:pt x="558800" y="736600"/>
                </a:lnTo>
                <a:lnTo>
                  <a:pt x="558800" y="762000"/>
                </a:lnTo>
                <a:lnTo>
                  <a:pt x="431800" y="762000"/>
                </a:lnTo>
                <a:close/>
                <a:moveTo>
                  <a:pt x="584200" y="736600"/>
                </a:moveTo>
                <a:lnTo>
                  <a:pt x="660400" y="736600"/>
                </a:lnTo>
                <a:lnTo>
                  <a:pt x="660400" y="762000"/>
                </a:lnTo>
                <a:lnTo>
                  <a:pt x="584200" y="762000"/>
                </a:lnTo>
                <a:close/>
                <a:moveTo>
                  <a:pt x="711200" y="736600"/>
                </a:moveTo>
                <a:lnTo>
                  <a:pt x="762000" y="736600"/>
                </a:lnTo>
                <a:lnTo>
                  <a:pt x="762000" y="762000"/>
                </a:lnTo>
                <a:lnTo>
                  <a:pt x="711200" y="762000"/>
                </a:lnTo>
                <a:close/>
                <a:moveTo>
                  <a:pt x="787400" y="736600"/>
                </a:moveTo>
                <a:lnTo>
                  <a:pt x="838200" y="736600"/>
                </a:lnTo>
                <a:lnTo>
                  <a:pt x="838200" y="762000"/>
                </a:lnTo>
                <a:lnTo>
                  <a:pt x="787400" y="762000"/>
                </a:lnTo>
                <a:close/>
                <a:moveTo>
                  <a:pt x="0" y="762000"/>
                </a:moveTo>
                <a:lnTo>
                  <a:pt x="25400" y="762000"/>
                </a:lnTo>
                <a:lnTo>
                  <a:pt x="25400" y="787400"/>
                </a:lnTo>
                <a:lnTo>
                  <a:pt x="0" y="787400"/>
                </a:lnTo>
                <a:close/>
                <a:moveTo>
                  <a:pt x="50800" y="762000"/>
                </a:moveTo>
                <a:lnTo>
                  <a:pt x="127000" y="762000"/>
                </a:lnTo>
                <a:lnTo>
                  <a:pt x="127000" y="787400"/>
                </a:lnTo>
                <a:lnTo>
                  <a:pt x="50800" y="787400"/>
                </a:lnTo>
                <a:close/>
                <a:moveTo>
                  <a:pt x="152400" y="762000"/>
                </a:moveTo>
                <a:lnTo>
                  <a:pt x="177800" y="762000"/>
                </a:lnTo>
                <a:lnTo>
                  <a:pt x="177800" y="787400"/>
                </a:lnTo>
                <a:lnTo>
                  <a:pt x="152400" y="787400"/>
                </a:lnTo>
                <a:close/>
                <a:moveTo>
                  <a:pt x="203200" y="762000"/>
                </a:moveTo>
                <a:lnTo>
                  <a:pt x="228600" y="762000"/>
                </a:lnTo>
                <a:lnTo>
                  <a:pt x="228600" y="787400"/>
                </a:lnTo>
                <a:lnTo>
                  <a:pt x="203200" y="787400"/>
                </a:lnTo>
                <a:close/>
                <a:moveTo>
                  <a:pt x="254000" y="762000"/>
                </a:moveTo>
                <a:lnTo>
                  <a:pt x="279400" y="762000"/>
                </a:lnTo>
                <a:lnTo>
                  <a:pt x="279400" y="787400"/>
                </a:lnTo>
                <a:lnTo>
                  <a:pt x="254000" y="787400"/>
                </a:lnTo>
                <a:close/>
                <a:moveTo>
                  <a:pt x="330200" y="762000"/>
                </a:moveTo>
                <a:lnTo>
                  <a:pt x="355600" y="762000"/>
                </a:lnTo>
                <a:lnTo>
                  <a:pt x="355600" y="787400"/>
                </a:lnTo>
                <a:lnTo>
                  <a:pt x="330200" y="787400"/>
                </a:lnTo>
                <a:close/>
                <a:moveTo>
                  <a:pt x="381000" y="762000"/>
                </a:moveTo>
                <a:lnTo>
                  <a:pt x="431800" y="762000"/>
                </a:lnTo>
                <a:lnTo>
                  <a:pt x="431800" y="787400"/>
                </a:lnTo>
                <a:lnTo>
                  <a:pt x="381000" y="787400"/>
                </a:lnTo>
                <a:close/>
                <a:moveTo>
                  <a:pt x="508000" y="762000"/>
                </a:moveTo>
                <a:lnTo>
                  <a:pt x="558800" y="762000"/>
                </a:lnTo>
                <a:lnTo>
                  <a:pt x="558800" y="787400"/>
                </a:lnTo>
                <a:lnTo>
                  <a:pt x="508000" y="787400"/>
                </a:lnTo>
                <a:close/>
                <a:moveTo>
                  <a:pt x="609600" y="762000"/>
                </a:moveTo>
                <a:lnTo>
                  <a:pt x="635000" y="762000"/>
                </a:lnTo>
                <a:lnTo>
                  <a:pt x="635000" y="787400"/>
                </a:lnTo>
                <a:lnTo>
                  <a:pt x="609600" y="787400"/>
                </a:lnTo>
                <a:close/>
                <a:moveTo>
                  <a:pt x="660400" y="762000"/>
                </a:moveTo>
                <a:lnTo>
                  <a:pt x="711200" y="762000"/>
                </a:lnTo>
                <a:lnTo>
                  <a:pt x="711200" y="787400"/>
                </a:lnTo>
                <a:lnTo>
                  <a:pt x="660400" y="787400"/>
                </a:lnTo>
                <a:close/>
                <a:moveTo>
                  <a:pt x="736600" y="762000"/>
                </a:moveTo>
                <a:lnTo>
                  <a:pt x="762000" y="762000"/>
                </a:lnTo>
                <a:lnTo>
                  <a:pt x="762000" y="787400"/>
                </a:lnTo>
                <a:lnTo>
                  <a:pt x="736600" y="787400"/>
                </a:lnTo>
                <a:close/>
                <a:moveTo>
                  <a:pt x="0" y="787400"/>
                </a:moveTo>
                <a:lnTo>
                  <a:pt x="25400" y="787400"/>
                </a:lnTo>
                <a:lnTo>
                  <a:pt x="25400" y="812800"/>
                </a:lnTo>
                <a:lnTo>
                  <a:pt x="0" y="812800"/>
                </a:lnTo>
                <a:close/>
                <a:moveTo>
                  <a:pt x="152400" y="787400"/>
                </a:moveTo>
                <a:lnTo>
                  <a:pt x="177800" y="787400"/>
                </a:lnTo>
                <a:lnTo>
                  <a:pt x="177800" y="812800"/>
                </a:lnTo>
                <a:lnTo>
                  <a:pt x="152400" y="812800"/>
                </a:lnTo>
                <a:close/>
                <a:moveTo>
                  <a:pt x="228600" y="787400"/>
                </a:moveTo>
                <a:lnTo>
                  <a:pt x="279400" y="787400"/>
                </a:lnTo>
                <a:lnTo>
                  <a:pt x="279400" y="812800"/>
                </a:lnTo>
                <a:lnTo>
                  <a:pt x="228600" y="812800"/>
                </a:lnTo>
                <a:close/>
                <a:moveTo>
                  <a:pt x="381000" y="787400"/>
                </a:moveTo>
                <a:lnTo>
                  <a:pt x="406400" y="787400"/>
                </a:lnTo>
                <a:lnTo>
                  <a:pt x="406400" y="812800"/>
                </a:lnTo>
                <a:lnTo>
                  <a:pt x="381000" y="812800"/>
                </a:lnTo>
                <a:close/>
                <a:moveTo>
                  <a:pt x="533400" y="787400"/>
                </a:moveTo>
                <a:lnTo>
                  <a:pt x="584200" y="787400"/>
                </a:lnTo>
                <a:lnTo>
                  <a:pt x="584200" y="812800"/>
                </a:lnTo>
                <a:lnTo>
                  <a:pt x="533400" y="812800"/>
                </a:lnTo>
                <a:close/>
                <a:moveTo>
                  <a:pt x="660400" y="787400"/>
                </a:moveTo>
                <a:lnTo>
                  <a:pt x="685800" y="787400"/>
                </a:lnTo>
                <a:lnTo>
                  <a:pt x="685800" y="812800"/>
                </a:lnTo>
                <a:lnTo>
                  <a:pt x="660400" y="812800"/>
                </a:lnTo>
                <a:close/>
                <a:moveTo>
                  <a:pt x="711200" y="787400"/>
                </a:moveTo>
                <a:lnTo>
                  <a:pt x="787400" y="787400"/>
                </a:lnTo>
                <a:lnTo>
                  <a:pt x="787400" y="812800"/>
                </a:lnTo>
                <a:lnTo>
                  <a:pt x="711200" y="812800"/>
                </a:lnTo>
                <a:close/>
                <a:moveTo>
                  <a:pt x="0" y="812800"/>
                </a:moveTo>
                <a:lnTo>
                  <a:pt x="177800" y="812800"/>
                </a:lnTo>
                <a:lnTo>
                  <a:pt x="177800" y="838200"/>
                </a:lnTo>
                <a:lnTo>
                  <a:pt x="0" y="838200"/>
                </a:lnTo>
                <a:close/>
                <a:moveTo>
                  <a:pt x="203200" y="812800"/>
                </a:moveTo>
                <a:lnTo>
                  <a:pt x="228600" y="812800"/>
                </a:lnTo>
                <a:lnTo>
                  <a:pt x="228600" y="838200"/>
                </a:lnTo>
                <a:lnTo>
                  <a:pt x="203200" y="838200"/>
                </a:lnTo>
                <a:close/>
                <a:moveTo>
                  <a:pt x="254000" y="812800"/>
                </a:moveTo>
                <a:lnTo>
                  <a:pt x="279400" y="812800"/>
                </a:lnTo>
                <a:lnTo>
                  <a:pt x="279400" y="838200"/>
                </a:lnTo>
                <a:lnTo>
                  <a:pt x="254000" y="838200"/>
                </a:lnTo>
                <a:close/>
                <a:moveTo>
                  <a:pt x="304800" y="812800"/>
                </a:moveTo>
                <a:lnTo>
                  <a:pt x="330200" y="812800"/>
                </a:lnTo>
                <a:lnTo>
                  <a:pt x="330200" y="838200"/>
                </a:lnTo>
                <a:lnTo>
                  <a:pt x="304800" y="838200"/>
                </a:lnTo>
                <a:close/>
                <a:moveTo>
                  <a:pt x="355600" y="812800"/>
                </a:moveTo>
                <a:lnTo>
                  <a:pt x="406400" y="812800"/>
                </a:lnTo>
                <a:lnTo>
                  <a:pt x="406400" y="838200"/>
                </a:lnTo>
                <a:lnTo>
                  <a:pt x="355600" y="838200"/>
                </a:lnTo>
                <a:close/>
                <a:moveTo>
                  <a:pt x="431800" y="812800"/>
                </a:moveTo>
                <a:lnTo>
                  <a:pt x="482600" y="812800"/>
                </a:lnTo>
                <a:lnTo>
                  <a:pt x="482600" y="838200"/>
                </a:lnTo>
                <a:lnTo>
                  <a:pt x="431800" y="838200"/>
                </a:lnTo>
                <a:close/>
                <a:moveTo>
                  <a:pt x="508000" y="812800"/>
                </a:moveTo>
                <a:lnTo>
                  <a:pt x="533400" y="812800"/>
                </a:lnTo>
                <a:lnTo>
                  <a:pt x="533400" y="838200"/>
                </a:lnTo>
                <a:lnTo>
                  <a:pt x="508000" y="838200"/>
                </a:lnTo>
                <a:close/>
                <a:moveTo>
                  <a:pt x="584200" y="812800"/>
                </a:moveTo>
                <a:lnTo>
                  <a:pt x="660400" y="812800"/>
                </a:lnTo>
                <a:lnTo>
                  <a:pt x="660400" y="838200"/>
                </a:lnTo>
                <a:lnTo>
                  <a:pt x="584200" y="838200"/>
                </a:lnTo>
                <a:close/>
                <a:moveTo>
                  <a:pt x="685800" y="812800"/>
                </a:moveTo>
                <a:lnTo>
                  <a:pt x="711200" y="812800"/>
                </a:lnTo>
                <a:lnTo>
                  <a:pt x="711200" y="838200"/>
                </a:lnTo>
                <a:lnTo>
                  <a:pt x="685800" y="838200"/>
                </a:lnTo>
                <a:close/>
                <a:moveTo>
                  <a:pt x="736600" y="812800"/>
                </a:moveTo>
                <a:lnTo>
                  <a:pt x="762000" y="812800"/>
                </a:lnTo>
                <a:lnTo>
                  <a:pt x="762000" y="838200"/>
                </a:lnTo>
                <a:lnTo>
                  <a:pt x="736600" y="838200"/>
                </a:lnTo>
                <a:close/>
                <a:moveTo>
                  <a:pt x="787400" y="812800"/>
                </a:moveTo>
                <a:lnTo>
                  <a:pt x="812800" y="812800"/>
                </a:lnTo>
                <a:lnTo>
                  <a:pt x="812800" y="838200"/>
                </a:lnTo>
                <a:lnTo>
                  <a:pt x="787400" y="838200"/>
                </a:lnTo>
                <a:close/>
              </a:path>
            </a:pathLst>
          </a:custGeom>
          <a:solidFill>
            <a:srgbClr val="0B091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텍스트"/>
          <p:cNvSpPr txBox="1"/>
          <p:nvPr/>
        </p:nvSpPr>
        <p:spPr>
          <a:xfrm>
            <a:off x="1974850" y="5582741"/>
            <a:ext cx="4541778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7A2FF"/>
                </a:solidFill>
                <a:latin typeface="Menlo"/>
                <a:ea typeface="Paperlogy 4 Regular"/>
                <a:cs typeface="Paperlogy 4 Regular"/>
              </a:rPr>
              <a:t>haemin001015-lgtm.github.io/running-ai-safety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1974850" y="5368429"/>
            <a:ext cx="1994654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D84B6"/>
                </a:solidFill>
                <a:latin typeface="Paperlogy 7 Bold"/>
                <a:ea typeface="Paperlogy 7 Bold"/>
                <a:cs typeface="Paperlogy 7 Bold"/>
              </a:rPr>
              <a:t>실제 작동하는 시뮬레이션 사이트</a:t>
            </a:r>
          </a:p>
        </p:txBody>
      </p:sp>
      <p:sp>
        <p:nvSpPr>
          <p:cNvPr id="21" name="도형"/>
          <p:cNvSpPr/>
          <p:nvPr/>
        </p:nvSpPr>
        <p:spPr>
          <a:xfrm>
            <a:off x="8526462" y="804862"/>
            <a:ext cx="2847975" cy="5197475"/>
          </a:xfrm>
          <a:prstGeom prst="roundRect">
            <a:avLst>
              <a:gd name="adj" fmla="val 12318"/>
            </a:avLst>
          </a:prstGeom>
          <a:solidFill>
            <a:srgbClr val="130F29"/>
          </a:solidFill>
          <a:ln w="9525">
            <a:solidFill>
              <a:srgbClr val="3B31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텍스트"/>
          <p:cNvSpPr txBox="1"/>
          <p:nvPr/>
        </p:nvSpPr>
        <p:spPr>
          <a:xfrm>
            <a:off x="8766175" y="983456"/>
            <a:ext cx="470297" cy="1349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4BBE6"/>
                </a:solidFill>
                <a:latin typeface="Paperlogy 7 Bold"/>
                <a:ea typeface="Paperlogy 7 Bold"/>
                <a:cs typeface="Paperlogy 7 Bold"/>
              </a:rPr>
              <a:t>21:40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10709424" y="983456"/>
            <a:ext cx="565001" cy="1349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4BBE6"/>
                </a:solidFill>
                <a:latin typeface="Paperlogy 7 Bold"/>
                <a:ea typeface="Paperlogy 7 Bold"/>
                <a:cs typeface="Paperlogy 7 Bold"/>
              </a:rPr>
              <a:t>●●● ▮</a:t>
            </a:r>
          </a:p>
        </p:txBody>
      </p:sp>
      <p:sp>
        <p:nvSpPr>
          <p:cNvPr id="24" name="도형"/>
          <p:cNvSpPr/>
          <p:nvPr/>
        </p:nvSpPr>
        <p:spPr>
          <a:xfrm>
            <a:off x="8721725" y="1231900"/>
            <a:ext cx="279400" cy="279400"/>
          </a:xfrm>
          <a:prstGeom prst="roundRect">
            <a:avLst>
              <a:gd name="adj" fmla="val 31818"/>
            </a:avLst>
          </a:prstGeom>
          <a:gradFill rotWithShape="1">
            <a:gsLst>
              <a:gs pos="0">
                <a:srgbClr val="B7A2FF"/>
              </a:gs>
              <a:gs pos="100000">
                <a:srgbClr val="5B3FD1"/>
              </a:gs>
            </a:gsLst>
            <a:lin ang="18600000" scaled="0"/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텍스트"/>
          <p:cNvSpPr txBox="1"/>
          <p:nvPr/>
        </p:nvSpPr>
        <p:spPr>
          <a:xfrm>
            <a:off x="9083675" y="1230928"/>
            <a:ext cx="949970" cy="1676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AI 생활안전망</a:t>
            </a:r>
          </a:p>
        </p:txBody>
      </p:sp>
      <p:sp>
        <p:nvSpPr>
          <p:cNvPr id="26" name="텍스트"/>
          <p:cNvSpPr txBox="1"/>
          <p:nvPr/>
        </p:nvSpPr>
        <p:spPr>
          <a:xfrm>
            <a:off x="9083675" y="1395859"/>
            <a:ext cx="1228973" cy="1190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E5588"/>
                </a:solidFill>
                <a:latin typeface="Paperlogy 5 Medium"/>
                <a:ea typeface="Paperlogy 5 Medium"/>
                <a:cs typeface="Paperlogy 5 Medium"/>
              </a:rPr>
              <a:t>청년러닝방범대 · 만안 1코스</a:t>
            </a:r>
          </a:p>
        </p:txBody>
      </p:sp>
      <p:sp>
        <p:nvSpPr>
          <p:cNvPr id="27" name="도형"/>
          <p:cNvSpPr/>
          <p:nvPr/>
        </p:nvSpPr>
        <p:spPr>
          <a:xfrm>
            <a:off x="8686800" y="1654175"/>
            <a:ext cx="2527300" cy="1006475"/>
          </a:xfrm>
          <a:prstGeom prst="roundRect">
            <a:avLst>
              <a:gd name="adj" fmla="val 13564"/>
            </a:avLst>
          </a:prstGeom>
          <a:solidFill>
            <a:srgbClr val="1A1536"/>
          </a:solidFill>
          <a:ln w="6350">
            <a:solidFill>
              <a:srgbClr val="2E265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도형"/>
          <p:cNvSpPr/>
          <p:nvPr/>
        </p:nvSpPr>
        <p:spPr>
          <a:xfrm>
            <a:off x="8816975" y="1958975"/>
            <a:ext cx="2266950" cy="584200"/>
          </a:xfrm>
          <a:prstGeom prst="roundRect">
            <a:avLst>
              <a:gd name="adj" fmla="val 17391"/>
            </a:avLst>
          </a:prstGeom>
          <a:gradFill rotWithShape="1">
            <a:gsLst>
              <a:gs pos="0">
                <a:srgbClr val="241C48"/>
              </a:gs>
              <a:gs pos="100000">
                <a:srgbClr val="100C22"/>
              </a:gs>
            </a:gsLst>
            <a:lin ang="17400000" scaled="0"/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도형"/>
          <p:cNvSpPr/>
          <p:nvPr/>
        </p:nvSpPr>
        <p:spPr>
          <a:xfrm>
            <a:off x="10199787" y="2087463"/>
            <a:ext cx="38100" cy="455612"/>
          </a:xfrm>
          <a:prstGeom prst="roundRect">
            <a:avLst>
              <a:gd name="adj" fmla="val 50000"/>
            </a:avLst>
          </a:prstGeom>
          <a:solidFill>
            <a:srgbClr val="3A316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텍스트"/>
          <p:cNvSpPr txBox="1"/>
          <p:nvPr/>
        </p:nvSpPr>
        <p:spPr>
          <a:xfrm>
            <a:off x="8810625" y="1767681"/>
            <a:ext cx="679053" cy="1190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30">
                <a:solidFill>
                  <a:srgbClr val="8D84B6"/>
                </a:solidFill>
                <a:latin typeface="Paperlogy 7 Bold"/>
                <a:ea typeface="Paperlogy 7 Bold"/>
                <a:cs typeface="Paperlogy 7 Bold"/>
              </a:rPr>
              <a:t>1 · 사진 촬영</a:t>
            </a:r>
          </a:p>
        </p:txBody>
      </p:sp>
      <p:sp>
        <p:nvSpPr>
          <p:cNvPr id="31" name="도형"/>
          <p:cNvSpPr/>
          <p:nvPr/>
        </p:nvSpPr>
        <p:spPr>
          <a:xfrm>
            <a:off x="8686800" y="2755900"/>
            <a:ext cx="2527300" cy="669925"/>
          </a:xfrm>
          <a:prstGeom prst="roundRect">
            <a:avLst>
              <a:gd name="adj" fmla="val 20379"/>
            </a:avLst>
          </a:prstGeom>
          <a:solidFill>
            <a:srgbClr val="1A1536"/>
          </a:solidFill>
          <a:ln w="6350">
            <a:solidFill>
              <a:srgbClr val="2E265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텍스트"/>
          <p:cNvSpPr txBox="1"/>
          <p:nvPr/>
        </p:nvSpPr>
        <p:spPr>
          <a:xfrm>
            <a:off x="8810625" y="3193256"/>
            <a:ext cx="1356668" cy="1190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E5588"/>
                </a:solidFill>
                <a:latin typeface="Menlo"/>
                <a:ea typeface="Paperlogy 5 Medium"/>
                <a:cs typeface="Paperlogy 5 Medium"/>
              </a:rPr>
              <a:t>37.397350, 126.921640</a:t>
            </a:r>
          </a:p>
        </p:txBody>
      </p:sp>
      <p:sp>
        <p:nvSpPr>
          <p:cNvPr id="33" name="텍스트"/>
          <p:cNvSpPr txBox="1"/>
          <p:nvPr/>
        </p:nvSpPr>
        <p:spPr>
          <a:xfrm>
            <a:off x="8810625" y="3030538"/>
            <a:ext cx="1186210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벽산사거리 횡단보도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8810625" y="2869406"/>
            <a:ext cx="479028" cy="1190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30">
                <a:solidFill>
                  <a:srgbClr val="8D84B6"/>
                </a:solidFill>
                <a:latin typeface="Paperlogy 7 Bold"/>
                <a:ea typeface="Paperlogy 7 Bold"/>
                <a:cs typeface="Paperlogy 7 Bold"/>
              </a:rPr>
              <a:t>2 · 위치</a:t>
            </a:r>
          </a:p>
        </p:txBody>
      </p:sp>
      <p:sp>
        <p:nvSpPr>
          <p:cNvPr id="35" name="도형"/>
          <p:cNvSpPr/>
          <p:nvPr/>
        </p:nvSpPr>
        <p:spPr>
          <a:xfrm>
            <a:off x="8686800" y="3521075"/>
            <a:ext cx="2527300" cy="768350"/>
          </a:xfrm>
          <a:prstGeom prst="roundRect">
            <a:avLst>
              <a:gd name="adj" fmla="val 17768"/>
            </a:avLst>
          </a:prstGeom>
          <a:solidFill>
            <a:srgbClr val="1A1536"/>
          </a:solidFill>
          <a:ln w="6350">
            <a:solidFill>
              <a:srgbClr val="2E265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텍스트"/>
          <p:cNvSpPr txBox="1"/>
          <p:nvPr/>
        </p:nvSpPr>
        <p:spPr>
          <a:xfrm>
            <a:off x="8810625" y="3808412"/>
            <a:ext cx="1726714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EEAFB"/>
                </a:solidFill>
                <a:latin typeface="Paperlogy 5 Medium"/>
                <a:ea typeface="Paperlogy 5 Medium"/>
                <a:cs typeface="Paperlogy 5 Medium"/>
              </a:rPr>
              <a:t>“여기 가로등 하나가 꺼져 있음”</a:t>
            </a:r>
          </a:p>
        </p:txBody>
      </p:sp>
      <p:sp>
        <p:nvSpPr>
          <p:cNvPr id="37" name="도형"/>
          <p:cNvSpPr/>
          <p:nvPr/>
        </p:nvSpPr>
        <p:spPr>
          <a:xfrm>
            <a:off x="8816975" y="4051300"/>
            <a:ext cx="178792" cy="120650"/>
          </a:xfrm>
          <a:prstGeom prst="roundRect">
            <a:avLst>
              <a:gd name="adj" fmla="val 31578"/>
            </a:avLst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텍스트"/>
          <p:cNvSpPr txBox="1"/>
          <p:nvPr/>
        </p:nvSpPr>
        <p:spPr>
          <a:xfrm>
            <a:off x="8855075" y="4060031"/>
            <a:ext cx="242292" cy="1031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12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0B0919"/>
                </a:solidFill>
                <a:latin typeface="Paperlogy 8 ExtraBold"/>
                <a:ea typeface="Paperlogy 8 ExtraBold"/>
                <a:cs typeface="Paperlogy 8 ExtraBold"/>
              </a:rPr>
              <a:t>AI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9052917" y="4048125"/>
            <a:ext cx="66154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AI 분류 결과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625558" y="4048125"/>
            <a:ext cx="146967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‘</a:t>
            </a:r>
            <a:r>
              <a:rPr sz="800" b="0" i="0">
                <a:solidFill>
                  <a:srgbClr val="FFC97A"/>
                </a:solidFill>
                <a:latin typeface="Paperlogy 9 Black"/>
                <a:ea typeface="Paperlogy 9 Black"/>
                <a:cs typeface="Paperlogy 9 Black"/>
              </a:rPr>
              <a:t>빛–소등</a:t>
            </a:r>
            <a:r>
              <a:rPr sz="8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’ 유형으로 분류했습니다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8810625" y="3634581"/>
            <a:ext cx="679053" cy="1190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30">
                <a:solidFill>
                  <a:srgbClr val="8D84B6"/>
                </a:solidFill>
                <a:latin typeface="Paperlogy 7 Bold"/>
                <a:ea typeface="Paperlogy 7 Bold"/>
                <a:cs typeface="Paperlogy 7 Bold"/>
              </a:rPr>
              <a:t>3 · 현장 메모</a:t>
            </a:r>
          </a:p>
        </p:txBody>
      </p:sp>
      <p:sp>
        <p:nvSpPr>
          <p:cNvPr id="42" name="도형"/>
          <p:cNvSpPr/>
          <p:nvPr/>
        </p:nvSpPr>
        <p:spPr>
          <a:xfrm>
            <a:off x="8683625" y="4406900"/>
            <a:ext cx="2533650" cy="393700"/>
          </a:xfrm>
          <a:prstGeom prst="roundRect">
            <a:avLst>
              <a:gd name="adj" fmla="val 29032"/>
            </a:avLst>
          </a:prstGeom>
          <a:gradFill rotWithShape="1">
            <a:gsLst>
              <a:gs pos="0">
                <a:srgbClr val="5B3FD1"/>
              </a:gs>
              <a:gs pos="100000">
                <a:srgbClr val="8C6BF7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텍스트"/>
          <p:cNvSpPr txBox="1"/>
          <p:nvPr/>
        </p:nvSpPr>
        <p:spPr>
          <a:xfrm>
            <a:off x="9694714" y="4520406"/>
            <a:ext cx="651173" cy="1666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제보 등록</a:t>
            </a:r>
          </a:p>
        </p:txBody>
      </p:sp>
      <p:cxnSp>
        <p:nvCxnSpPr>
          <p:cNvPr id="44" name="선"/>
          <p:cNvCxnSpPr/>
          <p:nvPr/>
        </p:nvCxnSpPr>
        <p:spPr>
          <a:xfrm>
            <a:off x="8531225" y="5603875"/>
            <a:ext cx="283845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45" name="텍스트"/>
          <p:cNvSpPr txBox="1"/>
          <p:nvPr/>
        </p:nvSpPr>
        <p:spPr>
          <a:xfrm>
            <a:off x="8725991" y="5704681"/>
            <a:ext cx="320080" cy="1190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E5588"/>
                </a:solidFill>
                <a:latin typeface="Paperlogy 7 Bold"/>
                <a:ea typeface="Paperlogy 7 Bold"/>
                <a:cs typeface="Paperlogy 7 Bold"/>
              </a:rPr>
              <a:t>순찰</a:t>
            </a:r>
          </a:p>
        </p:txBody>
      </p:sp>
      <p:sp>
        <p:nvSpPr>
          <p:cNvPr id="46" name="텍스트"/>
          <p:cNvSpPr txBox="1"/>
          <p:nvPr/>
        </p:nvSpPr>
        <p:spPr>
          <a:xfrm>
            <a:off x="9435604" y="5704681"/>
            <a:ext cx="320080" cy="1190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B7A2FF"/>
                </a:solidFill>
                <a:latin typeface="Paperlogy 7 Bold"/>
                <a:ea typeface="Paperlogy 7 Bold"/>
                <a:cs typeface="Paperlogy 7 Bold"/>
              </a:rPr>
              <a:t>제보</a:t>
            </a:r>
          </a:p>
        </p:txBody>
      </p:sp>
      <p:sp>
        <p:nvSpPr>
          <p:cNvPr id="47" name="텍스트"/>
          <p:cNvSpPr txBox="1"/>
          <p:nvPr/>
        </p:nvSpPr>
        <p:spPr>
          <a:xfrm>
            <a:off x="10061377" y="5704681"/>
            <a:ext cx="487710" cy="1190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E5588"/>
                </a:solidFill>
                <a:latin typeface="Paperlogy 7 Bold"/>
                <a:ea typeface="Paperlogy 7 Bold"/>
                <a:cs typeface="Paperlogy 7 Bold"/>
              </a:rPr>
              <a:t>위험지도</a:t>
            </a:r>
          </a:p>
        </p:txBody>
      </p:sp>
      <p:sp>
        <p:nvSpPr>
          <p:cNvPr id="48" name="텍스트"/>
          <p:cNvSpPr txBox="1"/>
          <p:nvPr/>
        </p:nvSpPr>
        <p:spPr>
          <a:xfrm>
            <a:off x="10802441" y="5704681"/>
            <a:ext cx="424855" cy="1190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E5588"/>
                </a:solidFill>
                <a:latin typeface="Paperlogy 7 Bold"/>
                <a:ea typeface="Paperlogy 7 Bold"/>
                <a:cs typeface="Paperlogy 7 Bold"/>
              </a:rPr>
              <a:t>내 활동</a:t>
            </a:r>
          </a:p>
        </p:txBody>
      </p:sp>
      <p:sp>
        <p:nvSpPr>
          <p:cNvPr id="49" name="텍스트"/>
          <p:cNvSpPr txBox="1"/>
          <p:nvPr/>
        </p:nvSpPr>
        <p:spPr>
          <a:xfrm>
            <a:off x="806450" y="6415088"/>
            <a:ext cx="163274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러닝으로 만드는 AI 생활안전망</a:t>
            </a:r>
          </a:p>
        </p:txBody>
      </p:sp>
      <p:sp>
        <p:nvSpPr>
          <p:cNvPr id="50" name="텍스트"/>
          <p:cNvSpPr txBox="1"/>
          <p:nvPr/>
        </p:nvSpPr>
        <p:spPr>
          <a:xfrm>
            <a:off x="10944076" y="6415088"/>
            <a:ext cx="58117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"/>
          <p:cNvSpPr txBox="1"/>
          <p:nvPr/>
        </p:nvSpPr>
        <p:spPr>
          <a:xfrm>
            <a:off x="806450" y="706438"/>
            <a:ext cx="1011585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4">
                <a:solidFill>
                  <a:srgbClr val="B7A2FF"/>
                </a:solidFill>
                <a:latin typeface="Paperlogy 7 Bold"/>
                <a:ea typeface="Paperlogy 7 Bold"/>
                <a:cs typeface="Paperlogy 7 Bold"/>
              </a:rPr>
              <a:t>AI 활용 방법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806450" y="1002878"/>
            <a:ext cx="5053429" cy="7192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spc="-72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대원은 발견하고, 찍고, 한 줄만 남깁니다</a:t>
            </a:r>
          </a:p>
          <a:p>
            <a:pPr algn="l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spc="-72">
                <a:solidFill>
                  <a:srgbClr val="B7A2FF"/>
                </a:solidFill>
                <a:latin typeface="Paperlogy 8 ExtraBold"/>
                <a:ea typeface="Paperlogy 8 ExtraBold"/>
                <a:cs typeface="Paperlogy 8 ExtraBold"/>
              </a:rPr>
              <a:t>분류와 정리는 AI가 맡습니다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806450" y="1896368"/>
            <a:ext cx="393700" cy="1508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4">
                <a:solidFill>
                  <a:srgbClr val="8D84B6"/>
                </a:solidFill>
                <a:latin typeface="Paperlogy 8 ExtraBold"/>
                <a:ea typeface="Paperlogy 8 ExtraBold"/>
                <a:cs typeface="Paperlogy 8 ExtraBold"/>
              </a:rPr>
              <a:t>입력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806450" y="2074962"/>
            <a:ext cx="790724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42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현장 기록</a:t>
            </a:r>
          </a:p>
        </p:txBody>
      </p:sp>
      <p:sp>
        <p:nvSpPr>
          <p:cNvPr id="6" name="도형"/>
          <p:cNvSpPr/>
          <p:nvPr/>
        </p:nvSpPr>
        <p:spPr>
          <a:xfrm>
            <a:off x="812800" y="2379762"/>
            <a:ext cx="603101" cy="180975"/>
          </a:xfrm>
          <a:prstGeom prst="roundRect">
            <a:avLst>
              <a:gd name="adj" fmla="val 28070"/>
            </a:avLst>
          </a:prstGeom>
          <a:solidFill>
            <a:srgbClr val="5FD3AC">
              <a:alpha val="13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텍스트"/>
          <p:cNvSpPr txBox="1"/>
          <p:nvPr/>
        </p:nvSpPr>
        <p:spPr>
          <a:xfrm>
            <a:off x="882650" y="2406749"/>
            <a:ext cx="60310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6">
                <a:solidFill>
                  <a:srgbClr val="5FD3AC"/>
                </a:solidFill>
                <a:latin typeface="Paperlogy 8 ExtraBold"/>
                <a:ea typeface="Paperlogy 8 ExtraBold"/>
                <a:cs typeface="Paperlogy 8 ExtraBold"/>
              </a:rPr>
              <a:t>담당 · 대원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806450" y="2634084"/>
            <a:ext cx="1976646" cy="36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사진·GPS 좌표·현장 메모를 한 번에</a:t>
            </a:r>
          </a:p>
          <a:p>
            <a:pPr algn="l"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등록합니다.</a:t>
            </a:r>
          </a:p>
        </p:txBody>
      </p:sp>
      <p:sp>
        <p:nvSpPr>
          <p:cNvPr id="9" name="도형"/>
          <p:cNvSpPr/>
          <p:nvPr/>
        </p:nvSpPr>
        <p:spPr>
          <a:xfrm>
            <a:off x="815975" y="3076972"/>
            <a:ext cx="1995140" cy="862261"/>
          </a:xfrm>
          <a:prstGeom prst="roundRect">
            <a:avLst>
              <a:gd name="adj" fmla="val 11414"/>
            </a:avLst>
          </a:prstGeom>
          <a:solidFill>
            <a:srgbClr val="1A1536"/>
          </a:solidFill>
          <a:ln w="6350">
            <a:solidFill>
              <a:srgbClr val="2E265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텍스트"/>
          <p:cNvSpPr txBox="1"/>
          <p:nvPr/>
        </p:nvSpPr>
        <p:spPr>
          <a:xfrm>
            <a:off x="914400" y="3705582"/>
            <a:ext cx="1436936" cy="147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D84B6"/>
                </a:solidFill>
                <a:latin typeface="Menlo"/>
                <a:ea typeface="Paperlogy 6 SemiBold"/>
                <a:cs typeface="Paperlogy 6 SemiBold"/>
              </a:rPr>
              <a:t>37.397350, 126.921640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14400" y="3330823"/>
            <a:ext cx="1933808" cy="34984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EAFB"/>
                </a:solidFill>
                <a:latin typeface="Paperlogy 6 SemiBold"/>
                <a:ea typeface="Paperlogy 6 SemiBold"/>
                <a:cs typeface="Paperlogy 6 SemiBold"/>
              </a:rPr>
              <a:t>“횡단보도 앞 보도블록이 들떠서 걸려</a:t>
            </a:r>
          </a:p>
          <a:p>
            <a:pPr algn="l"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EAFB"/>
                </a:solidFill>
                <a:latin typeface="Paperlogy 6 SemiBold"/>
                <a:ea typeface="Paperlogy 6 SemiBold"/>
                <a:cs typeface="Paperlogy 6 SemiBold"/>
              </a:rPr>
              <a:t>넘어질 뻔함”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914400" y="3157934"/>
            <a:ext cx="351582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80">
                <a:solidFill>
                  <a:srgbClr val="5E5588"/>
                </a:solidFill>
                <a:latin typeface="Paperlogy 8 ExtraBold"/>
                <a:ea typeface="Paperlogy 8 ExtraBold"/>
                <a:cs typeface="Paperlogy 8 ExtraBold"/>
              </a:rPr>
              <a:t>예시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826990" y="1933674"/>
            <a:ext cx="254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5588"/>
                </a:solidFill>
                <a:latin typeface="Paperlogy 4 Regular"/>
                <a:ea typeface="Paperlogy 4 Regular"/>
                <a:cs typeface="Paperlogy 4 Regular"/>
              </a:rPr>
              <a:t>→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947640" y="1896368"/>
            <a:ext cx="393700" cy="1508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4">
                <a:solidFill>
                  <a:srgbClr val="8D84B6"/>
                </a:solidFill>
                <a:latin typeface="Paperlogy 8 ExtraBold"/>
                <a:ea typeface="Paperlogy 8 ExtraBold"/>
                <a:cs typeface="Paperlogy 8 ExtraBold"/>
              </a:rPr>
              <a:t>분류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947640" y="2074962"/>
            <a:ext cx="1277888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42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위험 유형 표준화</a:t>
            </a:r>
          </a:p>
        </p:txBody>
      </p:sp>
      <p:sp>
        <p:nvSpPr>
          <p:cNvPr id="16" name="도형"/>
          <p:cNvSpPr/>
          <p:nvPr/>
        </p:nvSpPr>
        <p:spPr>
          <a:xfrm>
            <a:off x="2953990" y="2379762"/>
            <a:ext cx="1071562" cy="180975"/>
          </a:xfrm>
          <a:prstGeom prst="roundRect">
            <a:avLst>
              <a:gd name="adj" fmla="val 28070"/>
            </a:avLst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텍스트"/>
          <p:cNvSpPr txBox="1"/>
          <p:nvPr/>
        </p:nvSpPr>
        <p:spPr>
          <a:xfrm>
            <a:off x="3023840" y="2406749"/>
            <a:ext cx="1071562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6">
                <a:solidFill>
                  <a:srgbClr val="0B0919"/>
                </a:solidFill>
                <a:latin typeface="Paperlogy 8 ExtraBold"/>
                <a:ea typeface="Paperlogy 8 ExtraBold"/>
                <a:cs typeface="Paperlogy 8 ExtraBold"/>
              </a:rPr>
              <a:t>활용 기술 · LLM API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947640" y="2634084"/>
            <a:ext cx="2060138" cy="54099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일상적인 표현으로 작성된 메모를 4개</a:t>
            </a:r>
          </a:p>
          <a:p>
            <a:pPr algn="l"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위험 영역과 세부 유형에 맞게</a:t>
            </a:r>
          </a:p>
          <a:p>
            <a:pPr algn="l"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분류합니다.</a:t>
            </a:r>
          </a:p>
        </p:txBody>
      </p:sp>
      <p:sp>
        <p:nvSpPr>
          <p:cNvPr id="19" name="도형"/>
          <p:cNvSpPr/>
          <p:nvPr/>
        </p:nvSpPr>
        <p:spPr>
          <a:xfrm>
            <a:off x="2957165" y="3257302"/>
            <a:ext cx="1995190" cy="689570"/>
          </a:xfrm>
          <a:prstGeom prst="roundRect">
            <a:avLst>
              <a:gd name="adj" fmla="val 14273"/>
            </a:avLst>
          </a:prstGeom>
          <a:solidFill>
            <a:srgbClr val="1A1536"/>
          </a:solidFill>
          <a:ln w="6350">
            <a:solidFill>
              <a:srgbClr val="FFC97A">
                <a:alpha val="40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텍스트"/>
          <p:cNvSpPr txBox="1"/>
          <p:nvPr/>
        </p:nvSpPr>
        <p:spPr>
          <a:xfrm>
            <a:off x="3055590" y="3511153"/>
            <a:ext cx="1463774" cy="34984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EAFB"/>
                </a:solidFill>
                <a:latin typeface="Paperlogy 6 SemiBold"/>
                <a:ea typeface="Paperlogy 6 SemiBold"/>
                <a:cs typeface="Paperlogy 6 SemiBold"/>
              </a:rPr>
              <a:t>보행로 › 보도 파손</a:t>
            </a:r>
          </a:p>
          <a:p>
            <a:pPr algn="l"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EAFB"/>
                </a:solidFill>
                <a:latin typeface="Paperlogy 6 SemiBold"/>
                <a:ea typeface="Paperlogy 6 SemiBold"/>
                <a:cs typeface="Paperlogy 6 SemiBold"/>
              </a:rPr>
              <a:t>‘걸려 넘어질 위험’으로 표시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3055590" y="3338264"/>
            <a:ext cx="351582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80">
                <a:solidFill>
                  <a:srgbClr val="5E5588"/>
                </a:solidFill>
                <a:latin typeface="Paperlogy 8 ExtraBold"/>
                <a:ea typeface="Paperlogy 8 ExtraBold"/>
                <a:cs typeface="Paperlogy 8 ExtraBold"/>
              </a:rPr>
              <a:t>결과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4968230" y="1933674"/>
            <a:ext cx="254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5588"/>
                </a:solidFill>
                <a:latin typeface="Paperlogy 4 Regular"/>
                <a:ea typeface="Paperlogy 4 Regular"/>
                <a:cs typeface="Paperlogy 4 Regular"/>
              </a:rPr>
              <a:t>→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5088880" y="1896368"/>
            <a:ext cx="393700" cy="1508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4">
                <a:solidFill>
                  <a:srgbClr val="8D84B6"/>
                </a:solidFill>
                <a:latin typeface="Paperlogy 8 ExtraBold"/>
                <a:ea typeface="Paperlogy 8 ExtraBold"/>
                <a:cs typeface="Paperlogy 8 ExtraBold"/>
              </a:rPr>
              <a:t>병합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5088880" y="2074962"/>
            <a:ext cx="1613942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42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같은 장소의 제보 통합</a:t>
            </a:r>
          </a:p>
        </p:txBody>
      </p:sp>
      <p:sp>
        <p:nvSpPr>
          <p:cNvPr id="25" name="도형"/>
          <p:cNvSpPr/>
          <p:nvPr/>
        </p:nvSpPr>
        <p:spPr>
          <a:xfrm>
            <a:off x="5095230" y="2379762"/>
            <a:ext cx="1017588" cy="180975"/>
          </a:xfrm>
          <a:prstGeom prst="roundRect">
            <a:avLst>
              <a:gd name="adj" fmla="val 28070"/>
            </a:avLst>
          </a:prstGeom>
          <a:solidFill>
            <a:srgbClr val="B7A2FF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텍스트"/>
          <p:cNvSpPr txBox="1"/>
          <p:nvPr/>
        </p:nvSpPr>
        <p:spPr>
          <a:xfrm>
            <a:off x="5165080" y="2406749"/>
            <a:ext cx="101758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6">
                <a:solidFill>
                  <a:srgbClr val="B7A2FF"/>
                </a:solidFill>
                <a:latin typeface="Paperlogy 8 ExtraBold"/>
                <a:ea typeface="Paperlogy 8 ExtraBold"/>
                <a:cs typeface="Paperlogy 8 ExtraBold"/>
              </a:rPr>
              <a:t>활용 기술 · 좌표 계산</a:t>
            </a:r>
          </a:p>
        </p:txBody>
      </p:sp>
      <p:sp>
        <p:nvSpPr>
          <p:cNvPr id="27" name="텍스트"/>
          <p:cNvSpPr txBox="1"/>
          <p:nvPr/>
        </p:nvSpPr>
        <p:spPr>
          <a:xfrm>
            <a:off x="5088880" y="2634084"/>
            <a:ext cx="2160111" cy="36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반경 35m 이내의 제보를 같은</a:t>
            </a:r>
          </a:p>
          <a:p>
            <a:pPr algn="l"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지점으로 묶고, 관측 이력을 누적합니다.</a:t>
            </a:r>
          </a:p>
        </p:txBody>
      </p:sp>
      <p:sp>
        <p:nvSpPr>
          <p:cNvPr id="28" name="도형"/>
          <p:cNvSpPr/>
          <p:nvPr/>
        </p:nvSpPr>
        <p:spPr>
          <a:xfrm>
            <a:off x="5098405" y="3076972"/>
            <a:ext cx="1995140" cy="689570"/>
          </a:xfrm>
          <a:prstGeom prst="roundRect">
            <a:avLst>
              <a:gd name="adj" fmla="val 14273"/>
            </a:avLst>
          </a:prstGeom>
          <a:solidFill>
            <a:srgbClr val="1A1536"/>
          </a:solidFill>
          <a:ln w="6350">
            <a:solidFill>
              <a:srgbClr val="2E265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텍스트"/>
          <p:cNvSpPr txBox="1"/>
          <p:nvPr/>
        </p:nvSpPr>
        <p:spPr>
          <a:xfrm>
            <a:off x="5196830" y="3330823"/>
            <a:ext cx="1161852" cy="34984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EAFB"/>
                </a:solidFill>
                <a:latin typeface="Paperlogy 6 SemiBold"/>
                <a:ea typeface="Paperlogy 6 SemiBold"/>
                <a:cs typeface="Paperlogy 6 SemiBold"/>
              </a:rPr>
              <a:t>기존 제보 2건과 병합</a:t>
            </a:r>
          </a:p>
          <a:p>
            <a:pPr algn="l"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EAFB"/>
                </a:solidFill>
                <a:latin typeface="Paperlogy 6 SemiBold"/>
                <a:ea typeface="Paperlogy 6 SemiBold"/>
                <a:cs typeface="Paperlogy 6 SemiBold"/>
              </a:rPr>
              <a:t>총 3회 반복 관측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196830" y="3157934"/>
            <a:ext cx="351582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80">
                <a:solidFill>
                  <a:srgbClr val="5E5588"/>
                </a:solidFill>
                <a:latin typeface="Paperlogy 8 ExtraBold"/>
                <a:ea typeface="Paperlogy 8 ExtraBold"/>
                <a:cs typeface="Paperlogy 8 ExtraBold"/>
              </a:rPr>
              <a:t>결과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7109420" y="1933674"/>
            <a:ext cx="254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5588"/>
                </a:solidFill>
                <a:latin typeface="Paperlogy 4 Regular"/>
                <a:ea typeface="Paperlogy 4 Regular"/>
                <a:cs typeface="Paperlogy 4 Regular"/>
              </a:rPr>
              <a:t>→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7230070" y="1896368"/>
            <a:ext cx="635000" cy="1508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4">
                <a:solidFill>
                  <a:srgbClr val="8D84B6"/>
                </a:solidFill>
                <a:latin typeface="Paperlogy 8 ExtraBold"/>
                <a:ea typeface="Paperlogy 8 ExtraBold"/>
                <a:cs typeface="Paperlogy 8 ExtraBold"/>
              </a:rPr>
              <a:t>우선순위</a:t>
            </a:r>
          </a:p>
        </p:txBody>
      </p:sp>
      <p:sp>
        <p:nvSpPr>
          <p:cNvPr id="33" name="텍스트"/>
          <p:cNvSpPr txBox="1"/>
          <p:nvPr/>
        </p:nvSpPr>
        <p:spPr>
          <a:xfrm>
            <a:off x="7230070" y="2074962"/>
            <a:ext cx="1092994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42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위험점수 산정</a:t>
            </a:r>
          </a:p>
        </p:txBody>
      </p:sp>
      <p:sp>
        <p:nvSpPr>
          <p:cNvPr id="34" name="도형"/>
          <p:cNvSpPr/>
          <p:nvPr/>
        </p:nvSpPr>
        <p:spPr>
          <a:xfrm>
            <a:off x="7236420" y="2379762"/>
            <a:ext cx="1291927" cy="180975"/>
          </a:xfrm>
          <a:prstGeom prst="roundRect">
            <a:avLst>
              <a:gd name="adj" fmla="val 28070"/>
            </a:avLst>
          </a:prstGeom>
          <a:solidFill>
            <a:srgbClr val="FF7B9C">
              <a:alpha val="13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텍스트"/>
          <p:cNvSpPr txBox="1"/>
          <p:nvPr/>
        </p:nvSpPr>
        <p:spPr>
          <a:xfrm>
            <a:off x="7306270" y="2406749"/>
            <a:ext cx="1291927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6">
                <a:solidFill>
                  <a:srgbClr val="FF7B9C"/>
                </a:solidFill>
                <a:latin typeface="Paperlogy 8 ExtraBold"/>
                <a:ea typeface="Paperlogy 8 ExtraBold"/>
                <a:cs typeface="Paperlogy 8 ExtraBold"/>
              </a:rPr>
              <a:t>활용 기술 · 공공데이터 결합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7230070" y="3226197"/>
            <a:ext cx="2078911" cy="3022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7B9C"/>
                </a:solidFill>
                <a:latin typeface="Paperlogy 7 Bold"/>
                <a:ea typeface="Paperlogy 7 Bold"/>
                <a:cs typeface="Paperlogy 7 Bold"/>
              </a:rPr>
              <a:t>위험점수 = 반복 제보 × 2 + 유형별 가중치 +</a:t>
            </a:r>
          </a:p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7B9C"/>
                </a:solidFill>
                <a:latin typeface="Paperlogy 7 Bold"/>
                <a:ea typeface="Paperlogy 7 Bold"/>
                <a:cs typeface="Paperlogy 7 Bold"/>
              </a:rPr>
              <a:t>사고다발지역 100m 이내인 경우 5점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7230070" y="2634084"/>
            <a:ext cx="2059211" cy="54099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반복 제보와 위험 유형,</a:t>
            </a:r>
          </a:p>
          <a:p>
            <a:pPr algn="l"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사고다발지역과의 거리를 결합해 우선</a:t>
            </a:r>
          </a:p>
          <a:p>
            <a:pPr algn="l"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점검이 필요한 장소를 산정합니다.</a:t>
            </a:r>
          </a:p>
        </p:txBody>
      </p:sp>
      <p:sp>
        <p:nvSpPr>
          <p:cNvPr id="38" name="도형"/>
          <p:cNvSpPr/>
          <p:nvPr/>
        </p:nvSpPr>
        <p:spPr>
          <a:xfrm>
            <a:off x="7239595" y="3610322"/>
            <a:ext cx="1995190" cy="689570"/>
          </a:xfrm>
          <a:prstGeom prst="roundRect">
            <a:avLst>
              <a:gd name="adj" fmla="val 14273"/>
            </a:avLst>
          </a:prstGeom>
          <a:solidFill>
            <a:srgbClr val="1A1536"/>
          </a:solidFill>
          <a:ln w="6350">
            <a:solidFill>
              <a:srgbClr val="2E265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텍스트"/>
          <p:cNvSpPr txBox="1"/>
          <p:nvPr/>
        </p:nvSpPr>
        <p:spPr>
          <a:xfrm>
            <a:off x="7338020" y="3864173"/>
            <a:ext cx="1897246" cy="34984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EAFB"/>
                </a:solidFill>
                <a:latin typeface="Paperlogy 6 SemiBold"/>
                <a:ea typeface="Paperlogy 6 SemiBold"/>
                <a:cs typeface="Paperlogy 6 SemiBold"/>
              </a:rPr>
              <a:t>벽산사거리 사고다발지역에서 12m</a:t>
            </a:r>
          </a:p>
          <a:p>
            <a:pPr algn="l"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EAFB"/>
                </a:solidFill>
                <a:latin typeface="Paperlogy 6 SemiBold"/>
                <a:ea typeface="Paperlogy 6 SemiBold"/>
                <a:cs typeface="Paperlogy 6 SemiBold"/>
              </a:rPr>
              <a:t>인근 보행노인 사고 7건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7338020" y="3691285"/>
            <a:ext cx="351582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80">
                <a:solidFill>
                  <a:srgbClr val="5E5588"/>
                </a:solidFill>
                <a:latin typeface="Paperlogy 8 ExtraBold"/>
                <a:ea typeface="Paperlogy 8 ExtraBold"/>
                <a:cs typeface="Paperlogy 8 ExtraBold"/>
              </a:rPr>
              <a:t>결과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9250660" y="1933674"/>
            <a:ext cx="254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5588"/>
                </a:solidFill>
                <a:latin typeface="Paperlogy 4 Regular"/>
                <a:ea typeface="Paperlogy 4 Regular"/>
                <a:cs typeface="Paperlogy 4 Regular"/>
              </a:rPr>
              <a:t>→</a:t>
            </a:r>
          </a:p>
        </p:txBody>
      </p:sp>
      <p:sp>
        <p:nvSpPr>
          <p:cNvPr id="42" name="텍스트"/>
          <p:cNvSpPr txBox="1"/>
          <p:nvPr/>
        </p:nvSpPr>
        <p:spPr>
          <a:xfrm>
            <a:off x="9371310" y="1896368"/>
            <a:ext cx="393700" cy="1508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4">
                <a:solidFill>
                  <a:srgbClr val="8D84B6"/>
                </a:solidFill>
                <a:latin typeface="Paperlogy 8 ExtraBold"/>
                <a:ea typeface="Paperlogy 8 ExtraBold"/>
                <a:cs typeface="Paperlogy 8 ExtraBold"/>
              </a:rPr>
              <a:t>문안</a:t>
            </a:r>
          </a:p>
        </p:txBody>
      </p:sp>
      <p:sp>
        <p:nvSpPr>
          <p:cNvPr id="43" name="텍스트"/>
          <p:cNvSpPr txBox="1"/>
          <p:nvPr/>
        </p:nvSpPr>
        <p:spPr>
          <a:xfrm>
            <a:off x="9371310" y="2074962"/>
            <a:ext cx="1126778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42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민원 초안 작성</a:t>
            </a:r>
          </a:p>
        </p:txBody>
      </p:sp>
      <p:sp>
        <p:nvSpPr>
          <p:cNvPr id="44" name="도형"/>
          <p:cNvSpPr/>
          <p:nvPr/>
        </p:nvSpPr>
        <p:spPr>
          <a:xfrm>
            <a:off x="9377660" y="2379762"/>
            <a:ext cx="1071562" cy="180975"/>
          </a:xfrm>
          <a:prstGeom prst="roundRect">
            <a:avLst>
              <a:gd name="adj" fmla="val 28070"/>
            </a:avLst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텍스트"/>
          <p:cNvSpPr txBox="1"/>
          <p:nvPr/>
        </p:nvSpPr>
        <p:spPr>
          <a:xfrm>
            <a:off x="9447510" y="2406749"/>
            <a:ext cx="1071562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6">
                <a:solidFill>
                  <a:srgbClr val="0B0919"/>
                </a:solidFill>
                <a:latin typeface="Paperlogy 8 ExtraBold"/>
                <a:ea typeface="Paperlogy 8 ExtraBold"/>
                <a:cs typeface="Paperlogy 8 ExtraBold"/>
              </a:rPr>
              <a:t>활용 기술 · LLM API</a:t>
            </a:r>
          </a:p>
        </p:txBody>
      </p:sp>
      <p:sp>
        <p:nvSpPr>
          <p:cNvPr id="46" name="텍스트"/>
          <p:cNvSpPr txBox="1"/>
          <p:nvPr/>
        </p:nvSpPr>
        <p:spPr>
          <a:xfrm>
            <a:off x="9371310" y="2634084"/>
            <a:ext cx="1978501" cy="54099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위치·위험 유형·관측 이력·사고 이력·</a:t>
            </a:r>
          </a:p>
          <a:p>
            <a:pPr algn="l"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데이터 출처를 반영해 민원 제출용</a:t>
            </a:r>
          </a:p>
          <a:p>
            <a:pPr algn="l"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문안을 작성합니다.</a:t>
            </a:r>
          </a:p>
        </p:txBody>
      </p:sp>
      <p:sp>
        <p:nvSpPr>
          <p:cNvPr id="47" name="도형"/>
          <p:cNvSpPr/>
          <p:nvPr/>
        </p:nvSpPr>
        <p:spPr>
          <a:xfrm>
            <a:off x="9380835" y="3257302"/>
            <a:ext cx="1995190" cy="689570"/>
          </a:xfrm>
          <a:prstGeom prst="roundRect">
            <a:avLst>
              <a:gd name="adj" fmla="val 14273"/>
            </a:avLst>
          </a:prstGeom>
          <a:solidFill>
            <a:srgbClr val="1A1536"/>
          </a:solidFill>
          <a:ln w="6350">
            <a:solidFill>
              <a:srgbClr val="FFC97A">
                <a:alpha val="40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텍스트"/>
          <p:cNvSpPr txBox="1"/>
          <p:nvPr/>
        </p:nvSpPr>
        <p:spPr>
          <a:xfrm>
            <a:off x="9479260" y="3511153"/>
            <a:ext cx="1293763" cy="34984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EAFB"/>
                </a:solidFill>
                <a:latin typeface="Paperlogy 6 SemiBold"/>
                <a:ea typeface="Paperlogy 6 SemiBold"/>
                <a:cs typeface="Paperlogy 6 SemiBold"/>
              </a:rPr>
              <a:t>안전신문고 제출용</a:t>
            </a:r>
          </a:p>
          <a:p>
            <a:pPr algn="l"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EAFB"/>
                </a:solidFill>
                <a:latin typeface="Paperlogy 6 SemiBold"/>
                <a:ea typeface="Paperlogy 6 SemiBold"/>
                <a:cs typeface="Paperlogy 6 SemiBold"/>
              </a:rPr>
              <a:t>보도블록 보수 요청 문안</a:t>
            </a:r>
          </a:p>
        </p:txBody>
      </p:sp>
      <p:sp>
        <p:nvSpPr>
          <p:cNvPr id="49" name="텍스트"/>
          <p:cNvSpPr txBox="1"/>
          <p:nvPr/>
        </p:nvSpPr>
        <p:spPr>
          <a:xfrm>
            <a:off x="9479260" y="3338264"/>
            <a:ext cx="351582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80">
                <a:solidFill>
                  <a:srgbClr val="5E5588"/>
                </a:solidFill>
                <a:latin typeface="Paperlogy 8 ExtraBold"/>
                <a:ea typeface="Paperlogy 8 ExtraBold"/>
                <a:cs typeface="Paperlogy 8 ExtraBold"/>
              </a:rPr>
              <a:t>결과</a:t>
            </a:r>
          </a:p>
        </p:txBody>
      </p:sp>
      <p:sp>
        <p:nvSpPr>
          <p:cNvPr id="50" name="텍스트"/>
          <p:cNvSpPr txBox="1"/>
          <p:nvPr/>
        </p:nvSpPr>
        <p:spPr>
          <a:xfrm>
            <a:off x="806450" y="4425305"/>
            <a:ext cx="2375773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FD3AC"/>
                </a:solidFill>
                <a:latin typeface="Paperlogy 8 ExtraBold"/>
                <a:ea typeface="Paperlogy 8 ExtraBold"/>
                <a:cs typeface="Paperlogy 8 ExtraBold"/>
              </a:rPr>
              <a:t>AI가 정리하고, 사람이 최종 확인합니다</a:t>
            </a:r>
          </a:p>
        </p:txBody>
      </p:sp>
      <p:cxnSp>
        <p:nvCxnSpPr>
          <p:cNvPr id="51" name="선"/>
          <p:cNvCxnSpPr/>
          <p:nvPr/>
        </p:nvCxnSpPr>
        <p:spPr>
          <a:xfrm>
            <a:off x="812800" y="4665018"/>
            <a:ext cx="2536825" cy="0"/>
          </a:xfrm>
          <a:prstGeom prst="line">
            <a:avLst/>
          </a:prstGeom>
          <a:ln w="12700">
            <a:solidFill>
              <a:srgbClr val="5FD3AC">
                <a:alpha val="45000"/>
              </a:srgbClr>
            </a:solidFill>
            <a:custDash>
              <a:ds d="300000" sp="200000"/>
            </a:custDash>
          </a:ln>
        </p:spPr>
      </p:cxnSp>
      <p:sp>
        <p:nvSpPr>
          <p:cNvPr id="52" name="텍스트"/>
          <p:cNvSpPr txBox="1"/>
          <p:nvPr/>
        </p:nvSpPr>
        <p:spPr>
          <a:xfrm>
            <a:off x="806450" y="4733280"/>
            <a:ext cx="2458720" cy="177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얼굴이나 차량번호가 노출되지 않았는지 확인</a:t>
            </a:r>
          </a:p>
        </p:txBody>
      </p:sp>
      <p:cxnSp>
        <p:nvCxnSpPr>
          <p:cNvPr id="53" name="선"/>
          <p:cNvCxnSpPr/>
          <p:nvPr/>
        </p:nvCxnSpPr>
        <p:spPr>
          <a:xfrm>
            <a:off x="3489325" y="4665018"/>
            <a:ext cx="2536825" cy="0"/>
          </a:xfrm>
          <a:prstGeom prst="line">
            <a:avLst/>
          </a:prstGeom>
          <a:ln w="12700">
            <a:solidFill>
              <a:srgbClr val="5FD3AC">
                <a:alpha val="45000"/>
              </a:srgbClr>
            </a:solidFill>
            <a:custDash>
              <a:ds d="300000" sp="200000"/>
            </a:custDash>
          </a:ln>
        </p:spPr>
      </p:cxnSp>
      <p:sp>
        <p:nvSpPr>
          <p:cNvPr id="54" name="텍스트"/>
          <p:cNvSpPr txBox="1"/>
          <p:nvPr/>
        </p:nvSpPr>
        <p:spPr>
          <a:xfrm>
            <a:off x="3482975" y="4733280"/>
            <a:ext cx="2643168" cy="177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위험 유형 분류가 맞는지 확인하고 필요하면 수정</a:t>
            </a:r>
          </a:p>
        </p:txBody>
      </p:sp>
      <p:cxnSp>
        <p:nvCxnSpPr>
          <p:cNvPr id="55" name="선"/>
          <p:cNvCxnSpPr/>
          <p:nvPr/>
        </p:nvCxnSpPr>
        <p:spPr>
          <a:xfrm>
            <a:off x="6165850" y="4665018"/>
            <a:ext cx="2536825" cy="0"/>
          </a:xfrm>
          <a:prstGeom prst="line">
            <a:avLst/>
          </a:prstGeom>
          <a:ln w="12700">
            <a:solidFill>
              <a:srgbClr val="5FD3AC">
                <a:alpha val="45000"/>
              </a:srgbClr>
            </a:solidFill>
            <a:custDash>
              <a:ds d="300000" sp="200000"/>
            </a:custDash>
          </a:ln>
        </p:spPr>
      </p:cxnSp>
      <p:sp>
        <p:nvSpPr>
          <p:cNvPr id="56" name="텍스트"/>
          <p:cNvSpPr txBox="1"/>
          <p:nvPr/>
        </p:nvSpPr>
        <p:spPr>
          <a:xfrm>
            <a:off x="6159500" y="4733280"/>
            <a:ext cx="1997710" cy="177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크루장이 민원 내용을 검토한 뒤 제출</a:t>
            </a:r>
          </a:p>
        </p:txBody>
      </p:sp>
      <p:cxnSp>
        <p:nvCxnSpPr>
          <p:cNvPr id="57" name="선"/>
          <p:cNvCxnSpPr/>
          <p:nvPr/>
        </p:nvCxnSpPr>
        <p:spPr>
          <a:xfrm>
            <a:off x="8842375" y="4665018"/>
            <a:ext cx="2536825" cy="0"/>
          </a:xfrm>
          <a:prstGeom prst="line">
            <a:avLst/>
          </a:prstGeom>
          <a:ln w="12700">
            <a:solidFill>
              <a:srgbClr val="5FD3AC">
                <a:alpha val="45000"/>
              </a:srgbClr>
            </a:solidFill>
            <a:custDash>
              <a:ds d="300000" sp="200000"/>
            </a:custDash>
          </a:ln>
        </p:spPr>
      </p:cxnSp>
      <p:sp>
        <p:nvSpPr>
          <p:cNvPr id="58" name="텍스트"/>
          <p:cNvSpPr txBox="1"/>
          <p:nvPr/>
        </p:nvSpPr>
        <p:spPr>
          <a:xfrm>
            <a:off x="8836025" y="4733280"/>
            <a:ext cx="1874818" cy="177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다음 순찰에서 실제 개선 여부 확인</a:t>
            </a:r>
          </a:p>
        </p:txBody>
      </p:sp>
      <p:sp>
        <p:nvSpPr>
          <p:cNvPr id="59" name="텍스트"/>
          <p:cNvSpPr txBox="1"/>
          <p:nvPr/>
        </p:nvSpPr>
        <p:spPr>
          <a:xfrm>
            <a:off x="806450" y="5734050"/>
            <a:ext cx="8156625" cy="3619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현재 시뮬레이션 사이트는 키워드 규칙을 바탕으로 위험 유형을 분류합니다. 실행 단계에서는 </a:t>
            </a:r>
            <a:r>
              <a:rPr sz="950" b="0" i="0">
                <a:solidFill>
                  <a:srgbClr val="C4BBE6"/>
                </a:solidFill>
                <a:latin typeface="Paperlogy 7 Bold"/>
                <a:ea typeface="Paperlogy 7 Bold"/>
                <a:cs typeface="Paperlogy 7 Bold"/>
              </a:rPr>
              <a:t>LLM API</a:t>
            </a:r>
            <a:r>
              <a:rPr sz="950" b="0" i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를 적용해 분류와 민원 문안 작성 기능을 고도화합니다.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이를 위한 API 비용도 예산에 포함했습니다.</a:t>
            </a:r>
          </a:p>
        </p:txBody>
      </p:sp>
      <p:sp>
        <p:nvSpPr>
          <p:cNvPr id="60" name="텍스트"/>
          <p:cNvSpPr txBox="1"/>
          <p:nvPr/>
        </p:nvSpPr>
        <p:spPr>
          <a:xfrm>
            <a:off x="806450" y="6415088"/>
            <a:ext cx="163274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러닝으로 만드는 AI 생활안전망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10944076" y="6415088"/>
            <a:ext cx="58117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"/>
          <p:cNvSpPr txBox="1"/>
          <p:nvPr/>
        </p:nvSpPr>
        <p:spPr>
          <a:xfrm>
            <a:off x="2400201" y="706438"/>
            <a:ext cx="1862485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6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시뮬레이션 사이트 출력 예시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806450" y="706438"/>
            <a:ext cx="1631851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4">
                <a:solidFill>
                  <a:srgbClr val="B7A2FF"/>
                </a:solidFill>
                <a:latin typeface="Paperlogy 7 Bold"/>
                <a:ea typeface="Paperlogy 7 Bold"/>
                <a:cs typeface="Paperlogy 7 Bold"/>
              </a:rPr>
              <a:t>AI가 작성한 민원 문안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806450" y="1013271"/>
            <a:ext cx="4598422" cy="7792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67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 spc="-7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한 줄의 현장 메모가</a:t>
            </a:r>
          </a:p>
          <a:p>
            <a:pPr algn="l">
              <a:lnSpc>
                <a:spcPts val="3067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 spc="-78">
                <a:solidFill>
                  <a:srgbClr val="B7A2FF"/>
                </a:solidFill>
                <a:latin typeface="Paperlogy 8 ExtraBold"/>
                <a:ea typeface="Paperlogy 8 ExtraBold"/>
                <a:cs typeface="Paperlogy 8 ExtraBold"/>
              </a:rPr>
              <a:t>근거를 갖춘 민원 문서</a:t>
            </a:r>
            <a:r>
              <a:rPr sz="2600" b="0" i="0" spc="-7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로 바뀝니다</a:t>
            </a:r>
          </a:p>
        </p:txBody>
      </p:sp>
      <p:sp>
        <p:nvSpPr>
          <p:cNvPr id="5" name="도형"/>
          <p:cNvSpPr/>
          <p:nvPr/>
        </p:nvSpPr>
        <p:spPr>
          <a:xfrm>
            <a:off x="815975" y="1988939"/>
            <a:ext cx="5454650" cy="3413125"/>
          </a:xfrm>
          <a:prstGeom prst="roundRect">
            <a:avLst>
              <a:gd name="adj" fmla="val 4372"/>
            </a:avLst>
          </a:prstGeom>
          <a:solidFill>
            <a:srgbClr val="07060F"/>
          </a:solidFill>
          <a:ln w="6350">
            <a:solidFill>
              <a:srgbClr val="2E265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텍스트"/>
          <p:cNvSpPr txBox="1"/>
          <p:nvPr/>
        </p:nvSpPr>
        <p:spPr>
          <a:xfrm>
            <a:off x="1016000" y="2155627"/>
            <a:ext cx="3989090" cy="30765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EAFB"/>
                </a:solidFill>
                <a:latin typeface="Menlo"/>
                <a:ea typeface="Paperlogy 7 Bold"/>
                <a:cs typeface="Paperlogy 7 Bold"/>
              </a:rPr>
              <a:t>[안양시 야간 보행안전 시설 개선 요청]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endParaRPr sz="950" b="0" i="0">
              <a:solidFill>
                <a:srgbClr val="EEEAFB"/>
              </a:solidFill>
              <a:latin typeface="Menlo"/>
              <a:ea typeface="Paperlogy 7 Bold"/>
              <a:cs typeface="Paperlogy 7 Bold"/>
            </a:endParaRP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4BBE6"/>
                </a:solidFill>
                <a:latin typeface="Menlo"/>
                <a:ea typeface="Paperlogy 4 Regular"/>
                <a:cs typeface="Paperlogy 4 Regular"/>
              </a:rPr>
              <a:t>○ 위    치 : 벽산사거리 횡단보도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4BBE6"/>
                </a:solidFill>
                <a:latin typeface="Menlo"/>
                <a:ea typeface="Paperlogy 4 Regular"/>
                <a:cs typeface="Paperlogy 4 Regular"/>
              </a:rPr>
              <a:t>위도 37.397350, 경도 126.921640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4BBE6"/>
                </a:solidFill>
                <a:latin typeface="Menlo"/>
                <a:ea typeface="Paperlogy 4 Regular"/>
                <a:cs typeface="Paperlogy 4 Regular"/>
              </a:rPr>
              <a:t>○ 위험 유형 : </a:t>
            </a:r>
            <a:r>
              <a:rPr sz="950" b="0" i="0">
                <a:solidFill>
                  <a:srgbClr val="FFC97A"/>
                </a:solidFill>
                <a:latin typeface="Menlo"/>
                <a:ea typeface="Paperlogy 4 Regular"/>
                <a:cs typeface="Paperlogy 4 Regular"/>
              </a:rPr>
              <a:t>보안등 소등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4BBE6"/>
                </a:solidFill>
                <a:latin typeface="Menlo"/>
                <a:ea typeface="Paperlogy 4 Regular"/>
                <a:cs typeface="Paperlogy 4 Regular"/>
              </a:rPr>
              <a:t>○ 관측 이력 : </a:t>
            </a:r>
            <a:r>
              <a:rPr sz="950" b="0" i="0">
                <a:solidFill>
                  <a:srgbClr val="B7A2FF"/>
                </a:solidFill>
                <a:latin typeface="Menlo"/>
                <a:ea typeface="Paperlogy 4 Regular"/>
                <a:cs typeface="Paperlogy 4 Regular"/>
              </a:rPr>
              <a:t>총 2회 반복 관측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4BBE6"/>
                </a:solidFill>
                <a:latin typeface="Menlo"/>
                <a:ea typeface="Paperlogy 4 Regular"/>
                <a:cs typeface="Paperlogy 4 Regular"/>
              </a:rPr>
              <a:t>· “가로등 하나가 꺼져 있음” (09.05)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4BBE6"/>
                </a:solidFill>
                <a:latin typeface="Menlo"/>
                <a:ea typeface="Paperlogy 4 Regular"/>
                <a:cs typeface="Paperlogy 4 Regular"/>
              </a:rPr>
              <a:t>· “지난번에도 꺼져 있던 등이 그대로임” (09.12)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4BBE6"/>
                </a:solidFill>
                <a:latin typeface="Menlo"/>
                <a:ea typeface="Paperlogy 4 Regular"/>
                <a:cs typeface="Paperlogy 4 Regular"/>
              </a:rPr>
              <a:t>○ 인근 사고 이력 : </a:t>
            </a:r>
            <a:r>
              <a:rPr sz="950" b="0" i="0">
                <a:solidFill>
                  <a:srgbClr val="FF7B9C"/>
                </a:solidFill>
                <a:latin typeface="Menlo"/>
                <a:ea typeface="Paperlogy 4 Regular"/>
                <a:cs typeface="Paperlogy 4 Regular"/>
              </a:rPr>
              <a:t>보행자 교통사고 다발지역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7B9C"/>
                </a:solidFill>
                <a:latin typeface="Menlo"/>
                <a:ea typeface="Paperlogy 4 Regular"/>
                <a:cs typeface="Paperlogy 4 Regular"/>
              </a:rPr>
              <a:t>‘벽산사거리 부근’에서 12m 거리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7B9C"/>
                </a:solidFill>
                <a:latin typeface="Menlo"/>
                <a:ea typeface="Paperlogy 4 Regular"/>
                <a:cs typeface="Paperlogy 4 Regular"/>
              </a:rPr>
              <a:t>최근 3년간 중상사고 10건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4BBE6"/>
                </a:solidFill>
                <a:latin typeface="Menlo"/>
                <a:ea typeface="Paperlogy 4 Regular"/>
                <a:cs typeface="Paperlogy 4 Regular"/>
              </a:rPr>
              <a:t>○ 요청 사항 : 해당 보안등의 점등 상태를 점검하고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4BBE6"/>
                </a:solidFill>
                <a:latin typeface="Menlo"/>
                <a:ea typeface="Paperlogy 4 Regular"/>
                <a:cs typeface="Paperlogy 4 Regular"/>
              </a:rPr>
              <a:t>필요한 수리를 요청드립니다.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4BBE6"/>
                </a:solidFill>
                <a:latin typeface="Menlo"/>
                <a:ea typeface="Paperlogy 4 Regular"/>
                <a:cs typeface="Paperlogy 4 Regular"/>
              </a:rPr>
              <a:t>○ 데이터 근거 : </a:t>
            </a:r>
            <a:r>
              <a:rPr sz="950" b="0" i="0">
                <a:solidFill>
                  <a:srgbClr val="5FD3AC"/>
                </a:solidFill>
                <a:latin typeface="Menlo"/>
                <a:ea typeface="Paperlogy 4 Regular"/>
                <a:cs typeface="Paperlogy 4 Regular"/>
              </a:rPr>
              <a:t>공공데이터포털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D3AC"/>
                </a:solidFill>
                <a:latin typeface="Menlo"/>
                <a:ea typeface="Paperlogy 4 Regular"/>
                <a:cs typeface="Paperlogy 4 Regular"/>
              </a:rPr>
              <a:t>15105289, 15017320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endParaRPr sz="950" b="0" i="0">
              <a:solidFill>
                <a:srgbClr val="5FD3AC"/>
              </a:solidFill>
              <a:latin typeface="Menlo"/>
              <a:ea typeface="Paperlogy 4 Regular"/>
              <a:cs typeface="Paperlogy 4 Regular"/>
            </a:endParaRP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4BBE6"/>
                </a:solidFill>
                <a:latin typeface="Menlo"/>
                <a:ea typeface="Paperlogy 4 Regular"/>
                <a:cs typeface="Paperlogy 4 Regular"/>
              </a:rPr>
              <a:t>청년러닝방범대 야간 정기순찰 중 확인</a:t>
            </a:r>
          </a:p>
        </p:txBody>
      </p:sp>
      <p:cxnSp>
        <p:nvCxnSpPr>
          <p:cNvPr id="7" name="선"/>
          <p:cNvCxnSpPr/>
          <p:nvPr/>
        </p:nvCxnSpPr>
        <p:spPr>
          <a:xfrm>
            <a:off x="6781800" y="1988939"/>
            <a:ext cx="45974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8" name="도형"/>
          <p:cNvSpPr/>
          <p:nvPr/>
        </p:nvSpPr>
        <p:spPr>
          <a:xfrm>
            <a:off x="6781800" y="2195314"/>
            <a:ext cx="76200" cy="762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텍스트"/>
          <p:cNvSpPr txBox="1"/>
          <p:nvPr/>
        </p:nvSpPr>
        <p:spPr>
          <a:xfrm>
            <a:off x="6991350" y="2100064"/>
            <a:ext cx="1967587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2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반복 관측이 근거가 됩니다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6991350" y="2363748"/>
            <a:ext cx="3941614" cy="1933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여러 대원의 현장 기록을 관측 날짜와 함께 하나의 민원에 누적합니다.</a:t>
            </a:r>
          </a:p>
        </p:txBody>
      </p:sp>
      <p:cxnSp>
        <p:nvCxnSpPr>
          <p:cNvPr id="11" name="선"/>
          <p:cNvCxnSpPr/>
          <p:nvPr/>
        </p:nvCxnSpPr>
        <p:spPr>
          <a:xfrm>
            <a:off x="6781800" y="2677567"/>
            <a:ext cx="45974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12" name="도형"/>
          <p:cNvSpPr/>
          <p:nvPr/>
        </p:nvSpPr>
        <p:spPr>
          <a:xfrm>
            <a:off x="6781800" y="2883942"/>
            <a:ext cx="76200" cy="76200"/>
          </a:xfrm>
          <a:prstGeom prst="ellipse">
            <a:avLst/>
          </a:prstGeom>
          <a:solidFill>
            <a:srgbClr val="FF7B9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텍스트"/>
          <p:cNvSpPr txBox="1"/>
          <p:nvPr/>
        </p:nvSpPr>
        <p:spPr>
          <a:xfrm>
            <a:off x="6991350" y="2788692"/>
            <a:ext cx="2264832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2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공공데이터를 함께 제시합니다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991350" y="3052390"/>
            <a:ext cx="4425652" cy="38665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인근 사고다발지역까지의 거리와 중상사고 건수, 활용한 데이터의 출처 번호를</a:t>
            </a:r>
          </a:p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문안에 포함합니다.</a:t>
            </a:r>
          </a:p>
        </p:txBody>
      </p:sp>
      <p:cxnSp>
        <p:nvCxnSpPr>
          <p:cNvPr id="15" name="선"/>
          <p:cNvCxnSpPr/>
          <p:nvPr/>
        </p:nvCxnSpPr>
        <p:spPr>
          <a:xfrm>
            <a:off x="6781800" y="3559522"/>
            <a:ext cx="45974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16" name="선"/>
          <p:cNvCxnSpPr/>
          <p:nvPr/>
        </p:nvCxnSpPr>
        <p:spPr>
          <a:xfrm>
            <a:off x="6781800" y="4791422"/>
            <a:ext cx="45974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17" name="도형"/>
          <p:cNvSpPr/>
          <p:nvPr/>
        </p:nvSpPr>
        <p:spPr>
          <a:xfrm>
            <a:off x="6781800" y="3765897"/>
            <a:ext cx="76200" cy="7620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텍스트"/>
          <p:cNvSpPr txBox="1"/>
          <p:nvPr/>
        </p:nvSpPr>
        <p:spPr>
          <a:xfrm>
            <a:off x="6991350" y="3670647"/>
            <a:ext cx="2679457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2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위험 유형에 맞는 개선을 요청합니다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6991350" y="3957985"/>
            <a:ext cx="627410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조도 부족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7567960" y="3957985"/>
            <a:ext cx="1521470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조도 측정 및 광원 교체 검토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6991350" y="4145310"/>
            <a:ext cx="627410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수목 가림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7567960" y="4145310"/>
            <a:ext cx="1465610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보안등 주변 나뭇가지 정비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6991350" y="4332635"/>
            <a:ext cx="627410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시설 파손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7567960" y="4332635"/>
            <a:ext cx="1521470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파손 시설 수리 및 작동 점검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6991350" y="4519960"/>
            <a:ext cx="627410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실행 단계</a:t>
            </a:r>
          </a:p>
        </p:txBody>
      </p:sp>
      <p:sp>
        <p:nvSpPr>
          <p:cNvPr id="26" name="텍스트"/>
          <p:cNvSpPr txBox="1"/>
          <p:nvPr/>
        </p:nvSpPr>
        <p:spPr>
          <a:xfrm>
            <a:off x="7567960" y="4519960"/>
            <a:ext cx="1721148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건널목과 보행로 관련 문안 추가</a:t>
            </a:r>
          </a:p>
        </p:txBody>
      </p:sp>
      <p:sp>
        <p:nvSpPr>
          <p:cNvPr id="27" name="텍스트"/>
          <p:cNvSpPr txBox="1"/>
          <p:nvPr/>
        </p:nvSpPr>
        <p:spPr>
          <a:xfrm>
            <a:off x="806450" y="6415088"/>
            <a:ext cx="163274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러닝으로 만드는 AI 생활안전망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10944076" y="6415088"/>
            <a:ext cx="58117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"/>
          <p:cNvSpPr/>
          <p:nvPr/>
        </p:nvSpPr>
        <p:spPr>
          <a:xfrm>
            <a:off x="812800" y="774700"/>
            <a:ext cx="4572000" cy="5257800"/>
          </a:xfrm>
          <a:prstGeom prst="roundRect">
            <a:avLst>
              <a:gd name="adj" fmla="val 3888"/>
            </a:avLst>
          </a:prstGeom>
          <a:solidFill>
            <a:srgbClr val="130F2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선"/>
          <p:cNvSpPr/>
          <p:nvPr/>
        </p:nvSpPr>
        <p:spPr>
          <a:xfrm>
            <a:off x="1574800" y="774700"/>
            <a:ext cx="0" cy="5257800"/>
          </a:xfrm>
          <a:custGeom>
            <a:avLst/>
            <a:gdLst/>
            <a:ahLst/>
            <a:cxnLst/>
            <a:rect l="l" t="t" r="r" b="b"/>
            <a:pathLst>
              <a:path h="5257800">
                <a:moveTo>
                  <a:pt x="0" y="0"/>
                </a:moveTo>
                <a:lnTo>
                  <a:pt x="0" y="525780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선"/>
          <p:cNvSpPr/>
          <p:nvPr/>
        </p:nvSpPr>
        <p:spPr>
          <a:xfrm>
            <a:off x="812800" y="1651000"/>
            <a:ext cx="4572000" cy="0"/>
          </a:xfrm>
          <a:custGeom>
            <a:avLst/>
            <a:gdLst/>
            <a:ahLst/>
            <a:cxnLst/>
            <a:rect l="l" t="t" r="r" b="b"/>
            <a:pathLst>
              <a:path w="4572000">
                <a:moveTo>
                  <a:pt x="0" y="0"/>
                </a:moveTo>
                <a:lnTo>
                  <a:pt x="4572000" y="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선"/>
          <p:cNvSpPr/>
          <p:nvPr/>
        </p:nvSpPr>
        <p:spPr>
          <a:xfrm>
            <a:off x="2336800" y="774700"/>
            <a:ext cx="0" cy="5257800"/>
          </a:xfrm>
          <a:custGeom>
            <a:avLst/>
            <a:gdLst/>
            <a:ahLst/>
            <a:cxnLst/>
            <a:rect l="l" t="t" r="r" b="b"/>
            <a:pathLst>
              <a:path h="5257800">
                <a:moveTo>
                  <a:pt x="0" y="0"/>
                </a:moveTo>
                <a:lnTo>
                  <a:pt x="0" y="525780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선"/>
          <p:cNvSpPr/>
          <p:nvPr/>
        </p:nvSpPr>
        <p:spPr>
          <a:xfrm>
            <a:off x="812800" y="2527300"/>
            <a:ext cx="4572000" cy="0"/>
          </a:xfrm>
          <a:custGeom>
            <a:avLst/>
            <a:gdLst/>
            <a:ahLst/>
            <a:cxnLst/>
            <a:rect l="l" t="t" r="r" b="b"/>
            <a:pathLst>
              <a:path w="4572000">
                <a:moveTo>
                  <a:pt x="0" y="0"/>
                </a:moveTo>
                <a:lnTo>
                  <a:pt x="4572000" y="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선"/>
          <p:cNvSpPr/>
          <p:nvPr/>
        </p:nvSpPr>
        <p:spPr>
          <a:xfrm>
            <a:off x="3098800" y="774700"/>
            <a:ext cx="0" cy="5257800"/>
          </a:xfrm>
          <a:custGeom>
            <a:avLst/>
            <a:gdLst/>
            <a:ahLst/>
            <a:cxnLst/>
            <a:rect l="l" t="t" r="r" b="b"/>
            <a:pathLst>
              <a:path h="5257800">
                <a:moveTo>
                  <a:pt x="0" y="0"/>
                </a:moveTo>
                <a:lnTo>
                  <a:pt x="0" y="525780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선"/>
          <p:cNvSpPr/>
          <p:nvPr/>
        </p:nvSpPr>
        <p:spPr>
          <a:xfrm>
            <a:off x="812800" y="3403600"/>
            <a:ext cx="4572000" cy="0"/>
          </a:xfrm>
          <a:custGeom>
            <a:avLst/>
            <a:gdLst/>
            <a:ahLst/>
            <a:cxnLst/>
            <a:rect l="l" t="t" r="r" b="b"/>
            <a:pathLst>
              <a:path w="4572000">
                <a:moveTo>
                  <a:pt x="0" y="0"/>
                </a:moveTo>
                <a:lnTo>
                  <a:pt x="4572000" y="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선"/>
          <p:cNvSpPr/>
          <p:nvPr/>
        </p:nvSpPr>
        <p:spPr>
          <a:xfrm>
            <a:off x="3860800" y="774700"/>
            <a:ext cx="0" cy="5257800"/>
          </a:xfrm>
          <a:custGeom>
            <a:avLst/>
            <a:gdLst/>
            <a:ahLst/>
            <a:cxnLst/>
            <a:rect l="l" t="t" r="r" b="b"/>
            <a:pathLst>
              <a:path h="5257800">
                <a:moveTo>
                  <a:pt x="0" y="0"/>
                </a:moveTo>
                <a:lnTo>
                  <a:pt x="0" y="525780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선"/>
          <p:cNvSpPr/>
          <p:nvPr/>
        </p:nvSpPr>
        <p:spPr>
          <a:xfrm>
            <a:off x="812800" y="4279900"/>
            <a:ext cx="4572000" cy="0"/>
          </a:xfrm>
          <a:custGeom>
            <a:avLst/>
            <a:gdLst/>
            <a:ahLst/>
            <a:cxnLst/>
            <a:rect l="l" t="t" r="r" b="b"/>
            <a:pathLst>
              <a:path w="4572000">
                <a:moveTo>
                  <a:pt x="0" y="0"/>
                </a:moveTo>
                <a:lnTo>
                  <a:pt x="4572000" y="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선"/>
          <p:cNvSpPr/>
          <p:nvPr/>
        </p:nvSpPr>
        <p:spPr>
          <a:xfrm>
            <a:off x="4622800" y="774700"/>
            <a:ext cx="0" cy="5257800"/>
          </a:xfrm>
          <a:custGeom>
            <a:avLst/>
            <a:gdLst/>
            <a:ahLst/>
            <a:cxnLst/>
            <a:rect l="l" t="t" r="r" b="b"/>
            <a:pathLst>
              <a:path h="5257800">
                <a:moveTo>
                  <a:pt x="0" y="0"/>
                </a:moveTo>
                <a:lnTo>
                  <a:pt x="0" y="525780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선"/>
          <p:cNvSpPr/>
          <p:nvPr/>
        </p:nvSpPr>
        <p:spPr>
          <a:xfrm>
            <a:off x="812800" y="5156200"/>
            <a:ext cx="4572000" cy="0"/>
          </a:xfrm>
          <a:custGeom>
            <a:avLst/>
            <a:gdLst/>
            <a:ahLst/>
            <a:cxnLst/>
            <a:rect l="l" t="t" r="r" b="b"/>
            <a:pathLst>
              <a:path w="4572000">
                <a:moveTo>
                  <a:pt x="0" y="0"/>
                </a:moveTo>
                <a:lnTo>
                  <a:pt x="4572000" y="0"/>
                </a:lnTo>
              </a:path>
            </a:pathLst>
          </a:custGeom>
          <a:solidFill>
            <a:srgbClr val="000000"/>
          </a:solidFill>
          <a:ln w="6350">
            <a:solidFill>
              <a:srgbClr val="FFFFFF">
                <a:alpha val="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선"/>
          <p:cNvSpPr/>
          <p:nvPr/>
        </p:nvSpPr>
        <p:spPr>
          <a:xfrm>
            <a:off x="2070735" y="1358900"/>
            <a:ext cx="1880870" cy="4089400"/>
          </a:xfrm>
          <a:custGeom>
            <a:avLst/>
            <a:gdLst/>
            <a:ahLst/>
            <a:cxnLst/>
            <a:rect l="l" t="t" r="r" b="b"/>
            <a:pathLst>
              <a:path w="1880870" h="4089400">
                <a:moveTo>
                  <a:pt x="311785" y="0"/>
                </a:moveTo>
                <a:lnTo>
                  <a:pt x="687070" y="507365"/>
                </a:lnTo>
                <a:lnTo>
                  <a:pt x="1062355" y="1297940"/>
                </a:lnTo>
                <a:lnTo>
                  <a:pt x="1440180" y="2015490"/>
                </a:lnTo>
                <a:lnTo>
                  <a:pt x="1880870" y="2239645"/>
                </a:lnTo>
                <a:lnTo>
                  <a:pt x="0" y="2626995"/>
                </a:lnTo>
                <a:lnTo>
                  <a:pt x="175260" y="3375660"/>
                </a:lnTo>
                <a:lnTo>
                  <a:pt x="857250" y="3634740"/>
                </a:lnTo>
                <a:lnTo>
                  <a:pt x="1880870" y="4089400"/>
                </a:lnTo>
              </a:path>
            </a:pathLst>
          </a:custGeom>
          <a:noFill/>
          <a:ln w="25400" cap="rnd">
            <a:solidFill>
              <a:srgbClr val="8C6BF7">
                <a:alpha val="75000"/>
              </a:srgbClr>
            </a:solidFill>
            <a:custDash>
              <a:ds d="300000" sp="250000"/>
            </a:custDash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원"/>
          <p:cNvSpPr/>
          <p:nvPr/>
        </p:nvSpPr>
        <p:spPr>
          <a:xfrm>
            <a:off x="2738120" y="2601595"/>
            <a:ext cx="1545590" cy="1545590"/>
          </a:xfrm>
          <a:prstGeom prst="ellipse">
            <a:avLst/>
          </a:prstGeom>
          <a:solidFill>
            <a:srgbClr val="FF7B9C">
              <a:alpha val="8000"/>
            </a:srgbClr>
          </a:solidFill>
          <a:ln w="6350">
            <a:solidFill>
              <a:srgbClr val="FF7B9C">
                <a:alpha val="35000"/>
              </a:srgbClr>
            </a:solidFill>
            <a:custDash>
              <a:ds d="400000" sp="600000"/>
            </a:custDash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텍스트"/>
          <p:cNvSpPr txBox="1"/>
          <p:nvPr/>
        </p:nvSpPr>
        <p:spPr>
          <a:xfrm>
            <a:off x="3606165" y="2943862"/>
            <a:ext cx="655340" cy="137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B8CB"/>
                </a:solidFill>
                <a:latin typeface="Paperlogy 7 Bold"/>
                <a:ea typeface="Paperlogy 7 Bold"/>
                <a:cs typeface="Paperlogy 7 Bold"/>
              </a:rPr>
              <a:t>벽산사거리</a:t>
            </a:r>
          </a:p>
        </p:txBody>
      </p:sp>
      <p:sp>
        <p:nvSpPr>
          <p:cNvPr id="16" name="원"/>
          <p:cNvSpPr/>
          <p:nvPr/>
        </p:nvSpPr>
        <p:spPr>
          <a:xfrm>
            <a:off x="1297940" y="3213100"/>
            <a:ext cx="1545590" cy="1545590"/>
          </a:xfrm>
          <a:prstGeom prst="ellipse">
            <a:avLst/>
          </a:prstGeom>
          <a:solidFill>
            <a:srgbClr val="FF7B9C">
              <a:alpha val="8000"/>
            </a:srgbClr>
          </a:solidFill>
          <a:ln w="6350">
            <a:solidFill>
              <a:srgbClr val="FF7B9C">
                <a:alpha val="35000"/>
              </a:srgbClr>
            </a:solidFill>
            <a:custDash>
              <a:ds d="400000" sp="600000"/>
            </a:custDash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텍스트"/>
          <p:cNvSpPr txBox="1"/>
          <p:nvPr/>
        </p:nvSpPr>
        <p:spPr>
          <a:xfrm>
            <a:off x="2165985" y="3555366"/>
            <a:ext cx="755948" cy="137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B8CB"/>
                </a:solidFill>
                <a:latin typeface="Paperlogy 7 Bold"/>
                <a:ea typeface="Paperlogy 7 Bold"/>
                <a:cs typeface="Paperlogy 7 Bold"/>
              </a:rPr>
              <a:t>안양성모약국</a:t>
            </a:r>
          </a:p>
        </p:txBody>
      </p:sp>
      <p:sp>
        <p:nvSpPr>
          <p:cNvPr id="18" name="원"/>
          <p:cNvSpPr/>
          <p:nvPr/>
        </p:nvSpPr>
        <p:spPr>
          <a:xfrm>
            <a:off x="1985010" y="1093470"/>
            <a:ext cx="1545590" cy="1545590"/>
          </a:xfrm>
          <a:prstGeom prst="ellipse">
            <a:avLst/>
          </a:prstGeom>
          <a:solidFill>
            <a:srgbClr val="FF7B9C">
              <a:alpha val="8000"/>
            </a:srgbClr>
          </a:solidFill>
          <a:ln w="6350">
            <a:solidFill>
              <a:srgbClr val="FF7B9C">
                <a:alpha val="35000"/>
              </a:srgbClr>
            </a:solidFill>
            <a:custDash>
              <a:ds d="400000" sp="600000"/>
            </a:custDash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텍스트"/>
          <p:cNvSpPr txBox="1"/>
          <p:nvPr/>
        </p:nvSpPr>
        <p:spPr>
          <a:xfrm>
            <a:off x="2853055" y="1435737"/>
            <a:ext cx="655340" cy="137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B8CB"/>
                </a:solidFill>
                <a:latin typeface="Paperlogy 7 Bold"/>
                <a:ea typeface="Paperlogy 7 Bold"/>
                <a:cs typeface="Paperlogy 7 Bold"/>
              </a:rPr>
              <a:t>중앙사거리</a:t>
            </a:r>
          </a:p>
        </p:txBody>
      </p:sp>
      <p:sp>
        <p:nvSpPr>
          <p:cNvPr id="20" name="원"/>
          <p:cNvSpPr/>
          <p:nvPr/>
        </p:nvSpPr>
        <p:spPr>
          <a:xfrm>
            <a:off x="3192145" y="3097530"/>
            <a:ext cx="482600" cy="482600"/>
          </a:xfrm>
          <a:prstGeom prst="ellipse">
            <a:avLst/>
          </a:prstGeom>
          <a:solidFill>
            <a:srgbClr val="FFC97A">
              <a:alpha val="1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원"/>
          <p:cNvSpPr/>
          <p:nvPr/>
        </p:nvSpPr>
        <p:spPr>
          <a:xfrm>
            <a:off x="3293745" y="3199130"/>
            <a:ext cx="279400" cy="27940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텍스트"/>
          <p:cNvSpPr txBox="1"/>
          <p:nvPr/>
        </p:nvSpPr>
        <p:spPr>
          <a:xfrm>
            <a:off x="3321253" y="3270884"/>
            <a:ext cx="224383" cy="1295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B0919"/>
                </a:solidFill>
                <a:latin typeface="Paperlogy 8 ExtraBold"/>
                <a:ea typeface="Paperlogy 8 ExtraBold"/>
                <a:cs typeface="Paperlogy 8 ExtraBold"/>
              </a:rPr>
              <a:t>1</a:t>
            </a:r>
          </a:p>
        </p:txBody>
      </p:sp>
      <p:sp>
        <p:nvSpPr>
          <p:cNvPr id="23" name="원"/>
          <p:cNvSpPr/>
          <p:nvPr/>
        </p:nvSpPr>
        <p:spPr>
          <a:xfrm>
            <a:off x="3742055" y="3388995"/>
            <a:ext cx="419100" cy="419100"/>
          </a:xfrm>
          <a:prstGeom prst="ellipse">
            <a:avLst/>
          </a:prstGeom>
          <a:solidFill>
            <a:srgbClr val="B7A2FF">
              <a:alpha val="1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원"/>
          <p:cNvSpPr/>
          <p:nvPr/>
        </p:nvSpPr>
        <p:spPr>
          <a:xfrm>
            <a:off x="3843655" y="3490595"/>
            <a:ext cx="215900" cy="2159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텍스트"/>
          <p:cNvSpPr txBox="1"/>
          <p:nvPr/>
        </p:nvSpPr>
        <p:spPr>
          <a:xfrm>
            <a:off x="3839413" y="3530601"/>
            <a:ext cx="224383" cy="1295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B0919"/>
                </a:solidFill>
                <a:latin typeface="Paperlogy 8 ExtraBold"/>
                <a:ea typeface="Paperlogy 8 ExtraBold"/>
                <a:cs typeface="Paperlogy 8 ExtraBold"/>
              </a:rPr>
              <a:t>2</a:t>
            </a:r>
          </a:p>
        </p:txBody>
      </p:sp>
      <p:sp>
        <p:nvSpPr>
          <p:cNvPr id="26" name="원"/>
          <p:cNvSpPr/>
          <p:nvPr/>
        </p:nvSpPr>
        <p:spPr>
          <a:xfrm>
            <a:off x="1776730" y="3823970"/>
            <a:ext cx="419100" cy="419100"/>
          </a:xfrm>
          <a:prstGeom prst="ellipse">
            <a:avLst/>
          </a:prstGeom>
          <a:solidFill>
            <a:srgbClr val="5FD3AC">
              <a:alpha val="1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원"/>
          <p:cNvSpPr/>
          <p:nvPr/>
        </p:nvSpPr>
        <p:spPr>
          <a:xfrm>
            <a:off x="1878330" y="3925570"/>
            <a:ext cx="215900" cy="215900"/>
          </a:xfrm>
          <a:prstGeom prst="ellipse">
            <a:avLst/>
          </a:prstGeom>
          <a:solidFill>
            <a:srgbClr val="5FD3A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텍스트"/>
          <p:cNvSpPr txBox="1"/>
          <p:nvPr/>
        </p:nvSpPr>
        <p:spPr>
          <a:xfrm>
            <a:off x="1874088" y="3965576"/>
            <a:ext cx="224383" cy="1295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B0919"/>
                </a:solidFill>
                <a:latin typeface="Paperlogy 8 ExtraBold"/>
                <a:ea typeface="Paperlogy 8 ExtraBold"/>
                <a:cs typeface="Paperlogy 8 ExtraBold"/>
              </a:rPr>
              <a:t>3</a:t>
            </a:r>
          </a:p>
        </p:txBody>
      </p:sp>
      <p:sp>
        <p:nvSpPr>
          <p:cNvPr id="29" name="원"/>
          <p:cNvSpPr/>
          <p:nvPr/>
        </p:nvSpPr>
        <p:spPr>
          <a:xfrm>
            <a:off x="3742055" y="5238750"/>
            <a:ext cx="419100" cy="419100"/>
          </a:xfrm>
          <a:prstGeom prst="ellipse">
            <a:avLst/>
          </a:prstGeom>
          <a:solidFill>
            <a:srgbClr val="FF7B9C">
              <a:alpha val="1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원"/>
          <p:cNvSpPr/>
          <p:nvPr/>
        </p:nvSpPr>
        <p:spPr>
          <a:xfrm>
            <a:off x="3843655" y="5340350"/>
            <a:ext cx="215900" cy="215900"/>
          </a:xfrm>
          <a:prstGeom prst="ellipse">
            <a:avLst/>
          </a:prstGeom>
          <a:solidFill>
            <a:srgbClr val="FF7B9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텍스트"/>
          <p:cNvSpPr txBox="1"/>
          <p:nvPr/>
        </p:nvSpPr>
        <p:spPr>
          <a:xfrm>
            <a:off x="3837854" y="5380355"/>
            <a:ext cx="230244" cy="1295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B0919"/>
                </a:solidFill>
                <a:latin typeface="Paperlogy 8 ExtraBold"/>
                <a:ea typeface="Paperlogy 8 ExtraBold"/>
                <a:cs typeface="Paperlogy 8 ExtraBold"/>
              </a:rPr>
              <a:t>4</a:t>
            </a:r>
          </a:p>
        </p:txBody>
      </p:sp>
      <p:sp>
        <p:nvSpPr>
          <p:cNvPr id="32" name="원"/>
          <p:cNvSpPr/>
          <p:nvPr/>
        </p:nvSpPr>
        <p:spPr>
          <a:xfrm>
            <a:off x="2718435" y="4784090"/>
            <a:ext cx="419100" cy="419100"/>
          </a:xfrm>
          <a:prstGeom prst="ellipse">
            <a:avLst/>
          </a:prstGeom>
          <a:solidFill>
            <a:srgbClr val="B7A2FF">
              <a:alpha val="1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원"/>
          <p:cNvSpPr/>
          <p:nvPr/>
        </p:nvSpPr>
        <p:spPr>
          <a:xfrm>
            <a:off x="2820035" y="4885690"/>
            <a:ext cx="215900" cy="2159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텍스트"/>
          <p:cNvSpPr txBox="1"/>
          <p:nvPr/>
        </p:nvSpPr>
        <p:spPr>
          <a:xfrm>
            <a:off x="2815793" y="4925697"/>
            <a:ext cx="224383" cy="1295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B0919"/>
                </a:solidFill>
                <a:latin typeface="Paperlogy 8 ExtraBold"/>
                <a:ea typeface="Paperlogy 8 ExtraBold"/>
                <a:cs typeface="Paperlogy 8 ExtraBold"/>
              </a:rPr>
              <a:t>5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6076950" y="1142504"/>
            <a:ext cx="1392982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4">
                <a:solidFill>
                  <a:srgbClr val="B7A2FF"/>
                </a:solidFill>
                <a:latin typeface="Paperlogy 7 Bold"/>
                <a:ea typeface="Paperlogy 7 Bold"/>
                <a:cs typeface="Paperlogy 7 Bold"/>
              </a:rPr>
              <a:t>안양 야간 위험지도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6076950" y="1489918"/>
            <a:ext cx="4287153" cy="839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03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 spc="-84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기록이 쌓이면</a:t>
            </a:r>
          </a:p>
          <a:p>
            <a:pPr algn="l">
              <a:lnSpc>
                <a:spcPts val="3303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 spc="-84">
                <a:solidFill>
                  <a:srgbClr val="B7A2FF"/>
                </a:solidFill>
                <a:latin typeface="Paperlogy 8 ExtraBold"/>
                <a:ea typeface="Paperlogy 8 ExtraBold"/>
                <a:cs typeface="Paperlogy 8 ExtraBold"/>
              </a:rPr>
              <a:t>먼저 고쳐야 할 곳</a:t>
            </a:r>
            <a:r>
              <a:rPr sz="2800" b="0" i="0" spc="-84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이 보입니다</a:t>
            </a:r>
          </a:p>
        </p:txBody>
      </p:sp>
      <p:cxnSp>
        <p:nvCxnSpPr>
          <p:cNvPr id="37" name="선"/>
          <p:cNvCxnSpPr/>
          <p:nvPr/>
        </p:nvCxnSpPr>
        <p:spPr>
          <a:xfrm>
            <a:off x="6083300" y="2561134"/>
            <a:ext cx="52959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38" name="도형"/>
          <p:cNvSpPr/>
          <p:nvPr/>
        </p:nvSpPr>
        <p:spPr>
          <a:xfrm>
            <a:off x="6083300" y="2702421"/>
            <a:ext cx="279400" cy="27940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텍스트"/>
          <p:cNvSpPr txBox="1"/>
          <p:nvPr/>
        </p:nvSpPr>
        <p:spPr>
          <a:xfrm>
            <a:off x="6174284" y="2762746"/>
            <a:ext cx="237083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B0919"/>
                </a:solidFill>
                <a:latin typeface="Paperlogy 8 ExtraBold"/>
                <a:ea typeface="Paperlogy 8 ExtraBold"/>
                <a:cs typeface="Paperlogy 8 ExtraBold"/>
              </a:rPr>
              <a:t>1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6546850" y="2877840"/>
            <a:ext cx="1542604" cy="1508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제보 2건 · 사고다발지역 인접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6546850" y="2653209"/>
            <a:ext cx="1599704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벽산사거리 횡단보도</a:t>
            </a:r>
          </a:p>
        </p:txBody>
      </p:sp>
      <p:sp>
        <p:nvSpPr>
          <p:cNvPr id="42" name="도형"/>
          <p:cNvSpPr/>
          <p:nvPr/>
        </p:nvSpPr>
        <p:spPr>
          <a:xfrm>
            <a:off x="9939486" y="2708771"/>
            <a:ext cx="601514" cy="266700"/>
          </a:xfrm>
          <a:prstGeom prst="roundRect">
            <a:avLst>
              <a:gd name="adj" fmla="val 50000"/>
            </a:avLst>
          </a:prstGeom>
          <a:solidFill>
            <a:srgbClr val="FFC97A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도형"/>
          <p:cNvSpPr/>
          <p:nvPr/>
        </p:nvSpPr>
        <p:spPr>
          <a:xfrm>
            <a:off x="10053786" y="2810371"/>
            <a:ext cx="63500" cy="6350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텍스트"/>
          <p:cNvSpPr txBox="1"/>
          <p:nvPr/>
        </p:nvSpPr>
        <p:spPr>
          <a:xfrm>
            <a:off x="10174436" y="2754809"/>
            <a:ext cx="398314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C97A"/>
                </a:solidFill>
                <a:latin typeface="Paperlogy 7 Bold"/>
                <a:ea typeface="Paperlogy 7 Bold"/>
                <a:cs typeface="Paperlogy 7 Bold"/>
              </a:rPr>
              <a:t>소등</a:t>
            </a:r>
          </a:p>
        </p:txBody>
      </p:sp>
      <p:sp>
        <p:nvSpPr>
          <p:cNvPr id="45" name="텍스트"/>
          <p:cNvSpPr txBox="1"/>
          <p:nvPr/>
        </p:nvSpPr>
        <p:spPr>
          <a:xfrm>
            <a:off x="10777339" y="2683371"/>
            <a:ext cx="601861" cy="317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pc="-40">
                <a:solidFill>
                  <a:srgbClr val="EEEAFB"/>
                </a:solidFill>
                <a:latin typeface="Paperlogy 9 Black"/>
                <a:ea typeface="Paperlogy 9 Black"/>
                <a:cs typeface="Paperlogy 9 Black"/>
              </a:rPr>
              <a:t>12</a:t>
            </a:r>
            <a:r>
              <a:rPr sz="900" b="0" i="0" spc="-40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점</a:t>
            </a:r>
          </a:p>
        </p:txBody>
      </p:sp>
      <p:cxnSp>
        <p:nvCxnSpPr>
          <p:cNvPr id="46" name="선"/>
          <p:cNvCxnSpPr/>
          <p:nvPr/>
        </p:nvCxnSpPr>
        <p:spPr>
          <a:xfrm>
            <a:off x="6083300" y="3123109"/>
            <a:ext cx="52959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47" name="도형"/>
          <p:cNvSpPr/>
          <p:nvPr/>
        </p:nvSpPr>
        <p:spPr>
          <a:xfrm>
            <a:off x="6083300" y="3264396"/>
            <a:ext cx="279400" cy="2794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텍스트"/>
          <p:cNvSpPr txBox="1"/>
          <p:nvPr/>
        </p:nvSpPr>
        <p:spPr>
          <a:xfrm>
            <a:off x="6174284" y="3324721"/>
            <a:ext cx="237083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B0919"/>
                </a:solidFill>
                <a:latin typeface="Paperlogy 8 ExtraBold"/>
                <a:ea typeface="Paperlogy 8 ExtraBold"/>
                <a:cs typeface="Paperlogy 8 ExtraBold"/>
              </a:rPr>
              <a:t>2</a:t>
            </a:r>
          </a:p>
        </p:txBody>
      </p:sp>
      <p:sp>
        <p:nvSpPr>
          <p:cNvPr id="49" name="텍스트"/>
          <p:cNvSpPr txBox="1"/>
          <p:nvPr/>
        </p:nvSpPr>
        <p:spPr>
          <a:xfrm>
            <a:off x="6546850" y="3439815"/>
            <a:ext cx="1542604" cy="1508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제보 1건 · 사고다발지역 인접</a:t>
            </a:r>
          </a:p>
        </p:txBody>
      </p:sp>
      <p:sp>
        <p:nvSpPr>
          <p:cNvPr id="50" name="텍스트"/>
          <p:cNvSpPr txBox="1"/>
          <p:nvPr/>
        </p:nvSpPr>
        <p:spPr>
          <a:xfrm>
            <a:off x="6546850" y="3215184"/>
            <a:ext cx="1638846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벽산사거리 남측 골목</a:t>
            </a:r>
          </a:p>
        </p:txBody>
      </p:sp>
      <p:sp>
        <p:nvSpPr>
          <p:cNvPr id="51" name="도형"/>
          <p:cNvSpPr/>
          <p:nvPr/>
        </p:nvSpPr>
        <p:spPr>
          <a:xfrm>
            <a:off x="9662914" y="3270746"/>
            <a:ext cx="878086" cy="266700"/>
          </a:xfrm>
          <a:prstGeom prst="roundRect">
            <a:avLst>
              <a:gd name="adj" fmla="val 50000"/>
            </a:avLst>
          </a:prstGeom>
          <a:solidFill>
            <a:srgbClr val="B7A2FF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도형"/>
          <p:cNvSpPr/>
          <p:nvPr/>
        </p:nvSpPr>
        <p:spPr>
          <a:xfrm>
            <a:off x="9777214" y="3372346"/>
            <a:ext cx="63500" cy="635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텍스트"/>
          <p:cNvSpPr txBox="1"/>
          <p:nvPr/>
        </p:nvSpPr>
        <p:spPr>
          <a:xfrm>
            <a:off x="9897864" y="3316784"/>
            <a:ext cx="674886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7A2FF"/>
                </a:solidFill>
                <a:latin typeface="Paperlogy 7 Bold"/>
                <a:ea typeface="Paperlogy 7 Bold"/>
                <a:cs typeface="Paperlogy 7 Bold"/>
              </a:rPr>
              <a:t>조도 부족</a:t>
            </a:r>
          </a:p>
        </p:txBody>
      </p:sp>
      <p:sp>
        <p:nvSpPr>
          <p:cNvPr id="54" name="텍스트"/>
          <p:cNvSpPr txBox="1"/>
          <p:nvPr/>
        </p:nvSpPr>
        <p:spPr>
          <a:xfrm>
            <a:off x="10941596" y="3245346"/>
            <a:ext cx="437604" cy="317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pc="-40">
                <a:solidFill>
                  <a:srgbClr val="EEEAFB"/>
                </a:solidFill>
                <a:latin typeface="Paperlogy 9 Black"/>
                <a:ea typeface="Paperlogy 9 Black"/>
                <a:cs typeface="Paperlogy 9 Black"/>
              </a:rPr>
              <a:t>9</a:t>
            </a:r>
            <a:r>
              <a:rPr sz="900" b="0" i="0" spc="-40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점</a:t>
            </a:r>
          </a:p>
        </p:txBody>
      </p:sp>
      <p:cxnSp>
        <p:nvCxnSpPr>
          <p:cNvPr id="55" name="선"/>
          <p:cNvCxnSpPr/>
          <p:nvPr/>
        </p:nvCxnSpPr>
        <p:spPr>
          <a:xfrm>
            <a:off x="6083300" y="3685084"/>
            <a:ext cx="52959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56" name="도형"/>
          <p:cNvSpPr/>
          <p:nvPr/>
        </p:nvSpPr>
        <p:spPr>
          <a:xfrm>
            <a:off x="6083300" y="3826371"/>
            <a:ext cx="279400" cy="279400"/>
          </a:xfrm>
          <a:prstGeom prst="ellipse">
            <a:avLst/>
          </a:prstGeom>
          <a:solidFill>
            <a:srgbClr val="5FD3A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텍스트"/>
          <p:cNvSpPr txBox="1"/>
          <p:nvPr/>
        </p:nvSpPr>
        <p:spPr>
          <a:xfrm>
            <a:off x="6174284" y="3886696"/>
            <a:ext cx="237083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B0919"/>
                </a:solidFill>
                <a:latin typeface="Paperlogy 8 ExtraBold"/>
                <a:ea typeface="Paperlogy 8 ExtraBold"/>
                <a:cs typeface="Paperlogy 8 ExtraBold"/>
              </a:rPr>
              <a:t>3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6546850" y="4001790"/>
            <a:ext cx="1249809" cy="1508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개선 완료 · 현장 재확인</a:t>
            </a:r>
          </a:p>
        </p:txBody>
      </p:sp>
      <p:sp>
        <p:nvSpPr>
          <p:cNvPr id="59" name="텍스트"/>
          <p:cNvSpPr txBox="1"/>
          <p:nvPr/>
        </p:nvSpPr>
        <p:spPr>
          <a:xfrm>
            <a:off x="6546850" y="3777159"/>
            <a:ext cx="1443236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D84B6"/>
                </a:solidFill>
                <a:latin typeface="Paperlogy 7 Bold"/>
                <a:ea typeface="Paperlogy 7 Bold"/>
                <a:cs typeface="Paperlogy 7 Bold"/>
              </a:rPr>
              <a:t>안양성모약국 뒤편</a:t>
            </a:r>
          </a:p>
        </p:txBody>
      </p:sp>
      <p:sp>
        <p:nvSpPr>
          <p:cNvPr id="60" name="도형"/>
          <p:cNvSpPr/>
          <p:nvPr/>
        </p:nvSpPr>
        <p:spPr>
          <a:xfrm>
            <a:off x="9662914" y="3832721"/>
            <a:ext cx="878086" cy="266700"/>
          </a:xfrm>
          <a:prstGeom prst="roundRect">
            <a:avLst>
              <a:gd name="adj" fmla="val 50000"/>
            </a:avLst>
          </a:prstGeom>
          <a:solidFill>
            <a:srgbClr val="5FD3AC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도형"/>
          <p:cNvSpPr/>
          <p:nvPr/>
        </p:nvSpPr>
        <p:spPr>
          <a:xfrm>
            <a:off x="9777214" y="3934321"/>
            <a:ext cx="63500" cy="63500"/>
          </a:xfrm>
          <a:prstGeom prst="ellipse">
            <a:avLst/>
          </a:prstGeom>
          <a:solidFill>
            <a:srgbClr val="5FD3A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텍스트"/>
          <p:cNvSpPr txBox="1"/>
          <p:nvPr/>
        </p:nvSpPr>
        <p:spPr>
          <a:xfrm>
            <a:off x="9897864" y="3878759"/>
            <a:ext cx="674886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FD3AC"/>
                </a:solidFill>
                <a:latin typeface="Paperlogy 7 Bold"/>
                <a:ea typeface="Paperlogy 7 Bold"/>
                <a:cs typeface="Paperlogy 7 Bold"/>
              </a:rPr>
              <a:t>수목 가림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10941596" y="3807321"/>
            <a:ext cx="437604" cy="317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pc="-40">
                <a:solidFill>
                  <a:srgbClr val="EEEAFB"/>
                </a:solidFill>
                <a:latin typeface="Paperlogy 9 Black"/>
                <a:ea typeface="Paperlogy 9 Black"/>
                <a:cs typeface="Paperlogy 9 Black"/>
              </a:rPr>
              <a:t>9</a:t>
            </a:r>
            <a:r>
              <a:rPr sz="900" b="0" i="0" spc="-40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점</a:t>
            </a:r>
          </a:p>
        </p:txBody>
      </p:sp>
      <p:cxnSp>
        <p:nvCxnSpPr>
          <p:cNvPr id="64" name="선"/>
          <p:cNvCxnSpPr/>
          <p:nvPr/>
        </p:nvCxnSpPr>
        <p:spPr>
          <a:xfrm>
            <a:off x="6083300" y="4247059"/>
            <a:ext cx="52959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cxnSp>
        <p:nvCxnSpPr>
          <p:cNvPr id="65" name="선"/>
          <p:cNvCxnSpPr/>
          <p:nvPr/>
        </p:nvCxnSpPr>
        <p:spPr>
          <a:xfrm>
            <a:off x="6083300" y="4809034"/>
            <a:ext cx="52959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66" name="도형"/>
          <p:cNvSpPr/>
          <p:nvPr/>
        </p:nvSpPr>
        <p:spPr>
          <a:xfrm>
            <a:off x="6083300" y="4388346"/>
            <a:ext cx="279400" cy="279400"/>
          </a:xfrm>
          <a:prstGeom prst="ellipse">
            <a:avLst/>
          </a:prstGeom>
          <a:solidFill>
            <a:srgbClr val="FF7B9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텍스트"/>
          <p:cNvSpPr txBox="1"/>
          <p:nvPr/>
        </p:nvSpPr>
        <p:spPr>
          <a:xfrm>
            <a:off x="6174284" y="4448671"/>
            <a:ext cx="237083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B0919"/>
                </a:solidFill>
                <a:latin typeface="Paperlogy 8 ExtraBold"/>
                <a:ea typeface="Paperlogy 8 ExtraBold"/>
                <a:cs typeface="Paperlogy 8 ExtraBold"/>
              </a:rPr>
              <a:t>4</a:t>
            </a:r>
          </a:p>
        </p:txBody>
      </p:sp>
      <p:sp>
        <p:nvSpPr>
          <p:cNvPr id="68" name="텍스트"/>
          <p:cNvSpPr txBox="1"/>
          <p:nvPr/>
        </p:nvSpPr>
        <p:spPr>
          <a:xfrm>
            <a:off x="6546850" y="4563765"/>
            <a:ext cx="577900" cy="1508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제보 1건</a:t>
            </a:r>
          </a:p>
        </p:txBody>
      </p:sp>
      <p:sp>
        <p:nvSpPr>
          <p:cNvPr id="69" name="텍스트"/>
          <p:cNvSpPr txBox="1"/>
          <p:nvPr/>
        </p:nvSpPr>
        <p:spPr>
          <a:xfrm>
            <a:off x="6546850" y="4339134"/>
            <a:ext cx="1638846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중앙시장 뒤 이면도로</a:t>
            </a:r>
          </a:p>
        </p:txBody>
      </p:sp>
      <p:sp>
        <p:nvSpPr>
          <p:cNvPr id="70" name="도형"/>
          <p:cNvSpPr/>
          <p:nvPr/>
        </p:nvSpPr>
        <p:spPr>
          <a:xfrm>
            <a:off x="9662914" y="4394696"/>
            <a:ext cx="878086" cy="266700"/>
          </a:xfrm>
          <a:prstGeom prst="roundRect">
            <a:avLst>
              <a:gd name="adj" fmla="val 50000"/>
            </a:avLst>
          </a:prstGeom>
          <a:solidFill>
            <a:srgbClr val="FF7B9C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도형"/>
          <p:cNvSpPr/>
          <p:nvPr/>
        </p:nvSpPr>
        <p:spPr>
          <a:xfrm>
            <a:off x="9777214" y="4496296"/>
            <a:ext cx="63500" cy="63500"/>
          </a:xfrm>
          <a:prstGeom prst="ellipse">
            <a:avLst/>
          </a:prstGeom>
          <a:solidFill>
            <a:srgbClr val="FF7B9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텍스트"/>
          <p:cNvSpPr txBox="1"/>
          <p:nvPr/>
        </p:nvSpPr>
        <p:spPr>
          <a:xfrm>
            <a:off x="9897864" y="4440734"/>
            <a:ext cx="674886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7B9C"/>
                </a:solidFill>
                <a:latin typeface="Paperlogy 7 Bold"/>
                <a:ea typeface="Paperlogy 7 Bold"/>
                <a:cs typeface="Paperlogy 7 Bold"/>
              </a:rPr>
              <a:t>시설 파손</a:t>
            </a:r>
          </a:p>
        </p:txBody>
      </p:sp>
      <p:sp>
        <p:nvSpPr>
          <p:cNvPr id="73" name="텍스트"/>
          <p:cNvSpPr txBox="1"/>
          <p:nvPr/>
        </p:nvSpPr>
        <p:spPr>
          <a:xfrm>
            <a:off x="10941596" y="4369296"/>
            <a:ext cx="437604" cy="317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pc="-40">
                <a:solidFill>
                  <a:srgbClr val="EEEAFB"/>
                </a:solidFill>
                <a:latin typeface="Paperlogy 9 Black"/>
                <a:ea typeface="Paperlogy 9 Black"/>
                <a:cs typeface="Paperlogy 9 Black"/>
              </a:rPr>
              <a:t>5</a:t>
            </a:r>
            <a:r>
              <a:rPr sz="900" b="0" i="0" spc="-40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점</a:t>
            </a:r>
          </a:p>
        </p:txBody>
      </p:sp>
      <p:cxnSp>
        <p:nvCxnSpPr>
          <p:cNvPr id="74" name="선"/>
          <p:cNvCxnSpPr/>
          <p:nvPr/>
        </p:nvCxnSpPr>
        <p:spPr>
          <a:xfrm>
            <a:off x="6083300" y="5136059"/>
            <a:ext cx="215900" cy="0"/>
          </a:xfrm>
          <a:prstGeom prst="line">
            <a:avLst/>
          </a:prstGeom>
          <a:ln w="19050">
            <a:solidFill>
              <a:srgbClr val="8C6BF7"/>
            </a:solidFill>
            <a:custDash>
              <a:ds d="300000" sp="200000"/>
            </a:custDash>
          </a:ln>
        </p:spPr>
      </p:cxnSp>
      <p:sp>
        <p:nvSpPr>
          <p:cNvPr id="75" name="텍스트"/>
          <p:cNvSpPr txBox="1"/>
          <p:nvPr/>
        </p:nvSpPr>
        <p:spPr>
          <a:xfrm>
            <a:off x="6356350" y="5010646"/>
            <a:ext cx="1675705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D84B6"/>
                </a:solidFill>
                <a:latin typeface="Paperlogy 6 SemiBold"/>
                <a:ea typeface="Paperlogy 6 SemiBold"/>
                <a:cs typeface="Paperlogy 6 SemiBold"/>
              </a:rPr>
              <a:t>순찰 코스 · 한 바퀴 약 1.1km</a:t>
            </a:r>
          </a:p>
        </p:txBody>
      </p:sp>
      <p:sp>
        <p:nvSpPr>
          <p:cNvPr id="76" name="도형"/>
          <p:cNvSpPr/>
          <p:nvPr/>
        </p:nvSpPr>
        <p:spPr>
          <a:xfrm>
            <a:off x="8095555" y="5063034"/>
            <a:ext cx="76200" cy="76200"/>
          </a:xfrm>
          <a:prstGeom prst="ellipse">
            <a:avLst/>
          </a:prstGeom>
          <a:noFill/>
          <a:ln w="12700">
            <a:solidFill>
              <a:srgbClr val="FF7B9C"/>
            </a:solidFill>
            <a:custDash>
              <a:ds d="300000" sp="200000"/>
            </a:custDash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텍스트"/>
          <p:cNvSpPr txBox="1"/>
          <p:nvPr/>
        </p:nvSpPr>
        <p:spPr>
          <a:xfrm>
            <a:off x="8235255" y="5010646"/>
            <a:ext cx="1493838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D84B6"/>
                </a:solidFill>
                <a:latin typeface="Paperlogy 6 SemiBold"/>
                <a:ea typeface="Paperlogy 6 SemiBold"/>
                <a:cs typeface="Paperlogy 6 SemiBold"/>
              </a:rPr>
              <a:t>사고다발지역 반경 100m</a:t>
            </a:r>
          </a:p>
        </p:txBody>
      </p:sp>
      <p:sp>
        <p:nvSpPr>
          <p:cNvPr id="78" name="도형"/>
          <p:cNvSpPr/>
          <p:nvPr/>
        </p:nvSpPr>
        <p:spPr>
          <a:xfrm>
            <a:off x="9786243" y="5056684"/>
            <a:ext cx="88900" cy="88900"/>
          </a:xfrm>
          <a:prstGeom prst="ellipse">
            <a:avLst/>
          </a:prstGeom>
          <a:solidFill>
            <a:srgbClr val="5FD3A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텍스트"/>
          <p:cNvSpPr txBox="1"/>
          <p:nvPr/>
        </p:nvSpPr>
        <p:spPr>
          <a:xfrm>
            <a:off x="9932293" y="5010646"/>
            <a:ext cx="878880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D84B6"/>
                </a:solidFill>
                <a:latin typeface="Paperlogy 6 SemiBold"/>
                <a:ea typeface="Paperlogy 6 SemiBold"/>
                <a:cs typeface="Paperlogy 6 SemiBold"/>
              </a:rPr>
              <a:t>개선 완료 지점</a:t>
            </a:r>
          </a:p>
        </p:txBody>
      </p:sp>
      <p:sp>
        <p:nvSpPr>
          <p:cNvPr id="80" name="텍스트"/>
          <p:cNvSpPr txBox="1"/>
          <p:nvPr/>
        </p:nvSpPr>
        <p:spPr>
          <a:xfrm>
            <a:off x="6076950" y="5277346"/>
            <a:ext cx="3139266" cy="381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시뮬레이션 데이터를 기준으로 작성했으며,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앱 위험지도와 동일한 방식으로 위험점수를 계산했습니다.</a:t>
            </a:r>
          </a:p>
        </p:txBody>
      </p:sp>
      <p:sp>
        <p:nvSpPr>
          <p:cNvPr id="81" name="텍스트"/>
          <p:cNvSpPr txBox="1"/>
          <p:nvPr/>
        </p:nvSpPr>
        <p:spPr>
          <a:xfrm>
            <a:off x="806450" y="6415088"/>
            <a:ext cx="163274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러닝으로 만드는 AI 생활안전망</a:t>
            </a:r>
          </a:p>
        </p:txBody>
      </p:sp>
      <p:sp>
        <p:nvSpPr>
          <p:cNvPr id="82" name="텍스트"/>
          <p:cNvSpPr txBox="1"/>
          <p:nvPr/>
        </p:nvSpPr>
        <p:spPr>
          <a:xfrm>
            <a:off x="10944076" y="6415088"/>
            <a:ext cx="58117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"/>
          <p:cNvSpPr txBox="1"/>
          <p:nvPr/>
        </p:nvSpPr>
        <p:spPr>
          <a:xfrm>
            <a:off x="806450" y="706438"/>
            <a:ext cx="1342678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4">
                <a:solidFill>
                  <a:srgbClr val="B7A2FF"/>
                </a:solidFill>
                <a:latin typeface="Paperlogy 7 Bold"/>
                <a:ea typeface="Paperlogy 7 Bold"/>
                <a:cs typeface="Paperlogy 7 Bold"/>
              </a:rPr>
              <a:t>실행팀과 협력체계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806450" y="1013271"/>
            <a:ext cx="5146908" cy="7792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67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 spc="-7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현장을 달리는 청년단체와</a:t>
            </a:r>
          </a:p>
          <a:p>
            <a:pPr algn="l">
              <a:lnSpc>
                <a:spcPts val="3067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 spc="-78">
                <a:solidFill>
                  <a:srgbClr val="B7A2FF"/>
                </a:solidFill>
                <a:latin typeface="Paperlogy 8 ExtraBold"/>
                <a:ea typeface="Paperlogy 8 ExtraBold"/>
                <a:cs typeface="Paperlogy 8 ExtraBold"/>
              </a:rPr>
              <a:t>데이터를 다루는 연구실</a:t>
            </a:r>
            <a:r>
              <a:rPr sz="2600" b="0" i="0" spc="-7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이 함께합니다</a:t>
            </a:r>
          </a:p>
        </p:txBody>
      </p:sp>
      <p:cxnSp>
        <p:nvCxnSpPr>
          <p:cNvPr id="4" name="선"/>
          <p:cNvCxnSpPr/>
          <p:nvPr/>
        </p:nvCxnSpPr>
        <p:spPr>
          <a:xfrm>
            <a:off x="812800" y="2636639"/>
            <a:ext cx="475163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806450" y="2308027"/>
            <a:ext cx="898426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32">
                <a:solidFill>
                  <a:srgbClr val="8D84B6"/>
                </a:solidFill>
                <a:latin typeface="Paperlogy 7 Bold"/>
                <a:ea typeface="Paperlogy 7 Bold"/>
                <a:cs typeface="Paperlogy 7 Bold"/>
              </a:rPr>
              <a:t>실행팀 구성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564261" y="2087364"/>
            <a:ext cx="1146225" cy="444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 spc="-84">
                <a:solidFill>
                  <a:srgbClr val="EEEAFB"/>
                </a:solidFill>
                <a:latin typeface="Paperlogy 9 Black"/>
                <a:ea typeface="Paperlogy 9 Black"/>
                <a:cs typeface="Paperlogy 9 Black"/>
              </a:rPr>
              <a:t>총 10</a:t>
            </a:r>
            <a:r>
              <a:rPr sz="1400" b="0" i="0" spc="-84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명</a:t>
            </a:r>
          </a:p>
        </p:txBody>
      </p:sp>
      <p:sp>
        <p:nvSpPr>
          <p:cNvPr id="7" name="도형"/>
          <p:cNvSpPr/>
          <p:nvPr/>
        </p:nvSpPr>
        <p:spPr>
          <a:xfrm>
            <a:off x="812800" y="2830314"/>
            <a:ext cx="215900" cy="215900"/>
          </a:xfrm>
          <a:prstGeom prst="ellipse">
            <a:avLst/>
          </a:prstGeom>
          <a:solidFill>
            <a:srgbClr val="EEEA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도형"/>
          <p:cNvSpPr/>
          <p:nvPr/>
        </p:nvSpPr>
        <p:spPr>
          <a:xfrm>
            <a:off x="1117600" y="2830314"/>
            <a:ext cx="215900" cy="2159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도형"/>
          <p:cNvSpPr/>
          <p:nvPr/>
        </p:nvSpPr>
        <p:spPr>
          <a:xfrm>
            <a:off x="1422400" y="2830314"/>
            <a:ext cx="215900" cy="2159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도형"/>
          <p:cNvSpPr/>
          <p:nvPr/>
        </p:nvSpPr>
        <p:spPr>
          <a:xfrm>
            <a:off x="1727200" y="2830314"/>
            <a:ext cx="215900" cy="21590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도형"/>
          <p:cNvSpPr/>
          <p:nvPr/>
        </p:nvSpPr>
        <p:spPr>
          <a:xfrm>
            <a:off x="2032000" y="2830314"/>
            <a:ext cx="215900" cy="215900"/>
          </a:xfrm>
          <a:prstGeom prst="ellipse">
            <a:avLst/>
          </a:prstGeom>
          <a:solidFill>
            <a:srgbClr val="5B3FD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도형"/>
          <p:cNvSpPr/>
          <p:nvPr/>
        </p:nvSpPr>
        <p:spPr>
          <a:xfrm>
            <a:off x="2336800" y="2830314"/>
            <a:ext cx="215900" cy="215900"/>
          </a:xfrm>
          <a:prstGeom prst="ellipse">
            <a:avLst/>
          </a:prstGeom>
          <a:solidFill>
            <a:srgbClr val="5B3FD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도형"/>
          <p:cNvSpPr/>
          <p:nvPr/>
        </p:nvSpPr>
        <p:spPr>
          <a:xfrm>
            <a:off x="2641600" y="2830314"/>
            <a:ext cx="215900" cy="215900"/>
          </a:xfrm>
          <a:prstGeom prst="ellipse">
            <a:avLst/>
          </a:prstGeom>
          <a:solidFill>
            <a:srgbClr val="5B3FD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도형"/>
          <p:cNvSpPr/>
          <p:nvPr/>
        </p:nvSpPr>
        <p:spPr>
          <a:xfrm>
            <a:off x="2946400" y="2830314"/>
            <a:ext cx="215900" cy="215900"/>
          </a:xfrm>
          <a:prstGeom prst="ellipse">
            <a:avLst/>
          </a:prstGeom>
          <a:solidFill>
            <a:srgbClr val="5B3FD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도형"/>
          <p:cNvSpPr/>
          <p:nvPr/>
        </p:nvSpPr>
        <p:spPr>
          <a:xfrm>
            <a:off x="3251200" y="2830314"/>
            <a:ext cx="215900" cy="215900"/>
          </a:xfrm>
          <a:prstGeom prst="ellipse">
            <a:avLst/>
          </a:prstGeom>
          <a:solidFill>
            <a:srgbClr val="5B3FD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도형"/>
          <p:cNvSpPr/>
          <p:nvPr/>
        </p:nvSpPr>
        <p:spPr>
          <a:xfrm>
            <a:off x="3556000" y="2830314"/>
            <a:ext cx="215900" cy="215900"/>
          </a:xfrm>
          <a:prstGeom prst="ellipse">
            <a:avLst/>
          </a:prstGeom>
          <a:solidFill>
            <a:srgbClr val="5B3FD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선"/>
          <p:cNvCxnSpPr/>
          <p:nvPr/>
        </p:nvCxnSpPr>
        <p:spPr>
          <a:xfrm>
            <a:off x="812800" y="3716139"/>
            <a:ext cx="475163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806450" y="3198614"/>
            <a:ext cx="878235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총괄 · 1명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806450" y="3435152"/>
            <a:ext cx="2124095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기획·일정·예산 관리, 협력기관 연계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5009654" y="3225602"/>
            <a:ext cx="554782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BE6"/>
                </a:solidFill>
                <a:latin typeface="Paperlogy 7 Bold"/>
                <a:ea typeface="Paperlogy 7 Bold"/>
                <a:cs typeface="Paperlogy 7 Bold"/>
              </a:rPr>
              <a:t>황윤택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812800" y="4338439"/>
            <a:ext cx="475163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22" name="텍스트"/>
          <p:cNvSpPr txBox="1"/>
          <p:nvPr/>
        </p:nvSpPr>
        <p:spPr>
          <a:xfrm>
            <a:off x="806450" y="3820914"/>
            <a:ext cx="1287959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7A2FF"/>
                </a:solidFill>
                <a:latin typeface="Paperlogy 8 ExtraBold"/>
                <a:ea typeface="Paperlogy 8 ExtraBold"/>
                <a:cs typeface="Paperlogy 8 ExtraBold"/>
              </a:rPr>
              <a:t>데이터·AI</a:t>
            </a:r>
            <a:r>
              <a:rPr sz="1400" b="0" i="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 · 2명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806450" y="4057452"/>
            <a:ext cx="2467124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공공데이터</a:t>
            </a:r>
            <a:r>
              <a:rPr sz="1100" b="0" i="0" dirty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 </a:t>
            </a:r>
            <a:r>
              <a:rPr sz="1100" b="0" i="0" dirty="0" err="1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분석</a:t>
            </a:r>
            <a:r>
              <a:rPr sz="1100" b="0" i="0" dirty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, AI </a:t>
            </a:r>
            <a:r>
              <a:rPr sz="1100" b="0" i="0" dirty="0" err="1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기능</a:t>
            </a:r>
            <a:r>
              <a:rPr sz="1100" b="0" i="0" dirty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 </a:t>
            </a:r>
            <a:r>
              <a:rPr sz="1100" b="0" i="0" dirty="0" err="1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구축</a:t>
            </a:r>
            <a:r>
              <a:rPr sz="1100" b="0" i="0" dirty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, </a:t>
            </a:r>
            <a:r>
              <a:rPr sz="1100" b="0" i="0" dirty="0" err="1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웹</a:t>
            </a:r>
            <a:r>
              <a:rPr lang="ko-KR" altLang="en-US" sz="1100" b="0" i="0" dirty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사이트 </a:t>
            </a:r>
            <a:r>
              <a:rPr sz="1100" b="0" i="0" dirty="0" err="1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관리</a:t>
            </a:r>
            <a:endParaRPr sz="1100" b="0" i="0" dirty="0">
              <a:solidFill>
                <a:srgbClr val="8D84B6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24" name="텍스트"/>
          <p:cNvSpPr txBox="1"/>
          <p:nvPr/>
        </p:nvSpPr>
        <p:spPr>
          <a:xfrm>
            <a:off x="4491186" y="3847902"/>
            <a:ext cx="1073249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BE6"/>
                </a:solidFill>
                <a:latin typeface="Paperlogy 7 Bold"/>
                <a:ea typeface="Paperlogy 7 Bold"/>
                <a:cs typeface="Paperlogy 7 Bold"/>
              </a:rPr>
              <a:t>홍혜민 · 오지민</a:t>
            </a:r>
          </a:p>
        </p:txBody>
      </p:sp>
      <p:cxnSp>
        <p:nvCxnSpPr>
          <p:cNvPr id="25" name="선"/>
          <p:cNvCxnSpPr/>
          <p:nvPr/>
        </p:nvCxnSpPr>
        <p:spPr>
          <a:xfrm>
            <a:off x="812800" y="4960739"/>
            <a:ext cx="475163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26" name="텍스트"/>
          <p:cNvSpPr txBox="1"/>
          <p:nvPr/>
        </p:nvSpPr>
        <p:spPr>
          <a:xfrm>
            <a:off x="806450" y="4443214"/>
            <a:ext cx="1034703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C97A"/>
                </a:solidFill>
                <a:latin typeface="Paperlogy 8 ExtraBold"/>
                <a:ea typeface="Paperlogy 8 ExtraBold"/>
                <a:cs typeface="Paperlogy 8 ExtraBold"/>
              </a:rPr>
              <a:t>크루장</a:t>
            </a:r>
            <a:r>
              <a:rPr sz="1400" b="0" i="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 · 1명</a:t>
            </a:r>
          </a:p>
        </p:txBody>
      </p:sp>
      <p:sp>
        <p:nvSpPr>
          <p:cNvPr id="27" name="텍스트"/>
          <p:cNvSpPr txBox="1"/>
          <p:nvPr/>
        </p:nvSpPr>
        <p:spPr>
          <a:xfrm>
            <a:off x="806450" y="4679752"/>
            <a:ext cx="2281530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참여자 모집·운영, 민원 처리 결과 확인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3682360" y="4470202"/>
            <a:ext cx="1882076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BE6"/>
                </a:solidFill>
                <a:latin typeface="Paperlogy 7 Bold"/>
                <a:ea typeface="Paperlogy 7 Bold"/>
                <a:cs typeface="Paperlogy 7 Bold"/>
              </a:rPr>
              <a:t>러닝크루 운영 경력 1년 이상</a:t>
            </a:r>
          </a:p>
        </p:txBody>
      </p:sp>
      <p:cxnSp>
        <p:nvCxnSpPr>
          <p:cNvPr id="29" name="선"/>
          <p:cNvCxnSpPr/>
          <p:nvPr/>
        </p:nvCxnSpPr>
        <p:spPr>
          <a:xfrm>
            <a:off x="812800" y="5583039"/>
            <a:ext cx="4751636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30" name="텍스트"/>
          <p:cNvSpPr txBox="1"/>
          <p:nvPr/>
        </p:nvSpPr>
        <p:spPr>
          <a:xfrm>
            <a:off x="806450" y="5065514"/>
            <a:ext cx="1660575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C84F5"/>
                </a:solidFill>
                <a:latin typeface="Paperlogy 8 ExtraBold"/>
                <a:ea typeface="Paperlogy 8 ExtraBold"/>
                <a:cs typeface="Paperlogy 8 ExtraBold"/>
              </a:rPr>
              <a:t>청년러닝방범대</a:t>
            </a:r>
            <a:r>
              <a:rPr sz="1400" b="0" i="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 · 6명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806450" y="5302052"/>
            <a:ext cx="2477547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야간 순찰, 현장 기록, 민원 제출 및 재확인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4842024" y="5092502"/>
            <a:ext cx="722412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BE6"/>
                </a:solidFill>
                <a:latin typeface="Paperlogy 7 Bold"/>
                <a:ea typeface="Paperlogy 7 Bold"/>
                <a:cs typeface="Paperlogy 7 Bold"/>
              </a:rPr>
              <a:t>참여 대원</a:t>
            </a:r>
          </a:p>
        </p:txBody>
      </p:sp>
      <p:cxnSp>
        <p:nvCxnSpPr>
          <p:cNvPr id="33" name="선"/>
          <p:cNvCxnSpPr/>
          <p:nvPr/>
        </p:nvCxnSpPr>
        <p:spPr>
          <a:xfrm>
            <a:off x="6389936" y="2382639"/>
            <a:ext cx="4989264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34" name="텍스트"/>
          <p:cNvSpPr txBox="1"/>
          <p:nvPr/>
        </p:nvSpPr>
        <p:spPr>
          <a:xfrm>
            <a:off x="6383586" y="2095302"/>
            <a:ext cx="758726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32">
                <a:solidFill>
                  <a:srgbClr val="8D84B6"/>
                </a:solidFill>
                <a:latin typeface="Paperlogy 7 Bold"/>
                <a:ea typeface="Paperlogy 7 Bold"/>
                <a:cs typeface="Paperlogy 7 Bold"/>
              </a:rPr>
              <a:t>협력 단체</a:t>
            </a:r>
          </a:p>
        </p:txBody>
      </p:sp>
      <p:cxnSp>
        <p:nvCxnSpPr>
          <p:cNvPr id="35" name="선"/>
          <p:cNvCxnSpPr/>
          <p:nvPr/>
        </p:nvCxnSpPr>
        <p:spPr>
          <a:xfrm>
            <a:off x="6389936" y="3008114"/>
            <a:ext cx="4989264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6383586" y="2474714"/>
            <a:ext cx="1210965" cy="238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-3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중앙청년LAB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6383586" y="2739827"/>
            <a:ext cx="3931245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러닝방범대를 운영하고, 민원 제출과 지역사회 연계를 담당합니다.</a:t>
            </a:r>
          </a:p>
        </p:txBody>
      </p:sp>
      <p:cxnSp>
        <p:nvCxnSpPr>
          <p:cNvPr id="38" name="선"/>
          <p:cNvCxnSpPr/>
          <p:nvPr/>
        </p:nvCxnSpPr>
        <p:spPr>
          <a:xfrm>
            <a:off x="6389936" y="3633589"/>
            <a:ext cx="4989264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39" name="텍스트"/>
          <p:cNvSpPr txBox="1"/>
          <p:nvPr/>
        </p:nvSpPr>
        <p:spPr>
          <a:xfrm>
            <a:off x="6383586" y="3100189"/>
            <a:ext cx="2055500" cy="238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-3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성균관대학교 AXIS Lab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6383586" y="3365302"/>
            <a:ext cx="3116292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공공데이터 구축·분석과 AI 활용 기술을 지원합니다.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6383586" y="3784402"/>
            <a:ext cx="965349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00">
                <a:solidFill>
                  <a:srgbClr val="5E5588"/>
                </a:solidFill>
                <a:latin typeface="Paperlogy 7 Bold"/>
                <a:ea typeface="Paperlogy 7 Bold"/>
                <a:cs typeface="Paperlogy 7 Bold"/>
              </a:rPr>
              <a:t>연계 기관 (안)</a:t>
            </a:r>
          </a:p>
        </p:txBody>
      </p:sp>
      <p:cxnSp>
        <p:nvCxnSpPr>
          <p:cNvPr id="42" name="선"/>
          <p:cNvCxnSpPr/>
          <p:nvPr/>
        </p:nvCxnSpPr>
        <p:spPr>
          <a:xfrm>
            <a:off x="6389936" y="4560689"/>
            <a:ext cx="4989264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6383586" y="4027289"/>
            <a:ext cx="1626890" cy="238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-30">
                <a:solidFill>
                  <a:srgbClr val="C4BBE6"/>
                </a:solidFill>
                <a:latin typeface="Paperlogy 7 Bold"/>
                <a:ea typeface="Paperlogy 7 Bold"/>
                <a:cs typeface="Paperlogy 7 Bold"/>
              </a:rPr>
              <a:t>경기도자원봉사센터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6383586" y="4292402"/>
            <a:ext cx="3994056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경기도청년봉사단과 연계해 지역별 러닝방범대 크루로 확장합니다.</a:t>
            </a:r>
          </a:p>
        </p:txBody>
      </p:sp>
      <p:cxnSp>
        <p:nvCxnSpPr>
          <p:cNvPr id="45" name="선"/>
          <p:cNvCxnSpPr/>
          <p:nvPr/>
        </p:nvCxnSpPr>
        <p:spPr>
          <a:xfrm>
            <a:off x="6389936" y="5186164"/>
            <a:ext cx="4989264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6383586" y="4652764"/>
            <a:ext cx="1844040" cy="238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-30">
                <a:solidFill>
                  <a:srgbClr val="C4BBE6"/>
                </a:solidFill>
                <a:latin typeface="Paperlogy 7 Bold"/>
                <a:ea typeface="Paperlogy 7 Bold"/>
                <a:cs typeface="Paperlogy 7 Bold"/>
              </a:rPr>
              <a:t>안양시 야간자율방범대</a:t>
            </a:r>
          </a:p>
        </p:txBody>
      </p:sp>
      <p:sp>
        <p:nvSpPr>
          <p:cNvPr id="47" name="텍스트"/>
          <p:cNvSpPr txBox="1"/>
          <p:nvPr/>
        </p:nvSpPr>
        <p:spPr>
          <a:xfrm>
            <a:off x="6383586" y="4917877"/>
            <a:ext cx="3858831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기존 야간 방범 활동에 데이터 기반 현장 기록 방식을 연계합니다.</a:t>
            </a:r>
          </a:p>
        </p:txBody>
      </p:sp>
      <p:sp>
        <p:nvSpPr>
          <p:cNvPr id="48" name="텍스트"/>
          <p:cNvSpPr txBox="1"/>
          <p:nvPr/>
        </p:nvSpPr>
        <p:spPr>
          <a:xfrm>
            <a:off x="806450" y="6415088"/>
            <a:ext cx="163274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러닝으로 만드는 AI 생활안전망</a:t>
            </a:r>
          </a:p>
        </p:txBody>
      </p:sp>
      <p:sp>
        <p:nvSpPr>
          <p:cNvPr id="49" name="텍스트"/>
          <p:cNvSpPr txBox="1"/>
          <p:nvPr/>
        </p:nvSpPr>
        <p:spPr>
          <a:xfrm>
            <a:off x="10944076" y="6415088"/>
            <a:ext cx="58117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"/>
          <p:cNvSpPr txBox="1"/>
          <p:nvPr/>
        </p:nvSpPr>
        <p:spPr>
          <a:xfrm>
            <a:off x="806450" y="706438"/>
            <a:ext cx="1843058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4">
                <a:solidFill>
                  <a:srgbClr val="B7A2FF"/>
                </a:solidFill>
                <a:latin typeface="Paperlogy 7 Bold"/>
                <a:ea typeface="Paperlogy 7 Bold"/>
                <a:cs typeface="Paperlogy 7 Bold"/>
              </a:rPr>
              <a:t>준비 일정 · 9.12–9.20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806450" y="1013271"/>
            <a:ext cx="3672200" cy="7792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67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 spc="-7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대회가 끝난 뒤 일주일 안에</a:t>
            </a:r>
          </a:p>
          <a:p>
            <a:pPr algn="l">
              <a:lnSpc>
                <a:spcPts val="3067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 spc="-78">
                <a:solidFill>
                  <a:srgbClr val="FFC97A"/>
                </a:solidFill>
                <a:latin typeface="Paperlogy 8 ExtraBold"/>
                <a:ea typeface="Paperlogy 8 ExtraBold"/>
                <a:cs typeface="Paperlogy 8 ExtraBold"/>
              </a:rPr>
              <a:t>첫 순찰 준비</a:t>
            </a:r>
            <a:r>
              <a:rPr sz="2600" b="0" i="0" spc="-7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를 마칩니다</a:t>
            </a:r>
          </a:p>
        </p:txBody>
      </p:sp>
      <p:cxnSp>
        <p:nvCxnSpPr>
          <p:cNvPr id="4" name="선"/>
          <p:cNvCxnSpPr/>
          <p:nvPr/>
        </p:nvCxnSpPr>
        <p:spPr>
          <a:xfrm>
            <a:off x="812800" y="2208014"/>
            <a:ext cx="10566400" cy="0"/>
          </a:xfrm>
          <a:prstGeom prst="line">
            <a:avLst/>
          </a:prstGeom>
          <a:ln w="12700">
            <a:solidFill>
              <a:srgbClr val="2E265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806450" y="2393752"/>
            <a:ext cx="994073" cy="381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spc="-72">
                <a:solidFill>
                  <a:srgbClr val="EEEAFB"/>
                </a:solidFill>
                <a:latin typeface="Paperlogy 9 Black"/>
                <a:ea typeface="Paperlogy 9 Black"/>
                <a:cs typeface="Paperlogy 9 Black"/>
              </a:rPr>
              <a:t>9.12</a:t>
            </a:r>
            <a:r>
              <a:rPr sz="1200" b="0" i="0" spc="-72">
                <a:solidFill>
                  <a:srgbClr val="8D84B6"/>
                </a:solidFill>
                <a:latin typeface="Paperlogy 7 Bold"/>
                <a:ea typeface="Paperlogy 7 Bold"/>
                <a:cs typeface="Paperlogy 7 Bold"/>
              </a:rPr>
              <a:t>토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806450" y="2846189"/>
            <a:ext cx="1416348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-32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아이디어톤 대회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806450" y="3141782"/>
            <a:ext cx="1393875" cy="2025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수원 · 10:00–16:00</a:t>
            </a:r>
          </a:p>
        </p:txBody>
      </p:sp>
      <p:sp>
        <p:nvSpPr>
          <p:cNvPr id="8" name="도형"/>
          <p:cNvSpPr/>
          <p:nvPr/>
        </p:nvSpPr>
        <p:spPr>
          <a:xfrm>
            <a:off x="812800" y="3461494"/>
            <a:ext cx="554782" cy="196850"/>
          </a:xfrm>
          <a:prstGeom prst="roundRect">
            <a:avLst>
              <a:gd name="adj" fmla="val 25806"/>
            </a:avLst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텍스트"/>
          <p:cNvSpPr txBox="1"/>
          <p:nvPr/>
        </p:nvSpPr>
        <p:spPr>
          <a:xfrm>
            <a:off x="882650" y="3488482"/>
            <a:ext cx="554782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B0919"/>
                </a:solidFill>
                <a:latin typeface="Paperlogy 8 ExtraBold"/>
                <a:ea typeface="Paperlogy 8 ExtraBold"/>
                <a:cs typeface="Paperlogy 8 ExtraBold"/>
              </a:rPr>
              <a:t>오프라인</a:t>
            </a:r>
          </a:p>
        </p:txBody>
      </p:sp>
      <p:cxnSp>
        <p:nvCxnSpPr>
          <p:cNvPr id="10" name="선"/>
          <p:cNvCxnSpPr/>
          <p:nvPr/>
        </p:nvCxnSpPr>
        <p:spPr>
          <a:xfrm>
            <a:off x="3273276" y="2214364"/>
            <a:ext cx="0" cy="2488555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3498701" y="2393752"/>
            <a:ext cx="994073" cy="381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spc="-72">
                <a:solidFill>
                  <a:srgbClr val="EEEAFB"/>
                </a:solidFill>
                <a:latin typeface="Paperlogy 9 Black"/>
                <a:ea typeface="Paperlogy 9 Black"/>
                <a:cs typeface="Paperlogy 9 Black"/>
              </a:rPr>
              <a:t>9.14</a:t>
            </a:r>
            <a:r>
              <a:rPr sz="1200" b="0" i="0" spc="-72">
                <a:solidFill>
                  <a:srgbClr val="8D84B6"/>
                </a:solidFill>
                <a:latin typeface="Paperlogy 7 Bold"/>
                <a:ea typeface="Paperlogy 7 Bold"/>
                <a:cs typeface="Paperlogy 7 Bold"/>
              </a:rPr>
              <a:t>월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498701" y="2846189"/>
            <a:ext cx="10668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-32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킥오프 회의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498701" y="3141787"/>
            <a:ext cx="1105198" cy="40511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9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대회 결과 공유 및</a:t>
            </a:r>
          </a:p>
          <a:p>
            <a:pPr algn="l">
              <a:lnSpc>
                <a:spcPts val="159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사업 고도화 논의</a:t>
            </a:r>
          </a:p>
        </p:txBody>
      </p:sp>
      <p:sp>
        <p:nvSpPr>
          <p:cNvPr id="14" name="도형"/>
          <p:cNvSpPr/>
          <p:nvPr/>
        </p:nvSpPr>
        <p:spPr>
          <a:xfrm>
            <a:off x="3509814" y="3668812"/>
            <a:ext cx="543967" cy="206375"/>
          </a:xfrm>
          <a:prstGeom prst="roundRect">
            <a:avLst>
              <a:gd name="adj" fmla="val 22307"/>
            </a:avLst>
          </a:prstGeom>
          <a:noFill/>
          <a:ln w="9525">
            <a:solidFill>
              <a:srgbClr val="B7A2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텍스트"/>
          <p:cNvSpPr txBox="1"/>
          <p:nvPr/>
        </p:nvSpPr>
        <p:spPr>
          <a:xfrm>
            <a:off x="3584426" y="3700562"/>
            <a:ext cx="534442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A2FF"/>
                </a:solidFill>
                <a:latin typeface="Paperlogy 8 ExtraBold"/>
                <a:ea typeface="Paperlogy 8 ExtraBold"/>
                <a:cs typeface="Paperlogy 8 ExtraBold"/>
              </a:rPr>
              <a:t>ZOOM</a:t>
            </a:r>
          </a:p>
        </p:txBody>
      </p:sp>
      <p:cxnSp>
        <p:nvCxnSpPr>
          <p:cNvPr id="16" name="선"/>
          <p:cNvCxnSpPr/>
          <p:nvPr/>
        </p:nvCxnSpPr>
        <p:spPr>
          <a:xfrm>
            <a:off x="5730577" y="2214364"/>
            <a:ext cx="0" cy="2488555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5956002" y="2393752"/>
            <a:ext cx="2054954" cy="381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spc="-72">
                <a:solidFill>
                  <a:srgbClr val="EEEAFB"/>
                </a:solidFill>
                <a:latin typeface="Paperlogy 9 Black"/>
                <a:ea typeface="Paperlogy 9 Black"/>
                <a:cs typeface="Paperlogy 9 Black"/>
              </a:rPr>
              <a:t>9.15–9.20</a:t>
            </a:r>
            <a:r>
              <a:rPr sz="1200" b="0" i="0" spc="-72">
                <a:solidFill>
                  <a:srgbClr val="8D84B6"/>
                </a:solidFill>
                <a:latin typeface="Paperlogy 7 Bold"/>
                <a:ea typeface="Paperlogy 7 Bold"/>
                <a:cs typeface="Paperlogy 7 Bold"/>
              </a:rPr>
              <a:t>화–일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5956002" y="2846189"/>
            <a:ext cx="892076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-32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실행 준비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5956002" y="3141782"/>
            <a:ext cx="2506578" cy="2025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두 팀이 역할을 나누어 동시에 준비합니다.</a:t>
            </a:r>
          </a:p>
        </p:txBody>
      </p:sp>
      <p:sp>
        <p:nvSpPr>
          <p:cNvPr id="20" name="도형"/>
          <p:cNvSpPr/>
          <p:nvPr/>
        </p:nvSpPr>
        <p:spPr>
          <a:xfrm>
            <a:off x="5965527" y="3490069"/>
            <a:ext cx="2498824" cy="1209675"/>
          </a:xfrm>
          <a:prstGeom prst="roundRect">
            <a:avLst>
              <a:gd name="adj" fmla="val 9186"/>
            </a:avLst>
          </a:prstGeom>
          <a:solidFill>
            <a:srgbClr val="1A1536"/>
          </a:solidFill>
          <a:ln w="6350">
            <a:solidFill>
              <a:srgbClr val="2E265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텍스트"/>
          <p:cNvSpPr txBox="1"/>
          <p:nvPr/>
        </p:nvSpPr>
        <p:spPr>
          <a:xfrm>
            <a:off x="6114752" y="3626594"/>
            <a:ext cx="1754054" cy="206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데이터·AI팀</a:t>
            </a:r>
            <a:r>
              <a:rPr sz="950" b="0" i="0">
                <a:solidFill>
                  <a:srgbClr val="8D84B6"/>
                </a:solidFill>
                <a:latin typeface="Paperlogy 6 SemiBold"/>
                <a:ea typeface="Paperlogy 6 SemiBold"/>
                <a:cs typeface="Paperlogy 6 SemiBold"/>
              </a:rPr>
              <a:t>홍혜민 · 오지민</a:t>
            </a:r>
          </a:p>
        </p:txBody>
      </p:sp>
      <p:sp>
        <p:nvSpPr>
          <p:cNvPr id="22" name="도형"/>
          <p:cNvSpPr/>
          <p:nvPr/>
        </p:nvSpPr>
        <p:spPr>
          <a:xfrm>
            <a:off x="6121102" y="3998069"/>
            <a:ext cx="50800" cy="508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텍스트"/>
          <p:cNvSpPr txBox="1"/>
          <p:nvPr/>
        </p:nvSpPr>
        <p:spPr>
          <a:xfrm>
            <a:off x="6254452" y="3909963"/>
            <a:ext cx="1373386" cy="1825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공공데이터 추가 분석</a:t>
            </a:r>
          </a:p>
        </p:txBody>
      </p:sp>
      <p:sp>
        <p:nvSpPr>
          <p:cNvPr id="24" name="도형"/>
          <p:cNvSpPr/>
          <p:nvPr/>
        </p:nvSpPr>
        <p:spPr>
          <a:xfrm>
            <a:off x="6121102" y="4233019"/>
            <a:ext cx="50800" cy="508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텍스트"/>
          <p:cNvSpPr txBox="1"/>
          <p:nvPr/>
        </p:nvSpPr>
        <p:spPr>
          <a:xfrm>
            <a:off x="6254452" y="4144913"/>
            <a:ext cx="1696536" cy="1825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dirty="0" err="1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순찰</a:t>
            </a:r>
            <a:r>
              <a:rPr sz="1150" b="0" i="0" dirty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150" b="0" i="0" dirty="0" err="1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코스와</a:t>
            </a:r>
            <a:r>
              <a:rPr sz="1150" b="0" i="0" dirty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150" b="0" i="0" dirty="0" err="1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점검</a:t>
            </a:r>
            <a:r>
              <a:rPr sz="1150" b="0" i="0" dirty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150" b="0" i="0" dirty="0" err="1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지점</a:t>
            </a:r>
            <a:r>
              <a:rPr sz="1150" b="0" i="0" dirty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150" b="0" i="0" dirty="0" err="1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확정</a:t>
            </a:r>
            <a:endParaRPr sz="1150" b="0" i="0" dirty="0">
              <a:solidFill>
                <a:srgbClr val="C4BBE6"/>
              </a:solidFill>
              <a:latin typeface="Paperlogy 6 SemiBold"/>
              <a:ea typeface="Paperlogy 6 SemiBold"/>
              <a:cs typeface="Paperlogy 6 SemiBold"/>
            </a:endParaRPr>
          </a:p>
        </p:txBody>
      </p:sp>
      <p:sp>
        <p:nvSpPr>
          <p:cNvPr id="26" name="도형"/>
          <p:cNvSpPr/>
          <p:nvPr/>
        </p:nvSpPr>
        <p:spPr>
          <a:xfrm>
            <a:off x="6121102" y="4467969"/>
            <a:ext cx="50800" cy="508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텍스트"/>
          <p:cNvSpPr txBox="1"/>
          <p:nvPr/>
        </p:nvSpPr>
        <p:spPr>
          <a:xfrm>
            <a:off x="6254452" y="4379863"/>
            <a:ext cx="987822" cy="1825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dirty="0" err="1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웹</a:t>
            </a:r>
            <a:r>
              <a:rPr lang="ko-KR" altLang="en-US" sz="1150" b="0" i="0" dirty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사이트</a:t>
            </a:r>
            <a:r>
              <a:rPr sz="1150" b="0" i="0" dirty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lang="ko-KR" altLang="en-US" sz="1150" b="0" i="0" dirty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기능</a:t>
            </a:r>
            <a:r>
              <a:rPr sz="1150" b="0" i="0" dirty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150" b="0" i="0" dirty="0" err="1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점검</a:t>
            </a:r>
            <a:endParaRPr sz="1150" b="0" i="0" dirty="0">
              <a:solidFill>
                <a:srgbClr val="C4BBE6"/>
              </a:solidFill>
              <a:latin typeface="Paperlogy 6 SemiBold"/>
              <a:ea typeface="Paperlogy 6 SemiBold"/>
              <a:cs typeface="Paperlogy 6 SemiBold"/>
            </a:endParaRPr>
          </a:p>
        </p:txBody>
      </p:sp>
      <p:sp>
        <p:nvSpPr>
          <p:cNvPr id="28" name="도형"/>
          <p:cNvSpPr/>
          <p:nvPr/>
        </p:nvSpPr>
        <p:spPr>
          <a:xfrm>
            <a:off x="8648502" y="3490069"/>
            <a:ext cx="2498874" cy="1209675"/>
          </a:xfrm>
          <a:prstGeom prst="roundRect">
            <a:avLst>
              <a:gd name="adj" fmla="val 9186"/>
            </a:avLst>
          </a:prstGeom>
          <a:solidFill>
            <a:srgbClr val="1A1536"/>
          </a:solidFill>
          <a:ln w="6350">
            <a:solidFill>
              <a:srgbClr val="2E265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텍스트"/>
          <p:cNvSpPr txBox="1"/>
          <p:nvPr/>
        </p:nvSpPr>
        <p:spPr>
          <a:xfrm>
            <a:off x="8797727" y="3626594"/>
            <a:ext cx="1284536" cy="206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현장 운영팀</a:t>
            </a:r>
            <a:r>
              <a:rPr sz="950" b="0" i="0">
                <a:solidFill>
                  <a:srgbClr val="8D84B6"/>
                </a:solidFill>
                <a:latin typeface="Paperlogy 6 SemiBold"/>
                <a:ea typeface="Paperlogy 6 SemiBold"/>
                <a:cs typeface="Paperlogy 6 SemiBold"/>
              </a:rPr>
              <a:t>크루장</a:t>
            </a:r>
          </a:p>
        </p:txBody>
      </p:sp>
      <p:sp>
        <p:nvSpPr>
          <p:cNvPr id="30" name="도형"/>
          <p:cNvSpPr/>
          <p:nvPr/>
        </p:nvSpPr>
        <p:spPr>
          <a:xfrm>
            <a:off x="8804077" y="3998069"/>
            <a:ext cx="50800" cy="508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텍스트"/>
          <p:cNvSpPr txBox="1"/>
          <p:nvPr/>
        </p:nvSpPr>
        <p:spPr>
          <a:xfrm>
            <a:off x="8937427" y="3909963"/>
            <a:ext cx="827187" cy="1825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참여자 모집</a:t>
            </a:r>
          </a:p>
        </p:txBody>
      </p:sp>
      <p:sp>
        <p:nvSpPr>
          <p:cNvPr id="32" name="도형"/>
          <p:cNvSpPr/>
          <p:nvPr/>
        </p:nvSpPr>
        <p:spPr>
          <a:xfrm>
            <a:off x="8804077" y="4233019"/>
            <a:ext cx="50800" cy="508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텍스트"/>
          <p:cNvSpPr txBox="1"/>
          <p:nvPr/>
        </p:nvSpPr>
        <p:spPr>
          <a:xfrm>
            <a:off x="8937427" y="4144913"/>
            <a:ext cx="1244898" cy="1825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활동 안내자료 제작</a:t>
            </a:r>
          </a:p>
        </p:txBody>
      </p:sp>
      <p:sp>
        <p:nvSpPr>
          <p:cNvPr id="34" name="도형"/>
          <p:cNvSpPr/>
          <p:nvPr/>
        </p:nvSpPr>
        <p:spPr>
          <a:xfrm>
            <a:off x="8804077" y="4467969"/>
            <a:ext cx="50800" cy="50800"/>
          </a:xfrm>
          <a:prstGeom prst="ellipse">
            <a:avLst/>
          </a:prstGeom>
          <a:solidFill>
            <a:srgbClr val="B7A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텍스트"/>
          <p:cNvSpPr txBox="1"/>
          <p:nvPr/>
        </p:nvSpPr>
        <p:spPr>
          <a:xfrm>
            <a:off x="8937427" y="4379863"/>
            <a:ext cx="1289993" cy="1825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안전·운영 교육 준비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806450" y="5848350"/>
            <a:ext cx="2107014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88">
                <a:solidFill>
                  <a:srgbClr val="FFC97A"/>
                </a:solidFill>
                <a:latin typeface="Paperlogy 8 ExtraBold"/>
                <a:ea typeface="Paperlogy 8 ExtraBold"/>
                <a:cs typeface="Paperlogy 8 ExtraBold"/>
              </a:rPr>
              <a:t>9.21 첫 순찰 전까지 준비할 것</a:t>
            </a:r>
          </a:p>
        </p:txBody>
      </p:sp>
      <p:sp>
        <p:nvSpPr>
          <p:cNvPr id="37" name="도형"/>
          <p:cNvSpPr/>
          <p:nvPr/>
        </p:nvSpPr>
        <p:spPr>
          <a:xfrm>
            <a:off x="2883843" y="5778500"/>
            <a:ext cx="2003822" cy="314325"/>
          </a:xfrm>
          <a:prstGeom prst="roundRect">
            <a:avLst>
              <a:gd name="adj" fmla="val 23232"/>
            </a:avLst>
          </a:prstGeom>
          <a:solidFill>
            <a:srgbClr val="1A1536"/>
          </a:solidFill>
          <a:ln w="6350">
            <a:solidFill>
              <a:srgbClr val="2E265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텍스트"/>
          <p:cNvSpPr txBox="1"/>
          <p:nvPr/>
        </p:nvSpPr>
        <p:spPr>
          <a:xfrm>
            <a:off x="3007668" y="5840412"/>
            <a:ext cx="1917819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확정된 순찰 코스와 점검 지점</a:t>
            </a:r>
          </a:p>
        </p:txBody>
      </p:sp>
      <p:sp>
        <p:nvSpPr>
          <p:cNvPr id="39" name="도형"/>
          <p:cNvSpPr/>
          <p:nvPr/>
        </p:nvSpPr>
        <p:spPr>
          <a:xfrm>
            <a:off x="4995614" y="5778500"/>
            <a:ext cx="1770162" cy="314325"/>
          </a:xfrm>
          <a:prstGeom prst="roundRect">
            <a:avLst>
              <a:gd name="adj" fmla="val 23232"/>
            </a:avLst>
          </a:prstGeom>
          <a:solidFill>
            <a:srgbClr val="1A1536"/>
          </a:solidFill>
          <a:ln w="6350">
            <a:solidFill>
              <a:srgbClr val="2E265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텍스트"/>
          <p:cNvSpPr txBox="1"/>
          <p:nvPr/>
        </p:nvSpPr>
        <p:spPr>
          <a:xfrm>
            <a:off x="5119439" y="5840412"/>
            <a:ext cx="1662212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청년러닝방범대 대원 6명</a:t>
            </a:r>
          </a:p>
        </p:txBody>
      </p:sp>
      <p:sp>
        <p:nvSpPr>
          <p:cNvPr id="41" name="도형"/>
          <p:cNvSpPr/>
          <p:nvPr/>
        </p:nvSpPr>
        <p:spPr>
          <a:xfrm>
            <a:off x="6873726" y="5778500"/>
            <a:ext cx="1936750" cy="314325"/>
          </a:xfrm>
          <a:prstGeom prst="roundRect">
            <a:avLst>
              <a:gd name="adj" fmla="val 23232"/>
            </a:avLst>
          </a:prstGeom>
          <a:solidFill>
            <a:srgbClr val="1A1536"/>
          </a:solidFill>
          <a:ln w="6350">
            <a:solidFill>
              <a:srgbClr val="2E265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텍스트"/>
          <p:cNvSpPr txBox="1"/>
          <p:nvPr/>
        </p:nvSpPr>
        <p:spPr>
          <a:xfrm>
            <a:off x="6997551" y="5840412"/>
            <a:ext cx="184404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참여자 안내자료와 안전수칙</a:t>
            </a:r>
          </a:p>
        </p:txBody>
      </p:sp>
      <p:sp>
        <p:nvSpPr>
          <p:cNvPr id="43" name="도형"/>
          <p:cNvSpPr/>
          <p:nvPr/>
        </p:nvSpPr>
        <p:spPr>
          <a:xfrm>
            <a:off x="8918426" y="5778500"/>
            <a:ext cx="1567954" cy="314325"/>
          </a:xfrm>
          <a:prstGeom prst="roundRect">
            <a:avLst>
              <a:gd name="adj" fmla="val 23232"/>
            </a:avLst>
          </a:prstGeom>
          <a:solidFill>
            <a:srgbClr val="1A1536"/>
          </a:solidFill>
          <a:ln w="6350">
            <a:solidFill>
              <a:srgbClr val="2E265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텍스트"/>
          <p:cNvSpPr txBox="1"/>
          <p:nvPr/>
        </p:nvSpPr>
        <p:spPr>
          <a:xfrm>
            <a:off x="9042251" y="5840412"/>
            <a:ext cx="1460004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기능</a:t>
            </a:r>
            <a:r>
              <a:rPr sz="1200" b="0" i="0" dirty="0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1200" b="0" i="0" dirty="0" err="1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점검</a:t>
            </a:r>
            <a:r>
              <a:rPr lang="ko-KR" altLang="en-US" sz="1200" b="0" i="0" dirty="0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된 </a:t>
            </a:r>
            <a:r>
              <a:rPr sz="1200" b="0" i="0" dirty="0" err="1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웹</a:t>
            </a:r>
            <a:r>
              <a:rPr lang="ko-KR" altLang="en-US" sz="1200" b="0" i="0" dirty="0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사이트</a:t>
            </a:r>
            <a:endParaRPr sz="1200" b="0" i="0" dirty="0">
              <a:solidFill>
                <a:srgbClr val="EEEAFB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45" name="텍스트"/>
          <p:cNvSpPr txBox="1"/>
          <p:nvPr/>
        </p:nvSpPr>
        <p:spPr>
          <a:xfrm>
            <a:off x="806450" y="6415088"/>
            <a:ext cx="163274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러닝으로 만드는 AI 생활안전망</a:t>
            </a:r>
          </a:p>
        </p:txBody>
      </p:sp>
      <p:sp>
        <p:nvSpPr>
          <p:cNvPr id="46" name="텍스트"/>
          <p:cNvSpPr txBox="1"/>
          <p:nvPr/>
        </p:nvSpPr>
        <p:spPr>
          <a:xfrm>
            <a:off x="10944076" y="6415088"/>
            <a:ext cx="58117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"/>
          <p:cNvSpPr txBox="1"/>
          <p:nvPr/>
        </p:nvSpPr>
        <p:spPr>
          <a:xfrm>
            <a:off x="806450" y="706438"/>
            <a:ext cx="1966987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4">
                <a:solidFill>
                  <a:srgbClr val="B7A2FF"/>
                </a:solidFill>
                <a:latin typeface="Paperlogy 7 Bold"/>
                <a:ea typeface="Paperlogy 7 Bold"/>
                <a:cs typeface="Paperlogy 7 Bold"/>
              </a:rPr>
              <a:t>활동 일정 · 9.21–10.28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806450" y="1013271"/>
            <a:ext cx="5824944" cy="7792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67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 spc="-7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매주 월요일과 수요일 밤,</a:t>
            </a:r>
          </a:p>
          <a:p>
            <a:pPr algn="l">
              <a:lnSpc>
                <a:spcPts val="3067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 spc="-7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총 7회 순찰하고 </a:t>
            </a:r>
            <a:r>
              <a:rPr sz="2600" b="0" i="0" spc="-78">
                <a:solidFill>
                  <a:srgbClr val="FFC97A"/>
                </a:solidFill>
                <a:latin typeface="Paperlogy 8 ExtraBold"/>
                <a:ea typeface="Paperlogy 8 ExtraBold"/>
                <a:cs typeface="Paperlogy 8 ExtraBold"/>
              </a:rPr>
              <a:t>매주 민원으로 연결</a:t>
            </a:r>
            <a:r>
              <a:rPr sz="2600" b="0" i="0" spc="-7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합니다</a:t>
            </a:r>
          </a:p>
        </p:txBody>
      </p:sp>
      <p:cxnSp>
        <p:nvCxnSpPr>
          <p:cNvPr id="4" name="선"/>
          <p:cNvCxnSpPr/>
          <p:nvPr/>
        </p:nvCxnSpPr>
        <p:spPr>
          <a:xfrm>
            <a:off x="812800" y="2306439"/>
            <a:ext cx="1460500" cy="0"/>
          </a:xfrm>
          <a:prstGeom prst="line">
            <a:avLst/>
          </a:prstGeom>
          <a:ln w="12700">
            <a:solidFill>
              <a:srgbClr val="2E265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806450" y="2019895"/>
            <a:ext cx="393700" cy="1508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4">
                <a:solidFill>
                  <a:srgbClr val="5E5588"/>
                </a:solidFill>
                <a:latin typeface="Paperlogy 8 ExtraBold"/>
                <a:ea typeface="Paperlogy 8 ExtraBold"/>
                <a:cs typeface="Paperlogy 8 ExtraBold"/>
              </a:rPr>
              <a:t>기간</a:t>
            </a:r>
          </a:p>
        </p:txBody>
      </p:sp>
      <p:cxnSp>
        <p:nvCxnSpPr>
          <p:cNvPr id="6" name="선"/>
          <p:cNvCxnSpPr/>
          <p:nvPr/>
        </p:nvCxnSpPr>
        <p:spPr>
          <a:xfrm>
            <a:off x="2273300" y="2306439"/>
            <a:ext cx="1397000" cy="0"/>
          </a:xfrm>
          <a:prstGeom prst="line">
            <a:avLst/>
          </a:prstGeom>
          <a:ln w="12700">
            <a:solidFill>
              <a:srgbClr val="2E265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266950" y="2019895"/>
            <a:ext cx="1079004" cy="1508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4">
                <a:solidFill>
                  <a:srgbClr val="5E5588"/>
                </a:solidFill>
                <a:latin typeface="Paperlogy 8 ExtraBold"/>
                <a:ea typeface="Paperlogy 8 ExtraBold"/>
                <a:cs typeface="Paperlogy 8 ExtraBold"/>
              </a:rPr>
              <a:t>월요일 야간 순찰</a:t>
            </a:r>
          </a:p>
        </p:txBody>
      </p:sp>
      <p:cxnSp>
        <p:nvCxnSpPr>
          <p:cNvPr id="8" name="선"/>
          <p:cNvCxnSpPr/>
          <p:nvPr/>
        </p:nvCxnSpPr>
        <p:spPr>
          <a:xfrm>
            <a:off x="3670300" y="2306439"/>
            <a:ext cx="1397000" cy="0"/>
          </a:xfrm>
          <a:prstGeom prst="line">
            <a:avLst/>
          </a:prstGeom>
          <a:ln w="12700">
            <a:solidFill>
              <a:srgbClr val="2E265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3663950" y="2019895"/>
            <a:ext cx="1079004" cy="1508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4">
                <a:solidFill>
                  <a:srgbClr val="5E5588"/>
                </a:solidFill>
                <a:latin typeface="Paperlogy 8 ExtraBold"/>
                <a:ea typeface="Paperlogy 8 ExtraBold"/>
                <a:cs typeface="Paperlogy 8 ExtraBold"/>
              </a:rPr>
              <a:t>수요일 야간 순찰</a:t>
            </a:r>
          </a:p>
        </p:txBody>
      </p:sp>
      <p:cxnSp>
        <p:nvCxnSpPr>
          <p:cNvPr id="10" name="선"/>
          <p:cNvCxnSpPr/>
          <p:nvPr/>
        </p:nvCxnSpPr>
        <p:spPr>
          <a:xfrm>
            <a:off x="5067300" y="2306439"/>
            <a:ext cx="4660900" cy="0"/>
          </a:xfrm>
          <a:prstGeom prst="line">
            <a:avLst/>
          </a:prstGeom>
          <a:ln w="12700">
            <a:solidFill>
              <a:srgbClr val="2E265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5060950" y="2019895"/>
            <a:ext cx="796677" cy="1508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4">
                <a:solidFill>
                  <a:srgbClr val="5E5588"/>
                </a:solidFill>
                <a:latin typeface="Paperlogy 8 ExtraBold"/>
                <a:ea typeface="Paperlogy 8 ExtraBold"/>
                <a:cs typeface="Paperlogy 8 ExtraBold"/>
              </a:rPr>
              <a:t>온라인 활동</a:t>
            </a:r>
          </a:p>
        </p:txBody>
      </p:sp>
      <p:cxnSp>
        <p:nvCxnSpPr>
          <p:cNvPr id="12" name="선"/>
          <p:cNvCxnSpPr/>
          <p:nvPr/>
        </p:nvCxnSpPr>
        <p:spPr>
          <a:xfrm>
            <a:off x="9728200" y="2306439"/>
            <a:ext cx="1651000" cy="0"/>
          </a:xfrm>
          <a:prstGeom prst="line">
            <a:avLst/>
          </a:prstGeom>
          <a:ln w="12700">
            <a:solidFill>
              <a:srgbClr val="2E265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9721850" y="2019895"/>
            <a:ext cx="676027" cy="1508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4">
                <a:solidFill>
                  <a:srgbClr val="5E5588"/>
                </a:solidFill>
                <a:latin typeface="Paperlogy 8 ExtraBold"/>
                <a:ea typeface="Paperlogy 8 ExtraBold"/>
                <a:cs typeface="Paperlogy 8 ExtraBold"/>
              </a:rPr>
              <a:t>진행 단계</a:t>
            </a:r>
          </a:p>
        </p:txBody>
      </p:sp>
      <p:cxnSp>
        <p:nvCxnSpPr>
          <p:cNvPr id="14" name="선"/>
          <p:cNvCxnSpPr/>
          <p:nvPr/>
        </p:nvCxnSpPr>
        <p:spPr>
          <a:xfrm>
            <a:off x="812800" y="2846189"/>
            <a:ext cx="14605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806450" y="2466777"/>
            <a:ext cx="1049933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14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9.21–9.27</a:t>
            </a:r>
          </a:p>
        </p:txBody>
      </p:sp>
      <p:cxnSp>
        <p:nvCxnSpPr>
          <p:cNvPr id="16" name="선"/>
          <p:cNvCxnSpPr/>
          <p:nvPr/>
        </p:nvCxnSpPr>
        <p:spPr>
          <a:xfrm>
            <a:off x="2273300" y="2846189"/>
            <a:ext cx="13970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17" name="도형"/>
          <p:cNvSpPr/>
          <p:nvPr/>
        </p:nvSpPr>
        <p:spPr>
          <a:xfrm>
            <a:off x="2273300" y="2527102"/>
            <a:ext cx="101600" cy="10160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텍스트"/>
          <p:cNvSpPr txBox="1"/>
          <p:nvPr/>
        </p:nvSpPr>
        <p:spPr>
          <a:xfrm>
            <a:off x="2457450" y="2450902"/>
            <a:ext cx="466725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C97A"/>
                </a:solidFill>
                <a:latin typeface="Paperlogy 9 Black"/>
                <a:ea typeface="Paperlogy 9 Black"/>
                <a:cs typeface="Paperlogy 9 Black"/>
              </a:rPr>
              <a:t>1차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860675" y="2490589"/>
            <a:ext cx="468759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D84B6"/>
                </a:solidFill>
                <a:latin typeface="Paperlogy 6 SemiBold"/>
                <a:ea typeface="Paperlogy 6 SemiBold"/>
                <a:cs typeface="Paperlogy 6 SemiBold"/>
              </a:rPr>
              <a:t>9.21</a:t>
            </a:r>
          </a:p>
        </p:txBody>
      </p:sp>
      <p:cxnSp>
        <p:nvCxnSpPr>
          <p:cNvPr id="20" name="선"/>
          <p:cNvCxnSpPr/>
          <p:nvPr/>
        </p:nvCxnSpPr>
        <p:spPr>
          <a:xfrm>
            <a:off x="3670300" y="2846189"/>
            <a:ext cx="13970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21" name="도형"/>
          <p:cNvSpPr/>
          <p:nvPr/>
        </p:nvSpPr>
        <p:spPr>
          <a:xfrm>
            <a:off x="3670300" y="2527102"/>
            <a:ext cx="101600" cy="10160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텍스트"/>
          <p:cNvSpPr txBox="1"/>
          <p:nvPr/>
        </p:nvSpPr>
        <p:spPr>
          <a:xfrm>
            <a:off x="3854450" y="2450902"/>
            <a:ext cx="466725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C97A"/>
                </a:solidFill>
                <a:latin typeface="Paperlogy 9 Black"/>
                <a:ea typeface="Paperlogy 9 Black"/>
                <a:cs typeface="Paperlogy 9 Black"/>
              </a:rPr>
              <a:t>2차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4257675" y="2490589"/>
            <a:ext cx="468759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D84B6"/>
                </a:solidFill>
                <a:latin typeface="Paperlogy 6 SemiBold"/>
                <a:ea typeface="Paperlogy 6 SemiBold"/>
                <a:cs typeface="Paperlogy 6 SemiBold"/>
              </a:rPr>
              <a:t>9.23</a:t>
            </a:r>
          </a:p>
        </p:txBody>
      </p:sp>
      <p:cxnSp>
        <p:nvCxnSpPr>
          <p:cNvPr id="24" name="선"/>
          <p:cNvCxnSpPr/>
          <p:nvPr/>
        </p:nvCxnSpPr>
        <p:spPr>
          <a:xfrm>
            <a:off x="5067300" y="2846189"/>
            <a:ext cx="46609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25" name="텍스트"/>
          <p:cNvSpPr txBox="1"/>
          <p:nvPr/>
        </p:nvSpPr>
        <p:spPr>
          <a:xfrm>
            <a:off x="5060950" y="2474714"/>
            <a:ext cx="335855" cy="206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5588"/>
                </a:solidFill>
                <a:latin typeface="Paperlogy 4 Regular"/>
                <a:ea typeface="Paperlogy 4 Regular"/>
                <a:cs typeface="Paperlogy 4 Regular"/>
              </a:rPr>
              <a:t>—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9728200" y="2846189"/>
            <a:ext cx="16510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27" name="도형"/>
          <p:cNvSpPr/>
          <p:nvPr/>
        </p:nvSpPr>
        <p:spPr>
          <a:xfrm>
            <a:off x="9732962" y="2450902"/>
            <a:ext cx="1092845" cy="254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E265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텍스트"/>
          <p:cNvSpPr txBox="1"/>
          <p:nvPr/>
        </p:nvSpPr>
        <p:spPr>
          <a:xfrm>
            <a:off x="9832975" y="2494558"/>
            <a:ext cx="1032520" cy="1666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8 ExtraBold"/>
                <a:ea typeface="Paperlogy 8 ExtraBold"/>
                <a:cs typeface="Paperlogy 8 ExtraBold"/>
              </a:rPr>
              <a:t>기준 데이터 수집</a:t>
            </a:r>
          </a:p>
        </p:txBody>
      </p:sp>
      <p:cxnSp>
        <p:nvCxnSpPr>
          <p:cNvPr id="29" name="선"/>
          <p:cNvCxnSpPr/>
          <p:nvPr/>
        </p:nvCxnSpPr>
        <p:spPr>
          <a:xfrm>
            <a:off x="812800" y="3382764"/>
            <a:ext cx="14605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30" name="텍스트"/>
          <p:cNvSpPr txBox="1"/>
          <p:nvPr/>
        </p:nvSpPr>
        <p:spPr>
          <a:xfrm>
            <a:off x="806450" y="3003352"/>
            <a:ext cx="1049933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14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9.28–10.4</a:t>
            </a:r>
          </a:p>
        </p:txBody>
      </p:sp>
      <p:cxnSp>
        <p:nvCxnSpPr>
          <p:cNvPr id="31" name="선"/>
          <p:cNvCxnSpPr/>
          <p:nvPr/>
        </p:nvCxnSpPr>
        <p:spPr>
          <a:xfrm>
            <a:off x="2273300" y="3382764"/>
            <a:ext cx="13970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32" name="도형"/>
          <p:cNvSpPr/>
          <p:nvPr/>
        </p:nvSpPr>
        <p:spPr>
          <a:xfrm>
            <a:off x="2273300" y="3063677"/>
            <a:ext cx="101600" cy="10160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텍스트"/>
          <p:cNvSpPr txBox="1"/>
          <p:nvPr/>
        </p:nvSpPr>
        <p:spPr>
          <a:xfrm>
            <a:off x="2457450" y="2987477"/>
            <a:ext cx="466725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C97A"/>
                </a:solidFill>
                <a:latin typeface="Paperlogy 9 Black"/>
                <a:ea typeface="Paperlogy 9 Black"/>
                <a:cs typeface="Paperlogy 9 Black"/>
              </a:rPr>
              <a:t>3차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2860675" y="3027164"/>
            <a:ext cx="468759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D84B6"/>
                </a:solidFill>
                <a:latin typeface="Paperlogy 6 SemiBold"/>
                <a:ea typeface="Paperlogy 6 SemiBold"/>
                <a:cs typeface="Paperlogy 6 SemiBold"/>
              </a:rPr>
              <a:t>9.28</a:t>
            </a:r>
          </a:p>
        </p:txBody>
      </p:sp>
      <p:cxnSp>
        <p:nvCxnSpPr>
          <p:cNvPr id="35" name="선"/>
          <p:cNvCxnSpPr/>
          <p:nvPr/>
        </p:nvCxnSpPr>
        <p:spPr>
          <a:xfrm>
            <a:off x="3670300" y="3382764"/>
            <a:ext cx="13970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36" name="도형"/>
          <p:cNvSpPr/>
          <p:nvPr/>
        </p:nvSpPr>
        <p:spPr>
          <a:xfrm>
            <a:off x="3670300" y="3063677"/>
            <a:ext cx="101600" cy="10160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텍스트"/>
          <p:cNvSpPr txBox="1"/>
          <p:nvPr/>
        </p:nvSpPr>
        <p:spPr>
          <a:xfrm>
            <a:off x="3854450" y="2987477"/>
            <a:ext cx="466725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C97A"/>
                </a:solidFill>
                <a:latin typeface="Paperlogy 9 Black"/>
                <a:ea typeface="Paperlogy 9 Black"/>
                <a:cs typeface="Paperlogy 9 Black"/>
              </a:rPr>
              <a:t>4차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4257675" y="3027164"/>
            <a:ext cx="468759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D84B6"/>
                </a:solidFill>
                <a:latin typeface="Paperlogy 6 SemiBold"/>
                <a:ea typeface="Paperlogy 6 SemiBold"/>
                <a:cs typeface="Paperlogy 6 SemiBold"/>
              </a:rPr>
              <a:t>9.30</a:t>
            </a:r>
          </a:p>
        </p:txBody>
      </p:sp>
      <p:cxnSp>
        <p:nvCxnSpPr>
          <p:cNvPr id="39" name="선"/>
          <p:cNvCxnSpPr/>
          <p:nvPr/>
        </p:nvCxnSpPr>
        <p:spPr>
          <a:xfrm>
            <a:off x="5067300" y="3382764"/>
            <a:ext cx="46609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40" name="도형"/>
          <p:cNvSpPr/>
          <p:nvPr/>
        </p:nvSpPr>
        <p:spPr>
          <a:xfrm>
            <a:off x="5076825" y="3079552"/>
            <a:ext cx="69850" cy="69850"/>
          </a:xfrm>
          <a:prstGeom prst="ellipse">
            <a:avLst/>
          </a:prstGeom>
          <a:noFill/>
          <a:ln w="19050">
            <a:solidFill>
              <a:srgbClr val="B7A2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텍스트"/>
          <p:cNvSpPr txBox="1"/>
          <p:nvPr/>
        </p:nvSpPr>
        <p:spPr>
          <a:xfrm>
            <a:off x="5238750" y="3019227"/>
            <a:ext cx="1813917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AI 데이터 구조화·민원 제출</a:t>
            </a:r>
          </a:p>
        </p:txBody>
      </p:sp>
      <p:cxnSp>
        <p:nvCxnSpPr>
          <p:cNvPr id="42" name="선"/>
          <p:cNvCxnSpPr/>
          <p:nvPr/>
        </p:nvCxnSpPr>
        <p:spPr>
          <a:xfrm>
            <a:off x="9728200" y="3382764"/>
            <a:ext cx="16510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43" name="도형"/>
          <p:cNvSpPr/>
          <p:nvPr/>
        </p:nvSpPr>
        <p:spPr>
          <a:xfrm>
            <a:off x="9732962" y="2987477"/>
            <a:ext cx="711498" cy="254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E265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텍스트"/>
          <p:cNvSpPr txBox="1"/>
          <p:nvPr/>
        </p:nvSpPr>
        <p:spPr>
          <a:xfrm>
            <a:off x="9832975" y="3031133"/>
            <a:ext cx="651173" cy="1666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8 ExtraBold"/>
                <a:ea typeface="Paperlogy 8 ExtraBold"/>
                <a:cs typeface="Paperlogy 8 ExtraBold"/>
              </a:rPr>
              <a:t>반복 순찰</a:t>
            </a:r>
          </a:p>
        </p:txBody>
      </p:sp>
      <p:cxnSp>
        <p:nvCxnSpPr>
          <p:cNvPr id="45" name="선"/>
          <p:cNvCxnSpPr/>
          <p:nvPr/>
        </p:nvCxnSpPr>
        <p:spPr>
          <a:xfrm>
            <a:off x="812800" y="3919339"/>
            <a:ext cx="14605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806450" y="3539927"/>
            <a:ext cx="1166664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14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10.5–10.11</a:t>
            </a:r>
          </a:p>
        </p:txBody>
      </p:sp>
      <p:cxnSp>
        <p:nvCxnSpPr>
          <p:cNvPr id="47" name="선"/>
          <p:cNvCxnSpPr/>
          <p:nvPr/>
        </p:nvCxnSpPr>
        <p:spPr>
          <a:xfrm>
            <a:off x="2273300" y="3919339"/>
            <a:ext cx="13970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48" name="텍스트"/>
          <p:cNvSpPr txBox="1"/>
          <p:nvPr/>
        </p:nvSpPr>
        <p:spPr>
          <a:xfrm>
            <a:off x="2266950" y="3547864"/>
            <a:ext cx="335855" cy="206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5588"/>
                </a:solidFill>
                <a:latin typeface="Paperlogy 4 Regular"/>
                <a:ea typeface="Paperlogy 4 Regular"/>
                <a:cs typeface="Paperlogy 4 Regular"/>
              </a:rPr>
              <a:t>—</a:t>
            </a:r>
          </a:p>
        </p:txBody>
      </p:sp>
      <p:cxnSp>
        <p:nvCxnSpPr>
          <p:cNvPr id="49" name="선"/>
          <p:cNvCxnSpPr/>
          <p:nvPr/>
        </p:nvCxnSpPr>
        <p:spPr>
          <a:xfrm>
            <a:off x="3670300" y="3919339"/>
            <a:ext cx="13970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50" name="도형"/>
          <p:cNvSpPr/>
          <p:nvPr/>
        </p:nvSpPr>
        <p:spPr>
          <a:xfrm>
            <a:off x="3670300" y="3600252"/>
            <a:ext cx="101600" cy="10160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텍스트"/>
          <p:cNvSpPr txBox="1"/>
          <p:nvPr/>
        </p:nvSpPr>
        <p:spPr>
          <a:xfrm>
            <a:off x="3854450" y="3524052"/>
            <a:ext cx="466725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C97A"/>
                </a:solidFill>
                <a:latin typeface="Paperlogy 9 Black"/>
                <a:ea typeface="Paperlogy 9 Black"/>
                <a:cs typeface="Paperlogy 9 Black"/>
              </a:rPr>
              <a:t>5차</a:t>
            </a:r>
          </a:p>
        </p:txBody>
      </p:sp>
      <p:sp>
        <p:nvSpPr>
          <p:cNvPr id="52" name="텍스트"/>
          <p:cNvSpPr txBox="1"/>
          <p:nvPr/>
        </p:nvSpPr>
        <p:spPr>
          <a:xfrm>
            <a:off x="4257675" y="3563739"/>
            <a:ext cx="468759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D84B6"/>
                </a:solidFill>
                <a:latin typeface="Paperlogy 6 SemiBold"/>
                <a:ea typeface="Paperlogy 6 SemiBold"/>
                <a:cs typeface="Paperlogy 6 SemiBold"/>
              </a:rPr>
              <a:t>10.7</a:t>
            </a:r>
          </a:p>
        </p:txBody>
      </p:sp>
      <p:cxnSp>
        <p:nvCxnSpPr>
          <p:cNvPr id="53" name="선"/>
          <p:cNvCxnSpPr/>
          <p:nvPr/>
        </p:nvCxnSpPr>
        <p:spPr>
          <a:xfrm>
            <a:off x="5067300" y="3919339"/>
            <a:ext cx="46609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54" name="도형"/>
          <p:cNvSpPr/>
          <p:nvPr/>
        </p:nvSpPr>
        <p:spPr>
          <a:xfrm>
            <a:off x="5076825" y="3616127"/>
            <a:ext cx="69850" cy="69850"/>
          </a:xfrm>
          <a:prstGeom prst="ellipse">
            <a:avLst/>
          </a:prstGeom>
          <a:noFill/>
          <a:ln w="19050">
            <a:solidFill>
              <a:srgbClr val="B7A2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텍스트"/>
          <p:cNvSpPr txBox="1"/>
          <p:nvPr/>
        </p:nvSpPr>
        <p:spPr>
          <a:xfrm>
            <a:off x="5238750" y="3555802"/>
            <a:ext cx="1932717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민원 처리 현황 확인·중간점검</a:t>
            </a:r>
          </a:p>
        </p:txBody>
      </p:sp>
      <p:cxnSp>
        <p:nvCxnSpPr>
          <p:cNvPr id="56" name="선"/>
          <p:cNvCxnSpPr/>
          <p:nvPr/>
        </p:nvCxnSpPr>
        <p:spPr>
          <a:xfrm>
            <a:off x="9728200" y="3919339"/>
            <a:ext cx="16510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57" name="도형"/>
          <p:cNvSpPr/>
          <p:nvPr/>
        </p:nvSpPr>
        <p:spPr>
          <a:xfrm>
            <a:off x="9732962" y="3524052"/>
            <a:ext cx="711498" cy="254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E265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텍스트"/>
          <p:cNvSpPr txBox="1"/>
          <p:nvPr/>
        </p:nvSpPr>
        <p:spPr>
          <a:xfrm>
            <a:off x="9832975" y="3567708"/>
            <a:ext cx="651173" cy="1666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8 ExtraBold"/>
                <a:ea typeface="Paperlogy 8 ExtraBold"/>
                <a:cs typeface="Paperlogy 8 ExtraBold"/>
              </a:rPr>
              <a:t>반복 순찰</a:t>
            </a:r>
          </a:p>
        </p:txBody>
      </p:sp>
      <p:cxnSp>
        <p:nvCxnSpPr>
          <p:cNvPr id="59" name="선"/>
          <p:cNvCxnSpPr/>
          <p:nvPr/>
        </p:nvCxnSpPr>
        <p:spPr>
          <a:xfrm>
            <a:off x="812800" y="4455914"/>
            <a:ext cx="14605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806450" y="4076502"/>
            <a:ext cx="1283444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14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10.12–10.18</a:t>
            </a:r>
          </a:p>
        </p:txBody>
      </p:sp>
      <p:cxnSp>
        <p:nvCxnSpPr>
          <p:cNvPr id="61" name="선"/>
          <p:cNvCxnSpPr/>
          <p:nvPr/>
        </p:nvCxnSpPr>
        <p:spPr>
          <a:xfrm>
            <a:off x="2273300" y="4455914"/>
            <a:ext cx="13970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62" name="도형"/>
          <p:cNvSpPr/>
          <p:nvPr/>
        </p:nvSpPr>
        <p:spPr>
          <a:xfrm>
            <a:off x="2273300" y="4136827"/>
            <a:ext cx="101600" cy="10160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텍스트"/>
          <p:cNvSpPr txBox="1"/>
          <p:nvPr/>
        </p:nvSpPr>
        <p:spPr>
          <a:xfrm>
            <a:off x="2457450" y="4060627"/>
            <a:ext cx="466725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C97A"/>
                </a:solidFill>
                <a:latin typeface="Paperlogy 9 Black"/>
                <a:ea typeface="Paperlogy 9 Black"/>
                <a:cs typeface="Paperlogy 9 Black"/>
              </a:rPr>
              <a:t>6차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860675" y="4100314"/>
            <a:ext cx="561925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D84B6"/>
                </a:solidFill>
                <a:latin typeface="Paperlogy 6 SemiBold"/>
                <a:ea typeface="Paperlogy 6 SemiBold"/>
                <a:cs typeface="Paperlogy 6 SemiBold"/>
              </a:rPr>
              <a:t>10.12</a:t>
            </a:r>
          </a:p>
        </p:txBody>
      </p:sp>
      <p:cxnSp>
        <p:nvCxnSpPr>
          <p:cNvPr id="65" name="선"/>
          <p:cNvCxnSpPr/>
          <p:nvPr/>
        </p:nvCxnSpPr>
        <p:spPr>
          <a:xfrm>
            <a:off x="3670300" y="4455914"/>
            <a:ext cx="13970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66" name="도형"/>
          <p:cNvSpPr/>
          <p:nvPr/>
        </p:nvSpPr>
        <p:spPr>
          <a:xfrm>
            <a:off x="3670300" y="4136827"/>
            <a:ext cx="101600" cy="101600"/>
          </a:xfrm>
          <a:prstGeom prst="ellipse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텍스트"/>
          <p:cNvSpPr txBox="1"/>
          <p:nvPr/>
        </p:nvSpPr>
        <p:spPr>
          <a:xfrm>
            <a:off x="3854450" y="4060627"/>
            <a:ext cx="466725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C97A"/>
                </a:solidFill>
                <a:latin typeface="Paperlogy 9 Black"/>
                <a:ea typeface="Paperlogy 9 Black"/>
                <a:cs typeface="Paperlogy 9 Black"/>
              </a:rPr>
              <a:t>7차</a:t>
            </a:r>
          </a:p>
        </p:txBody>
      </p:sp>
      <p:sp>
        <p:nvSpPr>
          <p:cNvPr id="68" name="텍스트"/>
          <p:cNvSpPr txBox="1"/>
          <p:nvPr/>
        </p:nvSpPr>
        <p:spPr>
          <a:xfrm>
            <a:off x="4257675" y="4100314"/>
            <a:ext cx="561925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D84B6"/>
                </a:solidFill>
                <a:latin typeface="Paperlogy 6 SemiBold"/>
                <a:ea typeface="Paperlogy 6 SemiBold"/>
                <a:cs typeface="Paperlogy 6 SemiBold"/>
              </a:rPr>
              <a:t>10.14</a:t>
            </a:r>
          </a:p>
        </p:txBody>
      </p:sp>
      <p:cxnSp>
        <p:nvCxnSpPr>
          <p:cNvPr id="69" name="선"/>
          <p:cNvCxnSpPr/>
          <p:nvPr/>
        </p:nvCxnSpPr>
        <p:spPr>
          <a:xfrm>
            <a:off x="5067300" y="4455914"/>
            <a:ext cx="46609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70" name="도형"/>
          <p:cNvSpPr/>
          <p:nvPr/>
        </p:nvSpPr>
        <p:spPr>
          <a:xfrm>
            <a:off x="5076825" y="4152702"/>
            <a:ext cx="69850" cy="69850"/>
          </a:xfrm>
          <a:prstGeom prst="ellipse">
            <a:avLst/>
          </a:prstGeom>
          <a:noFill/>
          <a:ln w="19050">
            <a:solidFill>
              <a:srgbClr val="B7A2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텍스트"/>
          <p:cNvSpPr txBox="1"/>
          <p:nvPr/>
        </p:nvSpPr>
        <p:spPr>
          <a:xfrm>
            <a:off x="5238750" y="4092377"/>
            <a:ext cx="2574627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민원 제출·데이터 정리·결과보고서 작성</a:t>
            </a:r>
          </a:p>
        </p:txBody>
      </p:sp>
      <p:cxnSp>
        <p:nvCxnSpPr>
          <p:cNvPr id="72" name="선"/>
          <p:cNvCxnSpPr/>
          <p:nvPr/>
        </p:nvCxnSpPr>
        <p:spPr>
          <a:xfrm>
            <a:off x="9728200" y="4455914"/>
            <a:ext cx="16510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73" name="도형"/>
          <p:cNvSpPr/>
          <p:nvPr/>
        </p:nvSpPr>
        <p:spPr>
          <a:xfrm>
            <a:off x="9732962" y="4060627"/>
            <a:ext cx="961579" cy="254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E265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텍스트"/>
          <p:cNvSpPr txBox="1"/>
          <p:nvPr/>
        </p:nvSpPr>
        <p:spPr>
          <a:xfrm>
            <a:off x="9832975" y="4104283"/>
            <a:ext cx="901254" cy="1666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8 ExtraBold"/>
                <a:ea typeface="Paperlogy 8 ExtraBold"/>
                <a:cs typeface="Paperlogy 8 ExtraBold"/>
              </a:rPr>
              <a:t>재확인·마무리</a:t>
            </a:r>
          </a:p>
        </p:txBody>
      </p:sp>
      <p:cxnSp>
        <p:nvCxnSpPr>
          <p:cNvPr id="75" name="선"/>
          <p:cNvCxnSpPr/>
          <p:nvPr/>
        </p:nvCxnSpPr>
        <p:spPr>
          <a:xfrm>
            <a:off x="812800" y="4992489"/>
            <a:ext cx="14605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76" name="텍스트"/>
          <p:cNvSpPr txBox="1"/>
          <p:nvPr/>
        </p:nvSpPr>
        <p:spPr>
          <a:xfrm>
            <a:off x="806450" y="4613077"/>
            <a:ext cx="861467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14">
                <a:solidFill>
                  <a:srgbClr val="5FD3AC"/>
                </a:solidFill>
                <a:latin typeface="Paperlogy 8 ExtraBold"/>
                <a:ea typeface="Paperlogy 8 ExtraBold"/>
                <a:cs typeface="Paperlogy 8 ExtraBold"/>
              </a:rPr>
              <a:t>10.28 수</a:t>
            </a:r>
          </a:p>
        </p:txBody>
      </p:sp>
      <p:cxnSp>
        <p:nvCxnSpPr>
          <p:cNvPr id="77" name="선"/>
          <p:cNvCxnSpPr/>
          <p:nvPr/>
        </p:nvCxnSpPr>
        <p:spPr>
          <a:xfrm>
            <a:off x="2273300" y="4992489"/>
            <a:ext cx="74549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78" name="텍스트"/>
          <p:cNvSpPr txBox="1"/>
          <p:nvPr/>
        </p:nvSpPr>
        <p:spPr>
          <a:xfrm>
            <a:off x="4066977" y="4636889"/>
            <a:ext cx="1048990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D84B6"/>
                </a:solidFill>
                <a:latin typeface="Paperlogy 6 SemiBold"/>
                <a:ea typeface="Paperlogy 6 SemiBold"/>
                <a:cs typeface="Paperlogy 6 SemiBold"/>
              </a:rPr>
              <a:t>14:00–16:00</a:t>
            </a:r>
          </a:p>
        </p:txBody>
      </p:sp>
      <p:sp>
        <p:nvSpPr>
          <p:cNvPr id="79" name="텍스트"/>
          <p:cNvSpPr txBox="1"/>
          <p:nvPr/>
        </p:nvSpPr>
        <p:spPr>
          <a:xfrm>
            <a:off x="2266950" y="4605139"/>
            <a:ext cx="1868269" cy="238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D3AC"/>
                </a:solidFill>
                <a:latin typeface="Paperlogy 8 ExtraBold"/>
                <a:ea typeface="Paperlogy 8 ExtraBold"/>
                <a:cs typeface="Paperlogy 8 ExtraBold"/>
              </a:rPr>
              <a:t>성과공유회 · 결과 발표</a:t>
            </a:r>
          </a:p>
        </p:txBody>
      </p:sp>
      <p:cxnSp>
        <p:nvCxnSpPr>
          <p:cNvPr id="80" name="선"/>
          <p:cNvCxnSpPr/>
          <p:nvPr/>
        </p:nvCxnSpPr>
        <p:spPr>
          <a:xfrm>
            <a:off x="9728200" y="4992489"/>
            <a:ext cx="1651000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81" name="도형"/>
          <p:cNvSpPr/>
          <p:nvPr/>
        </p:nvSpPr>
        <p:spPr>
          <a:xfrm>
            <a:off x="9732962" y="4597202"/>
            <a:ext cx="711498" cy="254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FD3A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텍스트"/>
          <p:cNvSpPr txBox="1"/>
          <p:nvPr/>
        </p:nvSpPr>
        <p:spPr>
          <a:xfrm>
            <a:off x="9832975" y="4640858"/>
            <a:ext cx="651173" cy="1666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D3AC"/>
                </a:solidFill>
                <a:latin typeface="Paperlogy 8 ExtraBold"/>
                <a:ea typeface="Paperlogy 8 ExtraBold"/>
                <a:cs typeface="Paperlogy 8 ExtraBold"/>
              </a:rPr>
              <a:t>성과 공유</a:t>
            </a:r>
          </a:p>
        </p:txBody>
      </p:sp>
      <p:sp>
        <p:nvSpPr>
          <p:cNvPr id="83" name="텍스트"/>
          <p:cNvSpPr txBox="1"/>
          <p:nvPr/>
        </p:nvSpPr>
        <p:spPr>
          <a:xfrm>
            <a:off x="806450" y="6415088"/>
            <a:ext cx="163274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러닝으로 만드는 AI 생활안전망</a:t>
            </a:r>
          </a:p>
        </p:txBody>
      </p:sp>
      <p:sp>
        <p:nvSpPr>
          <p:cNvPr id="84" name="텍스트"/>
          <p:cNvSpPr txBox="1"/>
          <p:nvPr/>
        </p:nvSpPr>
        <p:spPr>
          <a:xfrm>
            <a:off x="10944076" y="6415088"/>
            <a:ext cx="58117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"/>
          <p:cNvSpPr txBox="1"/>
          <p:nvPr/>
        </p:nvSpPr>
        <p:spPr>
          <a:xfrm>
            <a:off x="806450" y="706438"/>
            <a:ext cx="1733426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4">
                <a:solidFill>
                  <a:srgbClr val="B7A2FF"/>
                </a:solidFill>
                <a:latin typeface="Paperlogy 7 Bold"/>
                <a:ea typeface="Paperlogy 7 Bold"/>
                <a:cs typeface="Paperlogy 7 Bold"/>
              </a:rPr>
              <a:t>우리가 만들고 싶은 변화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806450" y="1078359"/>
            <a:ext cx="6949311" cy="1109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367"/>
              </a:lnSpc>
              <a:spcBef>
                <a:spcPts val="0"/>
              </a:spcBef>
              <a:spcAft>
                <a:spcPts val="0"/>
              </a:spcAft>
            </a:pPr>
            <a:r>
              <a:rPr sz="3900" b="0" i="0" spc="-136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청년들이 달린 길이</a:t>
            </a:r>
          </a:p>
          <a:p>
            <a:pPr algn="l">
              <a:lnSpc>
                <a:spcPts val="4367"/>
              </a:lnSpc>
              <a:spcBef>
                <a:spcPts val="0"/>
              </a:spcBef>
              <a:spcAft>
                <a:spcPts val="0"/>
              </a:spcAft>
            </a:pPr>
            <a:r>
              <a:rPr sz="3900" b="0" i="0" spc="-136">
                <a:solidFill>
                  <a:srgbClr val="FFC97A"/>
                </a:solidFill>
                <a:latin typeface="Paperlogy 8 ExtraBold"/>
                <a:ea typeface="Paperlogy 8 ExtraBold"/>
                <a:cs typeface="Paperlogy 8 ExtraBold"/>
              </a:rPr>
              <a:t>더 안전한 우리 동네 밤길</a:t>
            </a:r>
            <a:r>
              <a:rPr sz="3900" b="0" i="0" spc="-136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이 됩니다</a:t>
            </a:r>
          </a:p>
        </p:txBody>
      </p:sp>
      <p:cxnSp>
        <p:nvCxnSpPr>
          <p:cNvPr id="4" name="선"/>
          <p:cNvCxnSpPr/>
          <p:nvPr/>
        </p:nvCxnSpPr>
        <p:spPr>
          <a:xfrm>
            <a:off x="812800" y="2703314"/>
            <a:ext cx="3251200" cy="0"/>
          </a:xfrm>
          <a:prstGeom prst="line">
            <a:avLst/>
          </a:prstGeom>
          <a:ln w="12700">
            <a:solidFill>
              <a:srgbClr val="2E265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806450" y="2895402"/>
            <a:ext cx="700038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10">
                <a:solidFill>
                  <a:srgbClr val="B7A2FF"/>
                </a:solidFill>
                <a:latin typeface="Paperlogy 7 Bold"/>
                <a:ea typeface="Paperlogy 7 Bold"/>
                <a:cs typeface="Paperlogy 7 Bold"/>
              </a:rPr>
              <a:t>청년에게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806450" y="3166547"/>
            <a:ext cx="2357056" cy="2895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spc="-57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달리기가 봉사가 됩니다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806450" y="3556397"/>
            <a:ext cx="3319294" cy="457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평소 좋아서 달리던 길에서 지역사회를 위한 활동을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시작합니다.</a:t>
            </a:r>
          </a:p>
        </p:txBody>
      </p:sp>
      <p:cxnSp>
        <p:nvCxnSpPr>
          <p:cNvPr id="8" name="선"/>
          <p:cNvCxnSpPr/>
          <p:nvPr/>
        </p:nvCxnSpPr>
        <p:spPr>
          <a:xfrm>
            <a:off x="4470400" y="2703314"/>
            <a:ext cx="3251200" cy="0"/>
          </a:xfrm>
          <a:prstGeom prst="line">
            <a:avLst/>
          </a:prstGeom>
          <a:ln w="12700">
            <a:solidFill>
              <a:srgbClr val="2E265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4464050" y="2895402"/>
            <a:ext cx="563166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10">
                <a:solidFill>
                  <a:srgbClr val="B7A2FF"/>
                </a:solidFill>
                <a:latin typeface="Paperlogy 7 Bold"/>
                <a:ea typeface="Paperlogy 7 Bold"/>
                <a:cs typeface="Paperlogy 7 Bold"/>
              </a:rPr>
              <a:t>동네에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4464050" y="3166547"/>
            <a:ext cx="2582649" cy="2895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spc="-57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개선된 장소가 늘어납니다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464050" y="3556397"/>
            <a:ext cx="3503687" cy="457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매주 같은 길을 반복해서 달리며 발견한 위험이 실제로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개선됐는지 확인합니다.</a:t>
            </a:r>
          </a:p>
        </p:txBody>
      </p:sp>
      <p:cxnSp>
        <p:nvCxnSpPr>
          <p:cNvPr id="12" name="선"/>
          <p:cNvCxnSpPr/>
          <p:nvPr/>
        </p:nvCxnSpPr>
        <p:spPr>
          <a:xfrm>
            <a:off x="8128000" y="2703314"/>
            <a:ext cx="3251200" cy="0"/>
          </a:xfrm>
          <a:prstGeom prst="line">
            <a:avLst/>
          </a:prstGeom>
          <a:ln w="12700">
            <a:solidFill>
              <a:srgbClr val="FFC97A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8121650" y="2895402"/>
            <a:ext cx="700038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10">
                <a:solidFill>
                  <a:srgbClr val="FFC97A"/>
                </a:solidFill>
                <a:latin typeface="Paperlogy 7 Bold"/>
                <a:ea typeface="Paperlogy 7 Bold"/>
                <a:cs typeface="Paperlogy 7 Bold"/>
              </a:rPr>
              <a:t>이웃에게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121650" y="3166566"/>
            <a:ext cx="2959566" cy="5790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279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spc="-57">
                <a:solidFill>
                  <a:srgbClr val="FFC97A"/>
                </a:solidFill>
                <a:latin typeface="Paperlogy 8 ExtraBold"/>
                <a:ea typeface="Paperlogy 8 ExtraBold"/>
                <a:cs typeface="Paperlogy 8 ExtraBold"/>
              </a:rPr>
              <a:t>더 안심하고 걸을 수 있는 길이</a:t>
            </a:r>
          </a:p>
          <a:p>
            <a:pPr algn="l">
              <a:lnSpc>
                <a:spcPts val="2279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spc="-57">
                <a:solidFill>
                  <a:srgbClr val="FFC97A"/>
                </a:solidFill>
                <a:latin typeface="Paperlogy 8 ExtraBold"/>
                <a:ea typeface="Paperlogy 8 ExtraBold"/>
                <a:cs typeface="Paperlogy 8 ExtraBold"/>
              </a:rPr>
              <a:t>됩니다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8121650" y="3845917"/>
            <a:ext cx="3208680" cy="457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어르신과 늦은 시간 귀가하는 주민 모두가 조금 더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안심하고 걸을 수 있는 환경을 만듭니다.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806450" y="5486400"/>
            <a:ext cx="5271656" cy="609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10월 28일,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우리가 발견하고 개선한 현장의 </a:t>
            </a:r>
            <a:r>
              <a:rPr sz="1600" b="0" i="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전과 후</a:t>
            </a:r>
            <a:r>
              <a:rPr sz="1600" b="0" i="0">
                <a:solidFill>
                  <a:srgbClr val="C4BBE6"/>
                </a:solidFill>
                <a:latin typeface="Paperlogy 6 SemiBold"/>
                <a:ea typeface="Paperlogy 6 SemiBold"/>
                <a:cs typeface="Paperlogy 6 SemiBold"/>
              </a:rPr>
              <a:t>를 보여드리겠습니다.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806450" y="6415088"/>
            <a:ext cx="163274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러닝으로 만드는 AI 생활안전망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10944076" y="6415088"/>
            <a:ext cx="58117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"/>
          <p:cNvSpPr txBox="1"/>
          <p:nvPr/>
        </p:nvSpPr>
        <p:spPr>
          <a:xfrm>
            <a:off x="806450" y="706438"/>
            <a:ext cx="1250454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4">
                <a:solidFill>
                  <a:srgbClr val="B7A2FF"/>
                </a:solidFill>
                <a:latin typeface="Paperlogy 7 Bold"/>
                <a:ea typeface="Paperlogy 7 Bold"/>
                <a:cs typeface="Paperlogy 7 Bold"/>
              </a:rPr>
              <a:t>예산과 예상 과제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806450" y="1013271"/>
            <a:ext cx="5146908" cy="7792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67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 spc="-7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50만 원의 예산으로 실행하고,</a:t>
            </a:r>
          </a:p>
          <a:p>
            <a:pPr algn="l">
              <a:lnSpc>
                <a:spcPts val="3067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 spc="-7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예상되는 어려움에는 </a:t>
            </a:r>
            <a:r>
              <a:rPr sz="2600" b="0" i="0" spc="-78">
                <a:solidFill>
                  <a:srgbClr val="B7A2FF"/>
                </a:solidFill>
                <a:latin typeface="Paperlogy 8 ExtraBold"/>
                <a:ea typeface="Paperlogy 8 ExtraBold"/>
                <a:cs typeface="Paperlogy 8 ExtraBold"/>
              </a:rPr>
              <a:t>미리 대비</a:t>
            </a:r>
            <a:r>
              <a:rPr sz="2600" b="0" i="0" spc="-78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합니다</a:t>
            </a:r>
          </a:p>
        </p:txBody>
      </p:sp>
      <p:cxnSp>
        <p:nvCxnSpPr>
          <p:cNvPr id="4" name="선"/>
          <p:cNvCxnSpPr/>
          <p:nvPr/>
        </p:nvCxnSpPr>
        <p:spPr>
          <a:xfrm>
            <a:off x="812800" y="2550914"/>
            <a:ext cx="4357489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806450" y="2231827"/>
            <a:ext cx="898426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32">
                <a:solidFill>
                  <a:srgbClr val="8D84B6"/>
                </a:solidFill>
                <a:latin typeface="Paperlogy 7 Bold"/>
                <a:ea typeface="Paperlogy 7 Bold"/>
                <a:cs typeface="Paperlogy 7 Bold"/>
              </a:rPr>
              <a:t>실행 지원금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437334" y="2063552"/>
            <a:ext cx="1899265" cy="381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spc="-72">
                <a:solidFill>
                  <a:srgbClr val="EEEAFB"/>
                </a:solidFill>
                <a:latin typeface="Paperlogy 9 Black"/>
                <a:ea typeface="Paperlogy 9 Black"/>
                <a:cs typeface="Paperlogy 9 Black"/>
              </a:rPr>
              <a:t>총 500,000</a:t>
            </a:r>
            <a:r>
              <a:rPr sz="1300" b="0" i="0" spc="-72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원</a:t>
            </a:r>
          </a:p>
        </p:txBody>
      </p:sp>
      <p:sp>
        <p:nvSpPr>
          <p:cNvPr id="7" name="도형"/>
          <p:cNvSpPr/>
          <p:nvPr/>
        </p:nvSpPr>
        <p:spPr>
          <a:xfrm>
            <a:off x="812800" y="2769989"/>
            <a:ext cx="3438277" cy="431800"/>
          </a:xfrm>
          <a:prstGeom prst="rect">
            <a:avLst/>
          </a:prstGeom>
          <a:solidFill>
            <a:srgbClr val="8C6B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도형"/>
          <p:cNvSpPr/>
          <p:nvPr/>
        </p:nvSpPr>
        <p:spPr>
          <a:xfrm>
            <a:off x="4270127" y="2769989"/>
            <a:ext cx="738584" cy="431800"/>
          </a:xfrm>
          <a:prstGeom prst="rect">
            <a:avLst/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도형"/>
          <p:cNvSpPr/>
          <p:nvPr/>
        </p:nvSpPr>
        <p:spPr>
          <a:xfrm>
            <a:off x="5027761" y="2769989"/>
            <a:ext cx="142528" cy="431800"/>
          </a:xfrm>
          <a:prstGeom prst="rect">
            <a:avLst/>
          </a:prstGeom>
          <a:solidFill>
            <a:srgbClr val="5FD3A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선"/>
          <p:cNvCxnSpPr/>
          <p:nvPr/>
        </p:nvCxnSpPr>
        <p:spPr>
          <a:xfrm>
            <a:off x="812800" y="3957439"/>
            <a:ext cx="4357489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11" name="도형"/>
          <p:cNvSpPr/>
          <p:nvPr/>
        </p:nvSpPr>
        <p:spPr>
          <a:xfrm>
            <a:off x="812800" y="3616127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8C6B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텍스트"/>
          <p:cNvSpPr txBox="1"/>
          <p:nvPr/>
        </p:nvSpPr>
        <p:spPr>
          <a:xfrm>
            <a:off x="1035050" y="3474839"/>
            <a:ext cx="851198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AI 구독료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035050" y="3698677"/>
            <a:ext cx="1794108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dirty="0" err="1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데이터</a:t>
            </a:r>
            <a:r>
              <a:rPr sz="1000" b="0" i="0" dirty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 </a:t>
            </a:r>
            <a:r>
              <a:rPr sz="1000" b="0" i="0" dirty="0" err="1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분석</a:t>
            </a:r>
            <a:r>
              <a:rPr sz="1000" b="0" i="0" dirty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 </a:t>
            </a:r>
            <a:r>
              <a:rPr sz="1000" b="0" i="0" dirty="0" err="1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및</a:t>
            </a:r>
            <a:r>
              <a:rPr sz="1000" b="0" i="0" dirty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 </a:t>
            </a:r>
            <a:r>
              <a:rPr sz="1000" b="0" i="0" dirty="0" err="1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웹</a:t>
            </a:r>
            <a:r>
              <a:rPr lang="ko-KR" altLang="en-US" sz="1000" b="0" i="0" dirty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사이트</a:t>
            </a:r>
            <a:r>
              <a:rPr lang="ko-Kore-KR" altLang="en-US" sz="1000" b="0" i="0" dirty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 </a:t>
            </a:r>
            <a:r>
              <a:rPr lang="ko-KR" altLang="en-US" sz="1000" b="0" i="0" dirty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운영</a:t>
            </a:r>
            <a:r>
              <a:rPr sz="1000" b="0" i="0" dirty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 · 2개월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4244479" y="3474839"/>
            <a:ext cx="1071860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398,000원</a:t>
            </a:r>
          </a:p>
        </p:txBody>
      </p:sp>
      <p:cxnSp>
        <p:nvCxnSpPr>
          <p:cNvPr id="15" name="선"/>
          <p:cNvCxnSpPr/>
          <p:nvPr/>
        </p:nvCxnSpPr>
        <p:spPr>
          <a:xfrm>
            <a:off x="812800" y="4538464"/>
            <a:ext cx="4357489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16" name="도형"/>
          <p:cNvSpPr/>
          <p:nvPr/>
        </p:nvSpPr>
        <p:spPr>
          <a:xfrm>
            <a:off x="812800" y="4197152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FFC9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텍스트"/>
          <p:cNvSpPr txBox="1"/>
          <p:nvPr/>
        </p:nvSpPr>
        <p:spPr>
          <a:xfrm>
            <a:off x="1035050" y="4055864"/>
            <a:ext cx="1351211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API·현장 소모품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1035050" y="4279702"/>
            <a:ext cx="2216155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현장 데이터 분류·통합 · 건전지·X밴드 등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4363045" y="4055864"/>
            <a:ext cx="953294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85,500원</a:t>
            </a:r>
          </a:p>
        </p:txBody>
      </p:sp>
      <p:cxnSp>
        <p:nvCxnSpPr>
          <p:cNvPr id="20" name="선"/>
          <p:cNvCxnSpPr/>
          <p:nvPr/>
        </p:nvCxnSpPr>
        <p:spPr>
          <a:xfrm>
            <a:off x="812800" y="5119489"/>
            <a:ext cx="4357489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21" name="도형"/>
          <p:cNvSpPr/>
          <p:nvPr/>
        </p:nvSpPr>
        <p:spPr>
          <a:xfrm>
            <a:off x="812800" y="4778177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5FD3A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텍스트"/>
          <p:cNvSpPr txBox="1"/>
          <p:nvPr/>
        </p:nvSpPr>
        <p:spPr>
          <a:xfrm>
            <a:off x="1035050" y="4636889"/>
            <a:ext cx="621804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도메인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1035050" y="4860727"/>
            <a:ext cx="1721148" cy="158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dirty="0" err="1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위험지도와</a:t>
            </a:r>
            <a:r>
              <a:rPr sz="1000" b="0" i="0" dirty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 </a:t>
            </a:r>
            <a:r>
              <a:rPr sz="1000" b="0" i="0" dirty="0" err="1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웹</a:t>
            </a:r>
            <a:r>
              <a:rPr lang="ko-KR" altLang="en-US" sz="1000" b="0" i="0" dirty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사이트</a:t>
            </a:r>
            <a:r>
              <a:rPr lang="ko-Kore-KR" altLang="en-US" sz="1000" b="0" i="0" dirty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 </a:t>
            </a:r>
            <a:r>
              <a:rPr lang="ko-KR" altLang="en-US" sz="1000" b="0" i="0" dirty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공</a:t>
            </a:r>
            <a:r>
              <a:rPr sz="1000" b="0" i="0" dirty="0" err="1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개</a:t>
            </a:r>
            <a:r>
              <a:rPr sz="1000" b="0" i="0" dirty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 </a:t>
            </a:r>
            <a:r>
              <a:rPr sz="1000" b="0" i="0" dirty="0" err="1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주소</a:t>
            </a:r>
            <a:r>
              <a:rPr sz="1000" b="0" i="0" dirty="0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 </a:t>
            </a:r>
            <a:r>
              <a:rPr sz="1000" b="0" i="0" dirty="0" err="1">
                <a:solidFill>
                  <a:srgbClr val="8D84B6"/>
                </a:solidFill>
                <a:latin typeface="Paperlogy 5 Medium"/>
                <a:ea typeface="Paperlogy 5 Medium"/>
                <a:cs typeface="Paperlogy 5 Medium"/>
              </a:rPr>
              <a:t>운영</a:t>
            </a:r>
            <a:endParaRPr sz="1000" b="0" i="0" dirty="0">
              <a:solidFill>
                <a:srgbClr val="8D84B6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24" name="텍스트"/>
          <p:cNvSpPr txBox="1"/>
          <p:nvPr/>
        </p:nvSpPr>
        <p:spPr>
          <a:xfrm>
            <a:off x="4363045" y="4636889"/>
            <a:ext cx="953294" cy="222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EEAFB"/>
                </a:solidFill>
                <a:latin typeface="Paperlogy 8 ExtraBold"/>
                <a:ea typeface="Paperlogy 8 ExtraBold"/>
                <a:cs typeface="Paperlogy 8 ExtraBold"/>
              </a:rPr>
              <a:t>16,500원</a:t>
            </a:r>
          </a:p>
        </p:txBody>
      </p:sp>
      <p:cxnSp>
        <p:nvCxnSpPr>
          <p:cNvPr id="25" name="선"/>
          <p:cNvCxnSpPr/>
          <p:nvPr/>
        </p:nvCxnSpPr>
        <p:spPr>
          <a:xfrm>
            <a:off x="5932289" y="2357239"/>
            <a:ext cx="5446911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26" name="텍스트"/>
          <p:cNvSpPr txBox="1"/>
          <p:nvPr/>
        </p:nvSpPr>
        <p:spPr>
          <a:xfrm>
            <a:off x="5925939" y="2069902"/>
            <a:ext cx="1552228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32">
                <a:solidFill>
                  <a:srgbClr val="8D84B6"/>
                </a:solidFill>
                <a:latin typeface="Paperlogy 7 Bold"/>
                <a:ea typeface="Paperlogy 7 Bold"/>
                <a:cs typeface="Paperlogy 7 Bold"/>
              </a:rPr>
              <a:t>예상 과제와 대응 방안</a:t>
            </a:r>
          </a:p>
        </p:txBody>
      </p:sp>
      <p:cxnSp>
        <p:nvCxnSpPr>
          <p:cNvPr id="27" name="선"/>
          <p:cNvCxnSpPr/>
          <p:nvPr/>
        </p:nvCxnSpPr>
        <p:spPr>
          <a:xfrm>
            <a:off x="5932289" y="2941439"/>
            <a:ext cx="5446911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28" name="텍스트"/>
          <p:cNvSpPr txBox="1"/>
          <p:nvPr/>
        </p:nvSpPr>
        <p:spPr>
          <a:xfrm>
            <a:off x="5925939" y="2437408"/>
            <a:ext cx="885825" cy="1984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참여자 노쇼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5925939" y="2655689"/>
            <a:ext cx="5721042" cy="2000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러닝크루 운영 경험을 바탕으로 참여자를 모집하고, 크루장이 활동 전 일정과 준비사항을 안내합니다.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5932289" y="3725664"/>
            <a:ext cx="5446911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31" name="텍스트"/>
          <p:cNvSpPr txBox="1"/>
          <p:nvPr/>
        </p:nvSpPr>
        <p:spPr>
          <a:xfrm>
            <a:off x="5925939" y="3021608"/>
            <a:ext cx="1844040" cy="1984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민원 처리 지연 또는 무응답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925939" y="3239889"/>
            <a:ext cx="5651956" cy="4000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재확인 순찰을 통해 처리 과정을 추적하고, 안전귀가서비스 담당 부서인 스마트도시정보과와의 협력</a:t>
            </a:r>
          </a:p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창구를 마련합니다.</a:t>
            </a:r>
          </a:p>
        </p:txBody>
      </p:sp>
      <p:cxnSp>
        <p:nvCxnSpPr>
          <p:cNvPr id="33" name="선"/>
          <p:cNvCxnSpPr/>
          <p:nvPr/>
        </p:nvCxnSpPr>
        <p:spPr>
          <a:xfrm>
            <a:off x="5932289" y="4309864"/>
            <a:ext cx="5446911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34" name="텍스트"/>
          <p:cNvSpPr txBox="1"/>
          <p:nvPr/>
        </p:nvSpPr>
        <p:spPr>
          <a:xfrm>
            <a:off x="5925939" y="3805833"/>
            <a:ext cx="2305050" cy="1984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위험 요소를 발견하지 못할 가능성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5925939" y="4024114"/>
            <a:ext cx="5701834" cy="2000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1·2차 순찰에서 코스의 기준 데이터를 먼저 구축하고, 공공데이터와 결합해 점검 지점을 보완합니다.</a:t>
            </a:r>
          </a:p>
        </p:txBody>
      </p:sp>
      <p:cxnSp>
        <p:nvCxnSpPr>
          <p:cNvPr id="36" name="선"/>
          <p:cNvCxnSpPr/>
          <p:nvPr/>
        </p:nvCxnSpPr>
        <p:spPr>
          <a:xfrm>
            <a:off x="5932289" y="4894064"/>
            <a:ext cx="5446911" cy="0"/>
          </a:xfrm>
          <a:prstGeom prst="line">
            <a:avLst/>
          </a:prstGeom>
          <a:ln w="6350">
            <a:solidFill>
              <a:srgbClr val="2E2658"/>
            </a:solidFill>
          </a:ln>
        </p:spPr>
      </p:cxnSp>
      <p:sp>
        <p:nvSpPr>
          <p:cNvPr id="37" name="텍스트"/>
          <p:cNvSpPr txBox="1"/>
          <p:nvPr/>
        </p:nvSpPr>
        <p:spPr>
          <a:xfrm>
            <a:off x="5925939" y="4390033"/>
            <a:ext cx="1304925" cy="1984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EEAFB"/>
                </a:solidFill>
                <a:latin typeface="Paperlogy 7 Bold"/>
                <a:ea typeface="Paperlogy 7 Bold"/>
                <a:cs typeface="Paperlogy 7 Bold"/>
              </a:rPr>
              <a:t>행정기관과의 마찰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5925939" y="4608314"/>
            <a:ext cx="4796294" cy="2000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BBE6"/>
                </a:solidFill>
                <a:latin typeface="Paperlogy 5 Medium"/>
                <a:ea typeface="Paperlogy 5 Medium"/>
                <a:cs typeface="Paperlogy 5 Medium"/>
              </a:rPr>
              <a:t>사전 안전·운영 교육을 실시하고, 현장에서 확인된 정확한 제보만 선별해 제출합니다.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806450" y="6415088"/>
            <a:ext cx="163274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러닝으로 만드는 AI 생활안전망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10944076" y="6415088"/>
            <a:ext cx="58117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"/>
          <p:cNvSpPr txBox="1"/>
          <p:nvPr/>
        </p:nvSpPr>
        <p:spPr>
          <a:xfrm>
            <a:off x="1850231" y="1493838"/>
            <a:ext cx="1816646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6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× 성균관대학교 AXIS Lab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806450" y="1500188"/>
            <a:ext cx="1081881" cy="174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4">
                <a:solidFill>
                  <a:srgbClr val="B7A2FF"/>
                </a:solidFill>
                <a:latin typeface="Paperlogy 7 Bold"/>
                <a:ea typeface="Paperlogy 7 Bold"/>
                <a:cs typeface="Paperlogy 7 Bold"/>
              </a:rPr>
              <a:t>중앙청년LAB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806450" y="1955800"/>
            <a:ext cx="8193405" cy="139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 spc="-225">
                <a:solidFill>
                  <a:srgbClr val="EEEAFB"/>
                </a:solidFill>
                <a:latin typeface="Paperlogy 9 Black"/>
                <a:ea typeface="Paperlogy 9 Black"/>
                <a:cs typeface="Paperlogy 9 Black"/>
              </a:rPr>
              <a:t>오늘 밤도,</a:t>
            </a:r>
          </a:p>
          <a:p>
            <a:pPr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 spc="-225">
                <a:solidFill>
                  <a:srgbClr val="EEEAFB"/>
                </a:solidFill>
                <a:latin typeface="Paperlogy 9 Black"/>
                <a:ea typeface="Paperlogy 9 Black"/>
                <a:cs typeface="Paperlogy 9 Black"/>
              </a:rPr>
              <a:t>우리 동네를 한 바퀴 더 </a:t>
            </a:r>
            <a:r>
              <a:rPr sz="5000" b="0" i="0" spc="-225">
                <a:solidFill>
                  <a:srgbClr val="FFC97A"/>
                </a:solidFill>
                <a:latin typeface="Paperlogy 9 Black"/>
                <a:ea typeface="Paperlogy 9 Black"/>
                <a:cs typeface="Paperlogy 9 Black"/>
              </a:rPr>
              <a:t>안전하게</a:t>
            </a:r>
          </a:p>
        </p:txBody>
      </p:sp>
      <p:sp>
        <p:nvSpPr>
          <p:cNvPr id="5" name="도형"/>
          <p:cNvSpPr/>
          <p:nvPr/>
        </p:nvSpPr>
        <p:spPr>
          <a:xfrm>
            <a:off x="812800" y="3911600"/>
            <a:ext cx="1397000" cy="139700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QR 코드"/>
          <p:cNvSpPr/>
          <p:nvPr/>
        </p:nvSpPr>
        <p:spPr>
          <a:xfrm>
            <a:off x="889000" y="3987800"/>
            <a:ext cx="1244600" cy="1244600"/>
          </a:xfrm>
          <a:custGeom>
            <a:avLst/>
            <a:gdLst/>
            <a:ahLst/>
            <a:cxnLst/>
            <a:rect l="l" t="t" r="r" b="b"/>
            <a:pathLst>
              <a:path w="1244600" h="1244600">
                <a:moveTo>
                  <a:pt x="0" y="0"/>
                </a:moveTo>
                <a:lnTo>
                  <a:pt x="264006" y="0"/>
                </a:lnTo>
                <a:lnTo>
                  <a:pt x="264006" y="37715"/>
                </a:lnTo>
                <a:lnTo>
                  <a:pt x="0" y="37715"/>
                </a:lnTo>
                <a:close/>
                <a:moveTo>
                  <a:pt x="339436" y="0"/>
                </a:moveTo>
                <a:lnTo>
                  <a:pt x="377152" y="0"/>
                </a:lnTo>
                <a:lnTo>
                  <a:pt x="377152" y="37715"/>
                </a:lnTo>
                <a:lnTo>
                  <a:pt x="339436" y="37715"/>
                </a:lnTo>
                <a:close/>
                <a:moveTo>
                  <a:pt x="452582" y="0"/>
                </a:moveTo>
                <a:lnTo>
                  <a:pt x="490297" y="0"/>
                </a:lnTo>
                <a:lnTo>
                  <a:pt x="490297" y="37715"/>
                </a:lnTo>
                <a:lnTo>
                  <a:pt x="452582" y="37715"/>
                </a:lnTo>
                <a:close/>
                <a:moveTo>
                  <a:pt x="603442" y="0"/>
                </a:moveTo>
                <a:lnTo>
                  <a:pt x="829733" y="0"/>
                </a:lnTo>
                <a:lnTo>
                  <a:pt x="829733" y="37715"/>
                </a:lnTo>
                <a:lnTo>
                  <a:pt x="603442" y="37715"/>
                </a:lnTo>
                <a:close/>
                <a:moveTo>
                  <a:pt x="867448" y="0"/>
                </a:moveTo>
                <a:lnTo>
                  <a:pt x="905164" y="0"/>
                </a:lnTo>
                <a:lnTo>
                  <a:pt x="905164" y="37715"/>
                </a:lnTo>
                <a:lnTo>
                  <a:pt x="867448" y="37715"/>
                </a:lnTo>
                <a:close/>
                <a:moveTo>
                  <a:pt x="980594" y="0"/>
                </a:moveTo>
                <a:lnTo>
                  <a:pt x="1244600" y="0"/>
                </a:lnTo>
                <a:lnTo>
                  <a:pt x="1244600" y="37715"/>
                </a:lnTo>
                <a:lnTo>
                  <a:pt x="980594" y="37715"/>
                </a:lnTo>
                <a:close/>
                <a:moveTo>
                  <a:pt x="0" y="37715"/>
                </a:moveTo>
                <a:lnTo>
                  <a:pt x="37715" y="37715"/>
                </a:lnTo>
                <a:lnTo>
                  <a:pt x="37715" y="75430"/>
                </a:lnTo>
                <a:lnTo>
                  <a:pt x="0" y="75430"/>
                </a:lnTo>
                <a:close/>
                <a:moveTo>
                  <a:pt x="226291" y="37715"/>
                </a:moveTo>
                <a:lnTo>
                  <a:pt x="264006" y="37715"/>
                </a:lnTo>
                <a:lnTo>
                  <a:pt x="264006" y="75430"/>
                </a:lnTo>
                <a:lnTo>
                  <a:pt x="226291" y="75430"/>
                </a:lnTo>
                <a:close/>
                <a:moveTo>
                  <a:pt x="377152" y="37715"/>
                </a:moveTo>
                <a:lnTo>
                  <a:pt x="490297" y="37715"/>
                </a:lnTo>
                <a:lnTo>
                  <a:pt x="490297" y="75430"/>
                </a:lnTo>
                <a:lnTo>
                  <a:pt x="377152" y="75430"/>
                </a:lnTo>
                <a:close/>
                <a:moveTo>
                  <a:pt x="565727" y="37715"/>
                </a:moveTo>
                <a:lnTo>
                  <a:pt x="603442" y="37715"/>
                </a:lnTo>
                <a:lnTo>
                  <a:pt x="603442" y="75430"/>
                </a:lnTo>
                <a:lnTo>
                  <a:pt x="565727" y="75430"/>
                </a:lnTo>
                <a:close/>
                <a:moveTo>
                  <a:pt x="678873" y="37715"/>
                </a:moveTo>
                <a:lnTo>
                  <a:pt x="716588" y="37715"/>
                </a:lnTo>
                <a:lnTo>
                  <a:pt x="716588" y="75430"/>
                </a:lnTo>
                <a:lnTo>
                  <a:pt x="678873" y="75430"/>
                </a:lnTo>
                <a:close/>
                <a:moveTo>
                  <a:pt x="754303" y="37715"/>
                </a:moveTo>
                <a:lnTo>
                  <a:pt x="829733" y="37715"/>
                </a:lnTo>
                <a:lnTo>
                  <a:pt x="829733" y="75430"/>
                </a:lnTo>
                <a:lnTo>
                  <a:pt x="754303" y="75430"/>
                </a:lnTo>
                <a:close/>
                <a:moveTo>
                  <a:pt x="980594" y="37715"/>
                </a:moveTo>
                <a:lnTo>
                  <a:pt x="1018309" y="37715"/>
                </a:lnTo>
                <a:lnTo>
                  <a:pt x="1018309" y="75430"/>
                </a:lnTo>
                <a:lnTo>
                  <a:pt x="980594" y="75430"/>
                </a:lnTo>
                <a:close/>
                <a:moveTo>
                  <a:pt x="1206885" y="37715"/>
                </a:moveTo>
                <a:lnTo>
                  <a:pt x="1244600" y="37715"/>
                </a:lnTo>
                <a:lnTo>
                  <a:pt x="1244600" y="75430"/>
                </a:lnTo>
                <a:lnTo>
                  <a:pt x="1206885" y="75430"/>
                </a:lnTo>
                <a:close/>
                <a:moveTo>
                  <a:pt x="0" y="75430"/>
                </a:moveTo>
                <a:lnTo>
                  <a:pt x="37715" y="75430"/>
                </a:lnTo>
                <a:lnTo>
                  <a:pt x="37715" y="113145"/>
                </a:lnTo>
                <a:lnTo>
                  <a:pt x="0" y="113145"/>
                </a:lnTo>
                <a:close/>
                <a:moveTo>
                  <a:pt x="75430" y="75430"/>
                </a:moveTo>
                <a:lnTo>
                  <a:pt x="188576" y="75430"/>
                </a:lnTo>
                <a:lnTo>
                  <a:pt x="188576" y="113145"/>
                </a:lnTo>
                <a:lnTo>
                  <a:pt x="75430" y="113145"/>
                </a:lnTo>
                <a:close/>
                <a:moveTo>
                  <a:pt x="226291" y="75430"/>
                </a:moveTo>
                <a:lnTo>
                  <a:pt x="264006" y="75430"/>
                </a:lnTo>
                <a:lnTo>
                  <a:pt x="264006" y="113145"/>
                </a:lnTo>
                <a:lnTo>
                  <a:pt x="226291" y="113145"/>
                </a:lnTo>
                <a:close/>
                <a:moveTo>
                  <a:pt x="301721" y="75430"/>
                </a:moveTo>
                <a:lnTo>
                  <a:pt x="490297" y="75430"/>
                </a:lnTo>
                <a:lnTo>
                  <a:pt x="490297" y="113145"/>
                </a:lnTo>
                <a:lnTo>
                  <a:pt x="301721" y="113145"/>
                </a:lnTo>
                <a:close/>
                <a:moveTo>
                  <a:pt x="528012" y="75430"/>
                </a:moveTo>
                <a:lnTo>
                  <a:pt x="641158" y="75430"/>
                </a:lnTo>
                <a:lnTo>
                  <a:pt x="641158" y="113145"/>
                </a:lnTo>
                <a:lnTo>
                  <a:pt x="528012" y="113145"/>
                </a:lnTo>
                <a:close/>
                <a:moveTo>
                  <a:pt x="754303" y="75430"/>
                </a:moveTo>
                <a:lnTo>
                  <a:pt x="867448" y="75430"/>
                </a:lnTo>
                <a:lnTo>
                  <a:pt x="867448" y="113145"/>
                </a:lnTo>
                <a:lnTo>
                  <a:pt x="754303" y="113145"/>
                </a:lnTo>
                <a:close/>
                <a:moveTo>
                  <a:pt x="905164" y="75430"/>
                </a:moveTo>
                <a:lnTo>
                  <a:pt x="942879" y="75430"/>
                </a:lnTo>
                <a:lnTo>
                  <a:pt x="942879" y="113145"/>
                </a:lnTo>
                <a:lnTo>
                  <a:pt x="905164" y="113145"/>
                </a:lnTo>
                <a:close/>
                <a:moveTo>
                  <a:pt x="980594" y="75430"/>
                </a:moveTo>
                <a:lnTo>
                  <a:pt x="1018309" y="75430"/>
                </a:lnTo>
                <a:lnTo>
                  <a:pt x="1018309" y="113145"/>
                </a:lnTo>
                <a:lnTo>
                  <a:pt x="980594" y="113145"/>
                </a:lnTo>
                <a:close/>
                <a:moveTo>
                  <a:pt x="1056024" y="75430"/>
                </a:moveTo>
                <a:lnTo>
                  <a:pt x="1169170" y="75430"/>
                </a:lnTo>
                <a:lnTo>
                  <a:pt x="1169170" y="113145"/>
                </a:lnTo>
                <a:lnTo>
                  <a:pt x="1056024" y="113145"/>
                </a:lnTo>
                <a:close/>
                <a:moveTo>
                  <a:pt x="1206885" y="75430"/>
                </a:moveTo>
                <a:lnTo>
                  <a:pt x="1244600" y="75430"/>
                </a:lnTo>
                <a:lnTo>
                  <a:pt x="1244600" y="113145"/>
                </a:lnTo>
                <a:lnTo>
                  <a:pt x="1206885" y="113145"/>
                </a:lnTo>
                <a:close/>
                <a:moveTo>
                  <a:pt x="0" y="113145"/>
                </a:moveTo>
                <a:lnTo>
                  <a:pt x="37715" y="113145"/>
                </a:lnTo>
                <a:lnTo>
                  <a:pt x="37715" y="150861"/>
                </a:lnTo>
                <a:lnTo>
                  <a:pt x="0" y="150861"/>
                </a:lnTo>
                <a:close/>
                <a:moveTo>
                  <a:pt x="75430" y="113145"/>
                </a:moveTo>
                <a:lnTo>
                  <a:pt x="188576" y="113145"/>
                </a:lnTo>
                <a:lnTo>
                  <a:pt x="188576" y="150861"/>
                </a:lnTo>
                <a:lnTo>
                  <a:pt x="75430" y="150861"/>
                </a:lnTo>
                <a:close/>
                <a:moveTo>
                  <a:pt x="226291" y="113145"/>
                </a:moveTo>
                <a:lnTo>
                  <a:pt x="264006" y="113145"/>
                </a:lnTo>
                <a:lnTo>
                  <a:pt x="264006" y="150861"/>
                </a:lnTo>
                <a:lnTo>
                  <a:pt x="226291" y="150861"/>
                </a:lnTo>
                <a:close/>
                <a:moveTo>
                  <a:pt x="301721" y="113145"/>
                </a:moveTo>
                <a:lnTo>
                  <a:pt x="339436" y="113145"/>
                </a:lnTo>
                <a:lnTo>
                  <a:pt x="339436" y="150861"/>
                </a:lnTo>
                <a:lnTo>
                  <a:pt x="301721" y="150861"/>
                </a:lnTo>
                <a:close/>
                <a:moveTo>
                  <a:pt x="377152" y="113145"/>
                </a:moveTo>
                <a:lnTo>
                  <a:pt x="414867" y="113145"/>
                </a:lnTo>
                <a:lnTo>
                  <a:pt x="414867" y="150861"/>
                </a:lnTo>
                <a:lnTo>
                  <a:pt x="377152" y="150861"/>
                </a:lnTo>
                <a:close/>
                <a:moveTo>
                  <a:pt x="452582" y="113145"/>
                </a:moveTo>
                <a:lnTo>
                  <a:pt x="490297" y="113145"/>
                </a:lnTo>
                <a:lnTo>
                  <a:pt x="490297" y="150861"/>
                </a:lnTo>
                <a:lnTo>
                  <a:pt x="452582" y="150861"/>
                </a:lnTo>
                <a:close/>
                <a:moveTo>
                  <a:pt x="565727" y="113145"/>
                </a:moveTo>
                <a:lnTo>
                  <a:pt x="603442" y="113145"/>
                </a:lnTo>
                <a:lnTo>
                  <a:pt x="603442" y="150861"/>
                </a:lnTo>
                <a:lnTo>
                  <a:pt x="565727" y="150861"/>
                </a:lnTo>
                <a:close/>
                <a:moveTo>
                  <a:pt x="641158" y="113145"/>
                </a:moveTo>
                <a:lnTo>
                  <a:pt x="792018" y="113145"/>
                </a:lnTo>
                <a:lnTo>
                  <a:pt x="792018" y="150861"/>
                </a:lnTo>
                <a:lnTo>
                  <a:pt x="641158" y="150861"/>
                </a:lnTo>
                <a:close/>
                <a:moveTo>
                  <a:pt x="829733" y="113145"/>
                </a:moveTo>
                <a:lnTo>
                  <a:pt x="942879" y="113145"/>
                </a:lnTo>
                <a:lnTo>
                  <a:pt x="942879" y="150861"/>
                </a:lnTo>
                <a:lnTo>
                  <a:pt x="829733" y="150861"/>
                </a:lnTo>
                <a:close/>
                <a:moveTo>
                  <a:pt x="980594" y="113145"/>
                </a:moveTo>
                <a:lnTo>
                  <a:pt x="1018309" y="113145"/>
                </a:lnTo>
                <a:lnTo>
                  <a:pt x="1018309" y="150861"/>
                </a:lnTo>
                <a:lnTo>
                  <a:pt x="980594" y="150861"/>
                </a:lnTo>
                <a:close/>
                <a:moveTo>
                  <a:pt x="1056024" y="113145"/>
                </a:moveTo>
                <a:lnTo>
                  <a:pt x="1169170" y="113145"/>
                </a:lnTo>
                <a:lnTo>
                  <a:pt x="1169170" y="150861"/>
                </a:lnTo>
                <a:lnTo>
                  <a:pt x="1056024" y="150861"/>
                </a:lnTo>
                <a:close/>
                <a:moveTo>
                  <a:pt x="1206885" y="113145"/>
                </a:moveTo>
                <a:lnTo>
                  <a:pt x="1244600" y="113145"/>
                </a:lnTo>
                <a:lnTo>
                  <a:pt x="1244600" y="150861"/>
                </a:lnTo>
                <a:lnTo>
                  <a:pt x="1206885" y="150861"/>
                </a:lnTo>
                <a:close/>
                <a:moveTo>
                  <a:pt x="0" y="150861"/>
                </a:moveTo>
                <a:lnTo>
                  <a:pt x="37715" y="150861"/>
                </a:lnTo>
                <a:lnTo>
                  <a:pt x="37715" y="188576"/>
                </a:lnTo>
                <a:lnTo>
                  <a:pt x="0" y="188576"/>
                </a:lnTo>
                <a:close/>
                <a:moveTo>
                  <a:pt x="75430" y="150861"/>
                </a:moveTo>
                <a:lnTo>
                  <a:pt x="188576" y="150861"/>
                </a:lnTo>
                <a:lnTo>
                  <a:pt x="188576" y="188576"/>
                </a:lnTo>
                <a:lnTo>
                  <a:pt x="75430" y="188576"/>
                </a:lnTo>
                <a:close/>
                <a:moveTo>
                  <a:pt x="226291" y="150861"/>
                </a:moveTo>
                <a:lnTo>
                  <a:pt x="264006" y="150861"/>
                </a:lnTo>
                <a:lnTo>
                  <a:pt x="264006" y="188576"/>
                </a:lnTo>
                <a:lnTo>
                  <a:pt x="226291" y="188576"/>
                </a:lnTo>
                <a:close/>
                <a:moveTo>
                  <a:pt x="301721" y="150861"/>
                </a:moveTo>
                <a:lnTo>
                  <a:pt x="377152" y="150861"/>
                </a:lnTo>
                <a:lnTo>
                  <a:pt x="377152" y="188576"/>
                </a:lnTo>
                <a:lnTo>
                  <a:pt x="301721" y="188576"/>
                </a:lnTo>
                <a:close/>
                <a:moveTo>
                  <a:pt x="490297" y="150861"/>
                </a:moveTo>
                <a:lnTo>
                  <a:pt x="792018" y="150861"/>
                </a:lnTo>
                <a:lnTo>
                  <a:pt x="792018" y="188576"/>
                </a:lnTo>
                <a:lnTo>
                  <a:pt x="490297" y="188576"/>
                </a:lnTo>
                <a:close/>
                <a:moveTo>
                  <a:pt x="867448" y="150861"/>
                </a:moveTo>
                <a:lnTo>
                  <a:pt x="905164" y="150861"/>
                </a:lnTo>
                <a:lnTo>
                  <a:pt x="905164" y="188576"/>
                </a:lnTo>
                <a:lnTo>
                  <a:pt x="867448" y="188576"/>
                </a:lnTo>
                <a:close/>
                <a:moveTo>
                  <a:pt x="980594" y="150861"/>
                </a:moveTo>
                <a:lnTo>
                  <a:pt x="1018309" y="150861"/>
                </a:lnTo>
                <a:lnTo>
                  <a:pt x="1018309" y="188576"/>
                </a:lnTo>
                <a:lnTo>
                  <a:pt x="980594" y="188576"/>
                </a:lnTo>
                <a:close/>
                <a:moveTo>
                  <a:pt x="1056024" y="150861"/>
                </a:moveTo>
                <a:lnTo>
                  <a:pt x="1169170" y="150861"/>
                </a:lnTo>
                <a:lnTo>
                  <a:pt x="1169170" y="188576"/>
                </a:lnTo>
                <a:lnTo>
                  <a:pt x="1056024" y="188576"/>
                </a:lnTo>
                <a:close/>
                <a:moveTo>
                  <a:pt x="1206885" y="150861"/>
                </a:moveTo>
                <a:lnTo>
                  <a:pt x="1244600" y="150861"/>
                </a:lnTo>
                <a:lnTo>
                  <a:pt x="1244600" y="188576"/>
                </a:lnTo>
                <a:lnTo>
                  <a:pt x="1206885" y="188576"/>
                </a:lnTo>
                <a:close/>
                <a:moveTo>
                  <a:pt x="0" y="188576"/>
                </a:moveTo>
                <a:lnTo>
                  <a:pt x="37715" y="188576"/>
                </a:lnTo>
                <a:lnTo>
                  <a:pt x="37715" y="226291"/>
                </a:lnTo>
                <a:lnTo>
                  <a:pt x="0" y="226291"/>
                </a:lnTo>
                <a:close/>
                <a:moveTo>
                  <a:pt x="226291" y="188576"/>
                </a:moveTo>
                <a:lnTo>
                  <a:pt x="264006" y="188576"/>
                </a:lnTo>
                <a:lnTo>
                  <a:pt x="264006" y="226291"/>
                </a:lnTo>
                <a:lnTo>
                  <a:pt x="226291" y="226291"/>
                </a:lnTo>
                <a:close/>
                <a:moveTo>
                  <a:pt x="301721" y="188576"/>
                </a:moveTo>
                <a:lnTo>
                  <a:pt x="414867" y="188576"/>
                </a:lnTo>
                <a:lnTo>
                  <a:pt x="414867" y="226291"/>
                </a:lnTo>
                <a:lnTo>
                  <a:pt x="301721" y="226291"/>
                </a:lnTo>
                <a:close/>
                <a:moveTo>
                  <a:pt x="829733" y="188576"/>
                </a:moveTo>
                <a:lnTo>
                  <a:pt x="867448" y="188576"/>
                </a:lnTo>
                <a:lnTo>
                  <a:pt x="867448" y="226291"/>
                </a:lnTo>
                <a:lnTo>
                  <a:pt x="829733" y="226291"/>
                </a:lnTo>
                <a:close/>
                <a:moveTo>
                  <a:pt x="980594" y="188576"/>
                </a:moveTo>
                <a:lnTo>
                  <a:pt x="1018309" y="188576"/>
                </a:lnTo>
                <a:lnTo>
                  <a:pt x="1018309" y="226291"/>
                </a:lnTo>
                <a:lnTo>
                  <a:pt x="980594" y="226291"/>
                </a:lnTo>
                <a:close/>
                <a:moveTo>
                  <a:pt x="1206885" y="188576"/>
                </a:moveTo>
                <a:lnTo>
                  <a:pt x="1244600" y="188576"/>
                </a:lnTo>
                <a:lnTo>
                  <a:pt x="1244600" y="226291"/>
                </a:lnTo>
                <a:lnTo>
                  <a:pt x="1206885" y="226291"/>
                </a:lnTo>
                <a:close/>
                <a:moveTo>
                  <a:pt x="0" y="226291"/>
                </a:moveTo>
                <a:lnTo>
                  <a:pt x="264006" y="226291"/>
                </a:lnTo>
                <a:lnTo>
                  <a:pt x="264006" y="264006"/>
                </a:lnTo>
                <a:lnTo>
                  <a:pt x="0" y="264006"/>
                </a:lnTo>
                <a:close/>
                <a:moveTo>
                  <a:pt x="301721" y="226291"/>
                </a:moveTo>
                <a:lnTo>
                  <a:pt x="339436" y="226291"/>
                </a:lnTo>
                <a:lnTo>
                  <a:pt x="339436" y="264006"/>
                </a:lnTo>
                <a:lnTo>
                  <a:pt x="301721" y="264006"/>
                </a:lnTo>
                <a:close/>
                <a:moveTo>
                  <a:pt x="377152" y="226291"/>
                </a:moveTo>
                <a:lnTo>
                  <a:pt x="414867" y="226291"/>
                </a:lnTo>
                <a:lnTo>
                  <a:pt x="414867" y="264006"/>
                </a:lnTo>
                <a:lnTo>
                  <a:pt x="377152" y="264006"/>
                </a:lnTo>
                <a:close/>
                <a:moveTo>
                  <a:pt x="452582" y="226291"/>
                </a:moveTo>
                <a:lnTo>
                  <a:pt x="490297" y="226291"/>
                </a:lnTo>
                <a:lnTo>
                  <a:pt x="490297" y="264006"/>
                </a:lnTo>
                <a:lnTo>
                  <a:pt x="452582" y="264006"/>
                </a:lnTo>
                <a:close/>
                <a:moveTo>
                  <a:pt x="528012" y="226291"/>
                </a:moveTo>
                <a:lnTo>
                  <a:pt x="565727" y="226291"/>
                </a:lnTo>
                <a:lnTo>
                  <a:pt x="565727" y="264006"/>
                </a:lnTo>
                <a:lnTo>
                  <a:pt x="528012" y="264006"/>
                </a:lnTo>
                <a:close/>
                <a:moveTo>
                  <a:pt x="603442" y="226291"/>
                </a:moveTo>
                <a:lnTo>
                  <a:pt x="641158" y="226291"/>
                </a:lnTo>
                <a:lnTo>
                  <a:pt x="641158" y="264006"/>
                </a:lnTo>
                <a:lnTo>
                  <a:pt x="603442" y="264006"/>
                </a:lnTo>
                <a:close/>
                <a:moveTo>
                  <a:pt x="678873" y="226291"/>
                </a:moveTo>
                <a:lnTo>
                  <a:pt x="716588" y="226291"/>
                </a:lnTo>
                <a:lnTo>
                  <a:pt x="716588" y="264006"/>
                </a:lnTo>
                <a:lnTo>
                  <a:pt x="678873" y="264006"/>
                </a:lnTo>
                <a:close/>
                <a:moveTo>
                  <a:pt x="754303" y="226291"/>
                </a:moveTo>
                <a:lnTo>
                  <a:pt x="792018" y="226291"/>
                </a:lnTo>
                <a:lnTo>
                  <a:pt x="792018" y="264006"/>
                </a:lnTo>
                <a:lnTo>
                  <a:pt x="754303" y="264006"/>
                </a:lnTo>
                <a:close/>
                <a:moveTo>
                  <a:pt x="829733" y="226291"/>
                </a:moveTo>
                <a:lnTo>
                  <a:pt x="867448" y="226291"/>
                </a:lnTo>
                <a:lnTo>
                  <a:pt x="867448" y="264006"/>
                </a:lnTo>
                <a:lnTo>
                  <a:pt x="829733" y="264006"/>
                </a:lnTo>
                <a:close/>
                <a:moveTo>
                  <a:pt x="905164" y="226291"/>
                </a:moveTo>
                <a:lnTo>
                  <a:pt x="942879" y="226291"/>
                </a:lnTo>
                <a:lnTo>
                  <a:pt x="942879" y="264006"/>
                </a:lnTo>
                <a:lnTo>
                  <a:pt x="905164" y="264006"/>
                </a:lnTo>
                <a:close/>
                <a:moveTo>
                  <a:pt x="980594" y="226291"/>
                </a:moveTo>
                <a:lnTo>
                  <a:pt x="1244600" y="226291"/>
                </a:lnTo>
                <a:lnTo>
                  <a:pt x="1244600" y="264006"/>
                </a:lnTo>
                <a:lnTo>
                  <a:pt x="980594" y="264006"/>
                </a:lnTo>
                <a:close/>
                <a:moveTo>
                  <a:pt x="301721" y="264006"/>
                </a:moveTo>
                <a:lnTo>
                  <a:pt x="377152" y="264006"/>
                </a:lnTo>
                <a:lnTo>
                  <a:pt x="377152" y="301721"/>
                </a:lnTo>
                <a:lnTo>
                  <a:pt x="301721" y="301721"/>
                </a:lnTo>
                <a:close/>
                <a:moveTo>
                  <a:pt x="414867" y="264006"/>
                </a:moveTo>
                <a:lnTo>
                  <a:pt x="490297" y="264006"/>
                </a:lnTo>
                <a:lnTo>
                  <a:pt x="490297" y="301721"/>
                </a:lnTo>
                <a:lnTo>
                  <a:pt x="414867" y="301721"/>
                </a:lnTo>
                <a:close/>
                <a:moveTo>
                  <a:pt x="603442" y="264006"/>
                </a:moveTo>
                <a:lnTo>
                  <a:pt x="641158" y="264006"/>
                </a:lnTo>
                <a:lnTo>
                  <a:pt x="641158" y="301721"/>
                </a:lnTo>
                <a:lnTo>
                  <a:pt x="603442" y="301721"/>
                </a:lnTo>
                <a:close/>
                <a:moveTo>
                  <a:pt x="678873" y="264006"/>
                </a:moveTo>
                <a:lnTo>
                  <a:pt x="716588" y="264006"/>
                </a:lnTo>
                <a:lnTo>
                  <a:pt x="716588" y="301721"/>
                </a:lnTo>
                <a:lnTo>
                  <a:pt x="678873" y="301721"/>
                </a:lnTo>
                <a:close/>
                <a:moveTo>
                  <a:pt x="754303" y="264006"/>
                </a:moveTo>
                <a:lnTo>
                  <a:pt x="829733" y="264006"/>
                </a:lnTo>
                <a:lnTo>
                  <a:pt x="829733" y="301721"/>
                </a:lnTo>
                <a:lnTo>
                  <a:pt x="754303" y="301721"/>
                </a:lnTo>
                <a:close/>
                <a:moveTo>
                  <a:pt x="0" y="301721"/>
                </a:moveTo>
                <a:lnTo>
                  <a:pt x="37715" y="301721"/>
                </a:lnTo>
                <a:lnTo>
                  <a:pt x="37715" y="339436"/>
                </a:lnTo>
                <a:lnTo>
                  <a:pt x="0" y="339436"/>
                </a:lnTo>
                <a:close/>
                <a:moveTo>
                  <a:pt x="75430" y="301721"/>
                </a:moveTo>
                <a:lnTo>
                  <a:pt x="264006" y="301721"/>
                </a:lnTo>
                <a:lnTo>
                  <a:pt x="264006" y="339436"/>
                </a:lnTo>
                <a:lnTo>
                  <a:pt x="75430" y="339436"/>
                </a:lnTo>
                <a:close/>
                <a:moveTo>
                  <a:pt x="377152" y="301721"/>
                </a:moveTo>
                <a:lnTo>
                  <a:pt x="414867" y="301721"/>
                </a:lnTo>
                <a:lnTo>
                  <a:pt x="414867" y="339436"/>
                </a:lnTo>
                <a:lnTo>
                  <a:pt x="377152" y="339436"/>
                </a:lnTo>
                <a:close/>
                <a:moveTo>
                  <a:pt x="452582" y="301721"/>
                </a:moveTo>
                <a:lnTo>
                  <a:pt x="565727" y="301721"/>
                </a:lnTo>
                <a:lnTo>
                  <a:pt x="565727" y="339436"/>
                </a:lnTo>
                <a:lnTo>
                  <a:pt x="452582" y="339436"/>
                </a:lnTo>
                <a:close/>
                <a:moveTo>
                  <a:pt x="603442" y="301721"/>
                </a:moveTo>
                <a:lnTo>
                  <a:pt x="678873" y="301721"/>
                </a:lnTo>
                <a:lnTo>
                  <a:pt x="678873" y="339436"/>
                </a:lnTo>
                <a:lnTo>
                  <a:pt x="603442" y="339436"/>
                </a:lnTo>
                <a:close/>
                <a:moveTo>
                  <a:pt x="867448" y="301721"/>
                </a:moveTo>
                <a:lnTo>
                  <a:pt x="942879" y="301721"/>
                </a:lnTo>
                <a:lnTo>
                  <a:pt x="942879" y="339436"/>
                </a:lnTo>
                <a:lnTo>
                  <a:pt x="867448" y="339436"/>
                </a:lnTo>
                <a:close/>
                <a:moveTo>
                  <a:pt x="980594" y="301721"/>
                </a:moveTo>
                <a:lnTo>
                  <a:pt x="1169170" y="301721"/>
                </a:lnTo>
                <a:lnTo>
                  <a:pt x="1169170" y="339436"/>
                </a:lnTo>
                <a:lnTo>
                  <a:pt x="980594" y="339436"/>
                </a:lnTo>
                <a:close/>
                <a:moveTo>
                  <a:pt x="37715" y="339436"/>
                </a:moveTo>
                <a:lnTo>
                  <a:pt x="75430" y="339436"/>
                </a:lnTo>
                <a:lnTo>
                  <a:pt x="75430" y="377152"/>
                </a:lnTo>
                <a:lnTo>
                  <a:pt x="37715" y="377152"/>
                </a:lnTo>
                <a:close/>
                <a:moveTo>
                  <a:pt x="113145" y="339436"/>
                </a:moveTo>
                <a:lnTo>
                  <a:pt x="226291" y="339436"/>
                </a:lnTo>
                <a:lnTo>
                  <a:pt x="226291" y="377152"/>
                </a:lnTo>
                <a:lnTo>
                  <a:pt x="113145" y="377152"/>
                </a:lnTo>
                <a:close/>
                <a:moveTo>
                  <a:pt x="264006" y="339436"/>
                </a:moveTo>
                <a:lnTo>
                  <a:pt x="301721" y="339436"/>
                </a:lnTo>
                <a:lnTo>
                  <a:pt x="301721" y="377152"/>
                </a:lnTo>
                <a:lnTo>
                  <a:pt x="264006" y="377152"/>
                </a:lnTo>
                <a:close/>
                <a:moveTo>
                  <a:pt x="339436" y="339436"/>
                </a:moveTo>
                <a:lnTo>
                  <a:pt x="377152" y="339436"/>
                </a:lnTo>
                <a:lnTo>
                  <a:pt x="377152" y="377152"/>
                </a:lnTo>
                <a:lnTo>
                  <a:pt x="339436" y="377152"/>
                </a:lnTo>
                <a:close/>
                <a:moveTo>
                  <a:pt x="452582" y="339436"/>
                </a:moveTo>
                <a:lnTo>
                  <a:pt x="565727" y="339436"/>
                </a:lnTo>
                <a:lnTo>
                  <a:pt x="565727" y="377152"/>
                </a:lnTo>
                <a:lnTo>
                  <a:pt x="452582" y="377152"/>
                </a:lnTo>
                <a:close/>
                <a:moveTo>
                  <a:pt x="603442" y="339436"/>
                </a:moveTo>
                <a:lnTo>
                  <a:pt x="754303" y="339436"/>
                </a:lnTo>
                <a:lnTo>
                  <a:pt x="754303" y="377152"/>
                </a:lnTo>
                <a:lnTo>
                  <a:pt x="603442" y="377152"/>
                </a:lnTo>
                <a:close/>
                <a:moveTo>
                  <a:pt x="829733" y="339436"/>
                </a:moveTo>
                <a:lnTo>
                  <a:pt x="905164" y="339436"/>
                </a:lnTo>
                <a:lnTo>
                  <a:pt x="905164" y="377152"/>
                </a:lnTo>
                <a:lnTo>
                  <a:pt x="829733" y="377152"/>
                </a:lnTo>
                <a:close/>
                <a:moveTo>
                  <a:pt x="980594" y="339436"/>
                </a:moveTo>
                <a:lnTo>
                  <a:pt x="1056024" y="339436"/>
                </a:lnTo>
                <a:lnTo>
                  <a:pt x="1056024" y="377152"/>
                </a:lnTo>
                <a:lnTo>
                  <a:pt x="980594" y="377152"/>
                </a:lnTo>
                <a:close/>
                <a:moveTo>
                  <a:pt x="1093739" y="339436"/>
                </a:moveTo>
                <a:lnTo>
                  <a:pt x="1169170" y="339436"/>
                </a:lnTo>
                <a:lnTo>
                  <a:pt x="1169170" y="377152"/>
                </a:lnTo>
                <a:lnTo>
                  <a:pt x="1093739" y="377152"/>
                </a:lnTo>
                <a:close/>
                <a:moveTo>
                  <a:pt x="1206885" y="339436"/>
                </a:moveTo>
                <a:lnTo>
                  <a:pt x="1244600" y="339436"/>
                </a:lnTo>
                <a:lnTo>
                  <a:pt x="1244600" y="377152"/>
                </a:lnTo>
                <a:lnTo>
                  <a:pt x="1206885" y="377152"/>
                </a:lnTo>
                <a:close/>
                <a:moveTo>
                  <a:pt x="150861" y="377152"/>
                </a:moveTo>
                <a:lnTo>
                  <a:pt x="264006" y="377152"/>
                </a:lnTo>
                <a:lnTo>
                  <a:pt x="264006" y="414867"/>
                </a:lnTo>
                <a:lnTo>
                  <a:pt x="150861" y="414867"/>
                </a:lnTo>
                <a:close/>
                <a:moveTo>
                  <a:pt x="339436" y="377152"/>
                </a:moveTo>
                <a:lnTo>
                  <a:pt x="377152" y="377152"/>
                </a:lnTo>
                <a:lnTo>
                  <a:pt x="377152" y="414867"/>
                </a:lnTo>
                <a:lnTo>
                  <a:pt x="339436" y="414867"/>
                </a:lnTo>
                <a:close/>
                <a:moveTo>
                  <a:pt x="452582" y="377152"/>
                </a:moveTo>
                <a:lnTo>
                  <a:pt x="678873" y="377152"/>
                </a:lnTo>
                <a:lnTo>
                  <a:pt x="678873" y="414867"/>
                </a:lnTo>
                <a:lnTo>
                  <a:pt x="452582" y="414867"/>
                </a:lnTo>
                <a:close/>
                <a:moveTo>
                  <a:pt x="754303" y="377152"/>
                </a:moveTo>
                <a:lnTo>
                  <a:pt x="829733" y="377152"/>
                </a:lnTo>
                <a:lnTo>
                  <a:pt x="829733" y="414867"/>
                </a:lnTo>
                <a:lnTo>
                  <a:pt x="754303" y="414867"/>
                </a:lnTo>
                <a:close/>
                <a:moveTo>
                  <a:pt x="942879" y="377152"/>
                </a:moveTo>
                <a:lnTo>
                  <a:pt x="1018309" y="377152"/>
                </a:lnTo>
                <a:lnTo>
                  <a:pt x="1018309" y="414867"/>
                </a:lnTo>
                <a:lnTo>
                  <a:pt x="942879" y="414867"/>
                </a:lnTo>
                <a:close/>
                <a:moveTo>
                  <a:pt x="1056024" y="377152"/>
                </a:moveTo>
                <a:lnTo>
                  <a:pt x="1093739" y="377152"/>
                </a:lnTo>
                <a:lnTo>
                  <a:pt x="1093739" y="414867"/>
                </a:lnTo>
                <a:lnTo>
                  <a:pt x="1056024" y="414867"/>
                </a:lnTo>
                <a:close/>
                <a:moveTo>
                  <a:pt x="1131455" y="377152"/>
                </a:moveTo>
                <a:lnTo>
                  <a:pt x="1206885" y="377152"/>
                </a:lnTo>
                <a:lnTo>
                  <a:pt x="1206885" y="414867"/>
                </a:lnTo>
                <a:lnTo>
                  <a:pt x="1131455" y="414867"/>
                </a:lnTo>
                <a:close/>
                <a:moveTo>
                  <a:pt x="75430" y="414867"/>
                </a:moveTo>
                <a:lnTo>
                  <a:pt x="188576" y="414867"/>
                </a:lnTo>
                <a:lnTo>
                  <a:pt x="188576" y="452582"/>
                </a:lnTo>
                <a:lnTo>
                  <a:pt x="75430" y="452582"/>
                </a:lnTo>
                <a:close/>
                <a:moveTo>
                  <a:pt x="452582" y="414867"/>
                </a:moveTo>
                <a:lnTo>
                  <a:pt x="528012" y="414867"/>
                </a:lnTo>
                <a:lnTo>
                  <a:pt x="528012" y="452582"/>
                </a:lnTo>
                <a:lnTo>
                  <a:pt x="452582" y="452582"/>
                </a:lnTo>
                <a:close/>
                <a:moveTo>
                  <a:pt x="565727" y="414867"/>
                </a:moveTo>
                <a:lnTo>
                  <a:pt x="603442" y="414867"/>
                </a:lnTo>
                <a:lnTo>
                  <a:pt x="603442" y="452582"/>
                </a:lnTo>
                <a:lnTo>
                  <a:pt x="565727" y="452582"/>
                </a:lnTo>
                <a:close/>
                <a:moveTo>
                  <a:pt x="754303" y="414867"/>
                </a:moveTo>
                <a:lnTo>
                  <a:pt x="867448" y="414867"/>
                </a:lnTo>
                <a:lnTo>
                  <a:pt x="867448" y="452582"/>
                </a:lnTo>
                <a:lnTo>
                  <a:pt x="754303" y="452582"/>
                </a:lnTo>
                <a:close/>
                <a:moveTo>
                  <a:pt x="980594" y="414867"/>
                </a:moveTo>
                <a:lnTo>
                  <a:pt x="1018309" y="414867"/>
                </a:lnTo>
                <a:lnTo>
                  <a:pt x="1018309" y="452582"/>
                </a:lnTo>
                <a:lnTo>
                  <a:pt x="980594" y="452582"/>
                </a:lnTo>
                <a:close/>
                <a:moveTo>
                  <a:pt x="1056024" y="414867"/>
                </a:moveTo>
                <a:lnTo>
                  <a:pt x="1169170" y="414867"/>
                </a:lnTo>
                <a:lnTo>
                  <a:pt x="1169170" y="452582"/>
                </a:lnTo>
                <a:lnTo>
                  <a:pt x="1056024" y="452582"/>
                </a:lnTo>
                <a:close/>
                <a:moveTo>
                  <a:pt x="1206885" y="414867"/>
                </a:moveTo>
                <a:lnTo>
                  <a:pt x="1244600" y="414867"/>
                </a:lnTo>
                <a:lnTo>
                  <a:pt x="1244600" y="452582"/>
                </a:lnTo>
                <a:lnTo>
                  <a:pt x="1206885" y="452582"/>
                </a:lnTo>
                <a:close/>
                <a:moveTo>
                  <a:pt x="37715" y="452582"/>
                </a:moveTo>
                <a:lnTo>
                  <a:pt x="113145" y="452582"/>
                </a:lnTo>
                <a:lnTo>
                  <a:pt x="113145" y="490297"/>
                </a:lnTo>
                <a:lnTo>
                  <a:pt x="37715" y="490297"/>
                </a:lnTo>
                <a:close/>
                <a:moveTo>
                  <a:pt x="188576" y="452582"/>
                </a:moveTo>
                <a:lnTo>
                  <a:pt x="264006" y="452582"/>
                </a:lnTo>
                <a:lnTo>
                  <a:pt x="264006" y="490297"/>
                </a:lnTo>
                <a:lnTo>
                  <a:pt x="188576" y="490297"/>
                </a:lnTo>
                <a:close/>
                <a:moveTo>
                  <a:pt x="301721" y="452582"/>
                </a:moveTo>
                <a:lnTo>
                  <a:pt x="339436" y="452582"/>
                </a:lnTo>
                <a:lnTo>
                  <a:pt x="339436" y="490297"/>
                </a:lnTo>
                <a:lnTo>
                  <a:pt x="301721" y="490297"/>
                </a:lnTo>
                <a:close/>
                <a:moveTo>
                  <a:pt x="377152" y="452582"/>
                </a:moveTo>
                <a:lnTo>
                  <a:pt x="452582" y="452582"/>
                </a:lnTo>
                <a:lnTo>
                  <a:pt x="452582" y="490297"/>
                </a:lnTo>
                <a:lnTo>
                  <a:pt x="377152" y="490297"/>
                </a:lnTo>
                <a:close/>
                <a:moveTo>
                  <a:pt x="528012" y="452582"/>
                </a:moveTo>
                <a:lnTo>
                  <a:pt x="565727" y="452582"/>
                </a:lnTo>
                <a:lnTo>
                  <a:pt x="565727" y="490297"/>
                </a:lnTo>
                <a:lnTo>
                  <a:pt x="528012" y="490297"/>
                </a:lnTo>
                <a:close/>
                <a:moveTo>
                  <a:pt x="603442" y="452582"/>
                </a:moveTo>
                <a:lnTo>
                  <a:pt x="641158" y="452582"/>
                </a:lnTo>
                <a:lnTo>
                  <a:pt x="641158" y="490297"/>
                </a:lnTo>
                <a:lnTo>
                  <a:pt x="603442" y="490297"/>
                </a:lnTo>
                <a:close/>
                <a:moveTo>
                  <a:pt x="678873" y="452582"/>
                </a:moveTo>
                <a:lnTo>
                  <a:pt x="716588" y="452582"/>
                </a:lnTo>
                <a:lnTo>
                  <a:pt x="716588" y="490297"/>
                </a:lnTo>
                <a:lnTo>
                  <a:pt x="678873" y="490297"/>
                </a:lnTo>
                <a:close/>
                <a:moveTo>
                  <a:pt x="754303" y="452582"/>
                </a:moveTo>
                <a:lnTo>
                  <a:pt x="792018" y="452582"/>
                </a:lnTo>
                <a:lnTo>
                  <a:pt x="792018" y="490297"/>
                </a:lnTo>
                <a:lnTo>
                  <a:pt x="754303" y="490297"/>
                </a:lnTo>
                <a:close/>
                <a:moveTo>
                  <a:pt x="867448" y="452582"/>
                </a:moveTo>
                <a:lnTo>
                  <a:pt x="980594" y="452582"/>
                </a:lnTo>
                <a:lnTo>
                  <a:pt x="980594" y="490297"/>
                </a:lnTo>
                <a:lnTo>
                  <a:pt x="867448" y="490297"/>
                </a:lnTo>
                <a:close/>
                <a:moveTo>
                  <a:pt x="1018309" y="452582"/>
                </a:moveTo>
                <a:lnTo>
                  <a:pt x="1131455" y="452582"/>
                </a:lnTo>
                <a:lnTo>
                  <a:pt x="1131455" y="490297"/>
                </a:lnTo>
                <a:lnTo>
                  <a:pt x="1018309" y="490297"/>
                </a:lnTo>
                <a:close/>
                <a:moveTo>
                  <a:pt x="1169170" y="452582"/>
                </a:moveTo>
                <a:lnTo>
                  <a:pt x="1244600" y="452582"/>
                </a:lnTo>
                <a:lnTo>
                  <a:pt x="1244600" y="490297"/>
                </a:lnTo>
                <a:lnTo>
                  <a:pt x="1169170" y="490297"/>
                </a:lnTo>
                <a:close/>
                <a:moveTo>
                  <a:pt x="0" y="490297"/>
                </a:moveTo>
                <a:lnTo>
                  <a:pt x="37715" y="490297"/>
                </a:lnTo>
                <a:lnTo>
                  <a:pt x="37715" y="528012"/>
                </a:lnTo>
                <a:lnTo>
                  <a:pt x="0" y="528012"/>
                </a:lnTo>
                <a:close/>
                <a:moveTo>
                  <a:pt x="113145" y="490297"/>
                </a:moveTo>
                <a:lnTo>
                  <a:pt x="226291" y="490297"/>
                </a:lnTo>
                <a:lnTo>
                  <a:pt x="226291" y="528012"/>
                </a:lnTo>
                <a:lnTo>
                  <a:pt x="113145" y="528012"/>
                </a:lnTo>
                <a:close/>
                <a:moveTo>
                  <a:pt x="301721" y="490297"/>
                </a:moveTo>
                <a:lnTo>
                  <a:pt x="377152" y="490297"/>
                </a:lnTo>
                <a:lnTo>
                  <a:pt x="377152" y="528012"/>
                </a:lnTo>
                <a:lnTo>
                  <a:pt x="301721" y="528012"/>
                </a:lnTo>
                <a:close/>
                <a:moveTo>
                  <a:pt x="452582" y="490297"/>
                </a:moveTo>
                <a:lnTo>
                  <a:pt x="528012" y="490297"/>
                </a:lnTo>
                <a:lnTo>
                  <a:pt x="528012" y="528012"/>
                </a:lnTo>
                <a:lnTo>
                  <a:pt x="452582" y="528012"/>
                </a:lnTo>
                <a:close/>
                <a:moveTo>
                  <a:pt x="565727" y="490297"/>
                </a:moveTo>
                <a:lnTo>
                  <a:pt x="603442" y="490297"/>
                </a:lnTo>
                <a:lnTo>
                  <a:pt x="603442" y="528012"/>
                </a:lnTo>
                <a:lnTo>
                  <a:pt x="565727" y="528012"/>
                </a:lnTo>
                <a:close/>
                <a:moveTo>
                  <a:pt x="678873" y="490297"/>
                </a:moveTo>
                <a:lnTo>
                  <a:pt x="829733" y="490297"/>
                </a:lnTo>
                <a:lnTo>
                  <a:pt x="829733" y="528012"/>
                </a:lnTo>
                <a:lnTo>
                  <a:pt x="678873" y="528012"/>
                </a:lnTo>
                <a:close/>
                <a:moveTo>
                  <a:pt x="867448" y="490297"/>
                </a:moveTo>
                <a:lnTo>
                  <a:pt x="942879" y="490297"/>
                </a:lnTo>
                <a:lnTo>
                  <a:pt x="942879" y="528012"/>
                </a:lnTo>
                <a:lnTo>
                  <a:pt x="867448" y="528012"/>
                </a:lnTo>
                <a:close/>
                <a:moveTo>
                  <a:pt x="980594" y="490297"/>
                </a:moveTo>
                <a:lnTo>
                  <a:pt x="1018309" y="490297"/>
                </a:lnTo>
                <a:lnTo>
                  <a:pt x="1018309" y="528012"/>
                </a:lnTo>
                <a:lnTo>
                  <a:pt x="980594" y="528012"/>
                </a:lnTo>
                <a:close/>
                <a:moveTo>
                  <a:pt x="1169170" y="490297"/>
                </a:moveTo>
                <a:lnTo>
                  <a:pt x="1244600" y="490297"/>
                </a:lnTo>
                <a:lnTo>
                  <a:pt x="1244600" y="528012"/>
                </a:lnTo>
                <a:lnTo>
                  <a:pt x="1169170" y="528012"/>
                </a:lnTo>
                <a:close/>
                <a:moveTo>
                  <a:pt x="0" y="528012"/>
                </a:moveTo>
                <a:lnTo>
                  <a:pt x="75430" y="528012"/>
                </a:lnTo>
                <a:lnTo>
                  <a:pt x="75430" y="565727"/>
                </a:lnTo>
                <a:lnTo>
                  <a:pt x="0" y="565727"/>
                </a:lnTo>
                <a:close/>
                <a:moveTo>
                  <a:pt x="226291" y="528012"/>
                </a:moveTo>
                <a:lnTo>
                  <a:pt x="339436" y="528012"/>
                </a:lnTo>
                <a:lnTo>
                  <a:pt x="339436" y="565727"/>
                </a:lnTo>
                <a:lnTo>
                  <a:pt x="226291" y="565727"/>
                </a:lnTo>
                <a:close/>
                <a:moveTo>
                  <a:pt x="452582" y="528012"/>
                </a:moveTo>
                <a:lnTo>
                  <a:pt x="490297" y="528012"/>
                </a:lnTo>
                <a:lnTo>
                  <a:pt x="490297" y="565727"/>
                </a:lnTo>
                <a:lnTo>
                  <a:pt x="452582" y="565727"/>
                </a:lnTo>
                <a:close/>
                <a:moveTo>
                  <a:pt x="565727" y="528012"/>
                </a:moveTo>
                <a:lnTo>
                  <a:pt x="678873" y="528012"/>
                </a:lnTo>
                <a:lnTo>
                  <a:pt x="678873" y="565727"/>
                </a:lnTo>
                <a:lnTo>
                  <a:pt x="565727" y="565727"/>
                </a:lnTo>
                <a:close/>
                <a:moveTo>
                  <a:pt x="754303" y="528012"/>
                </a:moveTo>
                <a:lnTo>
                  <a:pt x="829733" y="528012"/>
                </a:lnTo>
                <a:lnTo>
                  <a:pt x="829733" y="565727"/>
                </a:lnTo>
                <a:lnTo>
                  <a:pt x="754303" y="565727"/>
                </a:lnTo>
                <a:close/>
                <a:moveTo>
                  <a:pt x="942879" y="528012"/>
                </a:moveTo>
                <a:lnTo>
                  <a:pt x="1018309" y="528012"/>
                </a:lnTo>
                <a:lnTo>
                  <a:pt x="1018309" y="565727"/>
                </a:lnTo>
                <a:lnTo>
                  <a:pt x="942879" y="565727"/>
                </a:lnTo>
                <a:close/>
                <a:moveTo>
                  <a:pt x="1093739" y="528012"/>
                </a:moveTo>
                <a:lnTo>
                  <a:pt x="1206885" y="528012"/>
                </a:lnTo>
                <a:lnTo>
                  <a:pt x="1206885" y="565727"/>
                </a:lnTo>
                <a:lnTo>
                  <a:pt x="1093739" y="565727"/>
                </a:lnTo>
                <a:close/>
                <a:moveTo>
                  <a:pt x="37715" y="565727"/>
                </a:moveTo>
                <a:lnTo>
                  <a:pt x="75430" y="565727"/>
                </a:lnTo>
                <a:lnTo>
                  <a:pt x="75430" y="603442"/>
                </a:lnTo>
                <a:lnTo>
                  <a:pt x="37715" y="603442"/>
                </a:lnTo>
                <a:close/>
                <a:moveTo>
                  <a:pt x="301721" y="565727"/>
                </a:moveTo>
                <a:lnTo>
                  <a:pt x="339436" y="565727"/>
                </a:lnTo>
                <a:lnTo>
                  <a:pt x="339436" y="603442"/>
                </a:lnTo>
                <a:lnTo>
                  <a:pt x="301721" y="603442"/>
                </a:lnTo>
                <a:close/>
                <a:moveTo>
                  <a:pt x="377152" y="565727"/>
                </a:moveTo>
                <a:lnTo>
                  <a:pt x="414867" y="565727"/>
                </a:lnTo>
                <a:lnTo>
                  <a:pt x="414867" y="603442"/>
                </a:lnTo>
                <a:lnTo>
                  <a:pt x="377152" y="603442"/>
                </a:lnTo>
                <a:close/>
                <a:moveTo>
                  <a:pt x="452582" y="565727"/>
                </a:moveTo>
                <a:lnTo>
                  <a:pt x="603442" y="565727"/>
                </a:lnTo>
                <a:lnTo>
                  <a:pt x="603442" y="603442"/>
                </a:lnTo>
                <a:lnTo>
                  <a:pt x="452582" y="603442"/>
                </a:lnTo>
                <a:close/>
                <a:moveTo>
                  <a:pt x="754303" y="565727"/>
                </a:moveTo>
                <a:lnTo>
                  <a:pt x="829733" y="565727"/>
                </a:lnTo>
                <a:lnTo>
                  <a:pt x="829733" y="603442"/>
                </a:lnTo>
                <a:lnTo>
                  <a:pt x="754303" y="603442"/>
                </a:lnTo>
                <a:close/>
                <a:moveTo>
                  <a:pt x="867448" y="565727"/>
                </a:moveTo>
                <a:lnTo>
                  <a:pt x="905164" y="565727"/>
                </a:lnTo>
                <a:lnTo>
                  <a:pt x="905164" y="603442"/>
                </a:lnTo>
                <a:lnTo>
                  <a:pt x="867448" y="603442"/>
                </a:lnTo>
                <a:close/>
                <a:moveTo>
                  <a:pt x="942879" y="565727"/>
                </a:moveTo>
                <a:lnTo>
                  <a:pt x="1018309" y="565727"/>
                </a:lnTo>
                <a:lnTo>
                  <a:pt x="1018309" y="603442"/>
                </a:lnTo>
                <a:lnTo>
                  <a:pt x="942879" y="603442"/>
                </a:lnTo>
                <a:close/>
                <a:moveTo>
                  <a:pt x="1093739" y="565727"/>
                </a:moveTo>
                <a:lnTo>
                  <a:pt x="1169170" y="565727"/>
                </a:lnTo>
                <a:lnTo>
                  <a:pt x="1169170" y="603442"/>
                </a:lnTo>
                <a:lnTo>
                  <a:pt x="1093739" y="603442"/>
                </a:lnTo>
                <a:close/>
                <a:moveTo>
                  <a:pt x="0" y="603442"/>
                </a:moveTo>
                <a:lnTo>
                  <a:pt x="37715" y="603442"/>
                </a:lnTo>
                <a:lnTo>
                  <a:pt x="37715" y="641158"/>
                </a:lnTo>
                <a:lnTo>
                  <a:pt x="0" y="641158"/>
                </a:lnTo>
                <a:close/>
                <a:moveTo>
                  <a:pt x="188576" y="603442"/>
                </a:moveTo>
                <a:lnTo>
                  <a:pt x="414867" y="603442"/>
                </a:lnTo>
                <a:lnTo>
                  <a:pt x="414867" y="641158"/>
                </a:lnTo>
                <a:lnTo>
                  <a:pt x="188576" y="641158"/>
                </a:lnTo>
                <a:close/>
                <a:moveTo>
                  <a:pt x="528012" y="603442"/>
                </a:moveTo>
                <a:lnTo>
                  <a:pt x="603442" y="603442"/>
                </a:lnTo>
                <a:lnTo>
                  <a:pt x="603442" y="641158"/>
                </a:lnTo>
                <a:lnTo>
                  <a:pt x="528012" y="641158"/>
                </a:lnTo>
                <a:close/>
                <a:moveTo>
                  <a:pt x="641158" y="603442"/>
                </a:moveTo>
                <a:lnTo>
                  <a:pt x="678873" y="603442"/>
                </a:lnTo>
                <a:lnTo>
                  <a:pt x="678873" y="641158"/>
                </a:lnTo>
                <a:lnTo>
                  <a:pt x="641158" y="641158"/>
                </a:lnTo>
                <a:close/>
                <a:moveTo>
                  <a:pt x="754303" y="603442"/>
                </a:moveTo>
                <a:lnTo>
                  <a:pt x="792018" y="603442"/>
                </a:lnTo>
                <a:lnTo>
                  <a:pt x="792018" y="641158"/>
                </a:lnTo>
                <a:lnTo>
                  <a:pt x="754303" y="641158"/>
                </a:lnTo>
                <a:close/>
                <a:moveTo>
                  <a:pt x="905164" y="603442"/>
                </a:moveTo>
                <a:lnTo>
                  <a:pt x="980594" y="603442"/>
                </a:lnTo>
                <a:lnTo>
                  <a:pt x="980594" y="641158"/>
                </a:lnTo>
                <a:lnTo>
                  <a:pt x="905164" y="641158"/>
                </a:lnTo>
                <a:close/>
                <a:moveTo>
                  <a:pt x="1018309" y="603442"/>
                </a:moveTo>
                <a:lnTo>
                  <a:pt x="1093739" y="603442"/>
                </a:lnTo>
                <a:lnTo>
                  <a:pt x="1093739" y="641158"/>
                </a:lnTo>
                <a:lnTo>
                  <a:pt x="1018309" y="641158"/>
                </a:lnTo>
                <a:close/>
                <a:moveTo>
                  <a:pt x="1206885" y="603442"/>
                </a:moveTo>
                <a:lnTo>
                  <a:pt x="1244600" y="603442"/>
                </a:lnTo>
                <a:lnTo>
                  <a:pt x="1244600" y="641158"/>
                </a:lnTo>
                <a:lnTo>
                  <a:pt x="1206885" y="641158"/>
                </a:lnTo>
                <a:close/>
                <a:moveTo>
                  <a:pt x="150861" y="641158"/>
                </a:moveTo>
                <a:lnTo>
                  <a:pt x="226291" y="641158"/>
                </a:lnTo>
                <a:lnTo>
                  <a:pt x="226291" y="678873"/>
                </a:lnTo>
                <a:lnTo>
                  <a:pt x="150861" y="678873"/>
                </a:lnTo>
                <a:close/>
                <a:moveTo>
                  <a:pt x="301721" y="641158"/>
                </a:moveTo>
                <a:lnTo>
                  <a:pt x="377152" y="641158"/>
                </a:lnTo>
                <a:lnTo>
                  <a:pt x="377152" y="678873"/>
                </a:lnTo>
                <a:lnTo>
                  <a:pt x="301721" y="678873"/>
                </a:lnTo>
                <a:close/>
                <a:moveTo>
                  <a:pt x="490297" y="641158"/>
                </a:moveTo>
                <a:lnTo>
                  <a:pt x="528012" y="641158"/>
                </a:lnTo>
                <a:lnTo>
                  <a:pt x="528012" y="678873"/>
                </a:lnTo>
                <a:lnTo>
                  <a:pt x="490297" y="678873"/>
                </a:lnTo>
                <a:close/>
                <a:moveTo>
                  <a:pt x="603442" y="641158"/>
                </a:moveTo>
                <a:lnTo>
                  <a:pt x="641158" y="641158"/>
                </a:lnTo>
                <a:lnTo>
                  <a:pt x="641158" y="678873"/>
                </a:lnTo>
                <a:lnTo>
                  <a:pt x="603442" y="678873"/>
                </a:lnTo>
                <a:close/>
                <a:moveTo>
                  <a:pt x="716588" y="641158"/>
                </a:moveTo>
                <a:lnTo>
                  <a:pt x="754303" y="641158"/>
                </a:lnTo>
                <a:lnTo>
                  <a:pt x="754303" y="678873"/>
                </a:lnTo>
                <a:lnTo>
                  <a:pt x="716588" y="678873"/>
                </a:lnTo>
                <a:close/>
                <a:moveTo>
                  <a:pt x="829733" y="641158"/>
                </a:moveTo>
                <a:lnTo>
                  <a:pt x="905164" y="641158"/>
                </a:lnTo>
                <a:lnTo>
                  <a:pt x="905164" y="678873"/>
                </a:lnTo>
                <a:lnTo>
                  <a:pt x="829733" y="678873"/>
                </a:lnTo>
                <a:close/>
                <a:moveTo>
                  <a:pt x="980594" y="641158"/>
                </a:moveTo>
                <a:lnTo>
                  <a:pt x="1056024" y="641158"/>
                </a:lnTo>
                <a:lnTo>
                  <a:pt x="1056024" y="678873"/>
                </a:lnTo>
                <a:lnTo>
                  <a:pt x="980594" y="678873"/>
                </a:lnTo>
                <a:close/>
                <a:moveTo>
                  <a:pt x="1093739" y="641158"/>
                </a:moveTo>
                <a:lnTo>
                  <a:pt x="1169170" y="641158"/>
                </a:lnTo>
                <a:lnTo>
                  <a:pt x="1169170" y="678873"/>
                </a:lnTo>
                <a:lnTo>
                  <a:pt x="1093739" y="678873"/>
                </a:lnTo>
                <a:close/>
                <a:moveTo>
                  <a:pt x="1206885" y="641158"/>
                </a:moveTo>
                <a:lnTo>
                  <a:pt x="1244600" y="641158"/>
                </a:lnTo>
                <a:lnTo>
                  <a:pt x="1244600" y="678873"/>
                </a:lnTo>
                <a:lnTo>
                  <a:pt x="1206885" y="678873"/>
                </a:lnTo>
                <a:close/>
                <a:moveTo>
                  <a:pt x="0" y="678873"/>
                </a:moveTo>
                <a:lnTo>
                  <a:pt x="37715" y="678873"/>
                </a:lnTo>
                <a:lnTo>
                  <a:pt x="37715" y="716588"/>
                </a:lnTo>
                <a:lnTo>
                  <a:pt x="0" y="716588"/>
                </a:lnTo>
                <a:close/>
                <a:moveTo>
                  <a:pt x="113145" y="678873"/>
                </a:moveTo>
                <a:lnTo>
                  <a:pt x="150861" y="678873"/>
                </a:lnTo>
                <a:lnTo>
                  <a:pt x="150861" y="716588"/>
                </a:lnTo>
                <a:lnTo>
                  <a:pt x="113145" y="716588"/>
                </a:lnTo>
                <a:close/>
                <a:moveTo>
                  <a:pt x="188576" y="678873"/>
                </a:moveTo>
                <a:lnTo>
                  <a:pt x="264006" y="678873"/>
                </a:lnTo>
                <a:lnTo>
                  <a:pt x="264006" y="716588"/>
                </a:lnTo>
                <a:lnTo>
                  <a:pt x="188576" y="716588"/>
                </a:lnTo>
                <a:close/>
                <a:moveTo>
                  <a:pt x="452582" y="678873"/>
                </a:moveTo>
                <a:lnTo>
                  <a:pt x="528012" y="678873"/>
                </a:lnTo>
                <a:lnTo>
                  <a:pt x="528012" y="716588"/>
                </a:lnTo>
                <a:lnTo>
                  <a:pt x="452582" y="716588"/>
                </a:lnTo>
                <a:close/>
                <a:moveTo>
                  <a:pt x="565727" y="678873"/>
                </a:moveTo>
                <a:lnTo>
                  <a:pt x="641158" y="678873"/>
                </a:lnTo>
                <a:lnTo>
                  <a:pt x="641158" y="716588"/>
                </a:lnTo>
                <a:lnTo>
                  <a:pt x="565727" y="716588"/>
                </a:lnTo>
                <a:close/>
                <a:moveTo>
                  <a:pt x="678873" y="678873"/>
                </a:moveTo>
                <a:lnTo>
                  <a:pt x="716588" y="678873"/>
                </a:lnTo>
                <a:lnTo>
                  <a:pt x="716588" y="716588"/>
                </a:lnTo>
                <a:lnTo>
                  <a:pt x="678873" y="716588"/>
                </a:lnTo>
                <a:close/>
                <a:moveTo>
                  <a:pt x="754303" y="678873"/>
                </a:moveTo>
                <a:lnTo>
                  <a:pt x="867448" y="678873"/>
                </a:lnTo>
                <a:lnTo>
                  <a:pt x="867448" y="716588"/>
                </a:lnTo>
                <a:lnTo>
                  <a:pt x="754303" y="716588"/>
                </a:lnTo>
                <a:close/>
                <a:moveTo>
                  <a:pt x="942879" y="678873"/>
                </a:moveTo>
                <a:lnTo>
                  <a:pt x="1093739" y="678873"/>
                </a:lnTo>
                <a:lnTo>
                  <a:pt x="1093739" y="716588"/>
                </a:lnTo>
                <a:lnTo>
                  <a:pt x="942879" y="716588"/>
                </a:lnTo>
                <a:close/>
                <a:moveTo>
                  <a:pt x="1131455" y="678873"/>
                </a:moveTo>
                <a:lnTo>
                  <a:pt x="1169170" y="678873"/>
                </a:lnTo>
                <a:lnTo>
                  <a:pt x="1169170" y="716588"/>
                </a:lnTo>
                <a:lnTo>
                  <a:pt x="1131455" y="716588"/>
                </a:lnTo>
                <a:close/>
                <a:moveTo>
                  <a:pt x="113145" y="716588"/>
                </a:moveTo>
                <a:lnTo>
                  <a:pt x="226291" y="716588"/>
                </a:lnTo>
                <a:lnTo>
                  <a:pt x="226291" y="754303"/>
                </a:lnTo>
                <a:lnTo>
                  <a:pt x="113145" y="754303"/>
                </a:lnTo>
                <a:close/>
                <a:moveTo>
                  <a:pt x="264006" y="716588"/>
                </a:moveTo>
                <a:lnTo>
                  <a:pt x="377152" y="716588"/>
                </a:lnTo>
                <a:lnTo>
                  <a:pt x="377152" y="754303"/>
                </a:lnTo>
                <a:lnTo>
                  <a:pt x="264006" y="754303"/>
                </a:lnTo>
                <a:close/>
                <a:moveTo>
                  <a:pt x="490297" y="716588"/>
                </a:moveTo>
                <a:lnTo>
                  <a:pt x="565727" y="716588"/>
                </a:lnTo>
                <a:lnTo>
                  <a:pt x="565727" y="754303"/>
                </a:lnTo>
                <a:lnTo>
                  <a:pt x="490297" y="754303"/>
                </a:lnTo>
                <a:close/>
                <a:moveTo>
                  <a:pt x="603442" y="716588"/>
                </a:moveTo>
                <a:lnTo>
                  <a:pt x="641158" y="716588"/>
                </a:lnTo>
                <a:lnTo>
                  <a:pt x="641158" y="754303"/>
                </a:lnTo>
                <a:lnTo>
                  <a:pt x="603442" y="754303"/>
                </a:lnTo>
                <a:close/>
                <a:moveTo>
                  <a:pt x="678873" y="716588"/>
                </a:moveTo>
                <a:lnTo>
                  <a:pt x="716588" y="716588"/>
                </a:lnTo>
                <a:lnTo>
                  <a:pt x="716588" y="754303"/>
                </a:lnTo>
                <a:lnTo>
                  <a:pt x="678873" y="754303"/>
                </a:lnTo>
                <a:close/>
                <a:moveTo>
                  <a:pt x="792018" y="716588"/>
                </a:moveTo>
                <a:lnTo>
                  <a:pt x="867448" y="716588"/>
                </a:lnTo>
                <a:lnTo>
                  <a:pt x="867448" y="754303"/>
                </a:lnTo>
                <a:lnTo>
                  <a:pt x="792018" y="754303"/>
                </a:lnTo>
                <a:close/>
                <a:moveTo>
                  <a:pt x="980594" y="716588"/>
                </a:moveTo>
                <a:lnTo>
                  <a:pt x="1169170" y="716588"/>
                </a:lnTo>
                <a:lnTo>
                  <a:pt x="1169170" y="754303"/>
                </a:lnTo>
                <a:lnTo>
                  <a:pt x="980594" y="754303"/>
                </a:lnTo>
                <a:close/>
                <a:moveTo>
                  <a:pt x="1206885" y="716588"/>
                </a:moveTo>
                <a:lnTo>
                  <a:pt x="1244600" y="716588"/>
                </a:lnTo>
                <a:lnTo>
                  <a:pt x="1244600" y="754303"/>
                </a:lnTo>
                <a:lnTo>
                  <a:pt x="1206885" y="754303"/>
                </a:lnTo>
                <a:close/>
                <a:moveTo>
                  <a:pt x="0" y="754303"/>
                </a:moveTo>
                <a:lnTo>
                  <a:pt x="37715" y="754303"/>
                </a:lnTo>
                <a:lnTo>
                  <a:pt x="37715" y="792018"/>
                </a:lnTo>
                <a:lnTo>
                  <a:pt x="0" y="792018"/>
                </a:lnTo>
                <a:close/>
                <a:moveTo>
                  <a:pt x="113145" y="754303"/>
                </a:moveTo>
                <a:lnTo>
                  <a:pt x="150861" y="754303"/>
                </a:lnTo>
                <a:lnTo>
                  <a:pt x="150861" y="792018"/>
                </a:lnTo>
                <a:lnTo>
                  <a:pt x="113145" y="792018"/>
                </a:lnTo>
                <a:close/>
                <a:moveTo>
                  <a:pt x="226291" y="754303"/>
                </a:moveTo>
                <a:lnTo>
                  <a:pt x="264006" y="754303"/>
                </a:lnTo>
                <a:lnTo>
                  <a:pt x="264006" y="792018"/>
                </a:lnTo>
                <a:lnTo>
                  <a:pt x="226291" y="792018"/>
                </a:lnTo>
                <a:close/>
                <a:moveTo>
                  <a:pt x="301721" y="754303"/>
                </a:moveTo>
                <a:lnTo>
                  <a:pt x="377152" y="754303"/>
                </a:lnTo>
                <a:lnTo>
                  <a:pt x="377152" y="792018"/>
                </a:lnTo>
                <a:lnTo>
                  <a:pt x="301721" y="792018"/>
                </a:lnTo>
                <a:close/>
                <a:moveTo>
                  <a:pt x="452582" y="754303"/>
                </a:moveTo>
                <a:lnTo>
                  <a:pt x="528012" y="754303"/>
                </a:lnTo>
                <a:lnTo>
                  <a:pt x="528012" y="792018"/>
                </a:lnTo>
                <a:lnTo>
                  <a:pt x="452582" y="792018"/>
                </a:lnTo>
                <a:close/>
                <a:moveTo>
                  <a:pt x="565727" y="754303"/>
                </a:moveTo>
                <a:lnTo>
                  <a:pt x="603442" y="754303"/>
                </a:lnTo>
                <a:lnTo>
                  <a:pt x="603442" y="792018"/>
                </a:lnTo>
                <a:lnTo>
                  <a:pt x="565727" y="792018"/>
                </a:lnTo>
                <a:close/>
                <a:moveTo>
                  <a:pt x="678873" y="754303"/>
                </a:moveTo>
                <a:lnTo>
                  <a:pt x="716588" y="754303"/>
                </a:lnTo>
                <a:lnTo>
                  <a:pt x="716588" y="792018"/>
                </a:lnTo>
                <a:lnTo>
                  <a:pt x="678873" y="792018"/>
                </a:lnTo>
                <a:close/>
                <a:moveTo>
                  <a:pt x="829733" y="754303"/>
                </a:moveTo>
                <a:lnTo>
                  <a:pt x="867448" y="754303"/>
                </a:lnTo>
                <a:lnTo>
                  <a:pt x="867448" y="792018"/>
                </a:lnTo>
                <a:lnTo>
                  <a:pt x="829733" y="792018"/>
                </a:lnTo>
                <a:close/>
                <a:moveTo>
                  <a:pt x="905164" y="754303"/>
                </a:moveTo>
                <a:lnTo>
                  <a:pt x="980594" y="754303"/>
                </a:lnTo>
                <a:lnTo>
                  <a:pt x="980594" y="792018"/>
                </a:lnTo>
                <a:lnTo>
                  <a:pt x="905164" y="792018"/>
                </a:lnTo>
                <a:close/>
                <a:moveTo>
                  <a:pt x="1056024" y="754303"/>
                </a:moveTo>
                <a:lnTo>
                  <a:pt x="1131455" y="754303"/>
                </a:lnTo>
                <a:lnTo>
                  <a:pt x="1131455" y="792018"/>
                </a:lnTo>
                <a:lnTo>
                  <a:pt x="1056024" y="792018"/>
                </a:lnTo>
                <a:close/>
                <a:moveTo>
                  <a:pt x="0" y="792018"/>
                </a:moveTo>
                <a:lnTo>
                  <a:pt x="37715" y="792018"/>
                </a:lnTo>
                <a:lnTo>
                  <a:pt x="37715" y="829733"/>
                </a:lnTo>
                <a:lnTo>
                  <a:pt x="0" y="829733"/>
                </a:lnTo>
                <a:close/>
                <a:moveTo>
                  <a:pt x="75430" y="792018"/>
                </a:moveTo>
                <a:lnTo>
                  <a:pt x="113145" y="792018"/>
                </a:lnTo>
                <a:lnTo>
                  <a:pt x="113145" y="829733"/>
                </a:lnTo>
                <a:lnTo>
                  <a:pt x="75430" y="829733"/>
                </a:lnTo>
                <a:close/>
                <a:moveTo>
                  <a:pt x="150861" y="792018"/>
                </a:moveTo>
                <a:lnTo>
                  <a:pt x="188576" y="792018"/>
                </a:lnTo>
                <a:lnTo>
                  <a:pt x="188576" y="829733"/>
                </a:lnTo>
                <a:lnTo>
                  <a:pt x="150861" y="829733"/>
                </a:lnTo>
                <a:close/>
                <a:moveTo>
                  <a:pt x="339436" y="792018"/>
                </a:moveTo>
                <a:lnTo>
                  <a:pt x="377152" y="792018"/>
                </a:lnTo>
                <a:lnTo>
                  <a:pt x="377152" y="829733"/>
                </a:lnTo>
                <a:lnTo>
                  <a:pt x="339436" y="829733"/>
                </a:lnTo>
                <a:close/>
                <a:moveTo>
                  <a:pt x="452582" y="792018"/>
                </a:moveTo>
                <a:lnTo>
                  <a:pt x="490297" y="792018"/>
                </a:lnTo>
                <a:lnTo>
                  <a:pt x="490297" y="829733"/>
                </a:lnTo>
                <a:lnTo>
                  <a:pt x="452582" y="829733"/>
                </a:lnTo>
                <a:close/>
                <a:moveTo>
                  <a:pt x="528012" y="792018"/>
                </a:moveTo>
                <a:lnTo>
                  <a:pt x="641158" y="792018"/>
                </a:lnTo>
                <a:lnTo>
                  <a:pt x="641158" y="829733"/>
                </a:lnTo>
                <a:lnTo>
                  <a:pt x="528012" y="829733"/>
                </a:lnTo>
                <a:close/>
                <a:moveTo>
                  <a:pt x="678873" y="792018"/>
                </a:moveTo>
                <a:lnTo>
                  <a:pt x="905164" y="792018"/>
                </a:lnTo>
                <a:lnTo>
                  <a:pt x="905164" y="829733"/>
                </a:lnTo>
                <a:lnTo>
                  <a:pt x="678873" y="829733"/>
                </a:lnTo>
                <a:close/>
                <a:moveTo>
                  <a:pt x="980594" y="792018"/>
                </a:moveTo>
                <a:lnTo>
                  <a:pt x="1018309" y="792018"/>
                </a:lnTo>
                <a:lnTo>
                  <a:pt x="1018309" y="829733"/>
                </a:lnTo>
                <a:lnTo>
                  <a:pt x="980594" y="829733"/>
                </a:lnTo>
                <a:close/>
                <a:moveTo>
                  <a:pt x="1093739" y="792018"/>
                </a:moveTo>
                <a:lnTo>
                  <a:pt x="1131455" y="792018"/>
                </a:lnTo>
                <a:lnTo>
                  <a:pt x="1131455" y="829733"/>
                </a:lnTo>
                <a:lnTo>
                  <a:pt x="1093739" y="829733"/>
                </a:lnTo>
                <a:close/>
                <a:moveTo>
                  <a:pt x="1206885" y="792018"/>
                </a:moveTo>
                <a:lnTo>
                  <a:pt x="1244600" y="792018"/>
                </a:lnTo>
                <a:lnTo>
                  <a:pt x="1244600" y="829733"/>
                </a:lnTo>
                <a:lnTo>
                  <a:pt x="1206885" y="829733"/>
                </a:lnTo>
                <a:close/>
                <a:moveTo>
                  <a:pt x="0" y="829733"/>
                </a:moveTo>
                <a:lnTo>
                  <a:pt x="37715" y="829733"/>
                </a:lnTo>
                <a:lnTo>
                  <a:pt x="37715" y="867448"/>
                </a:lnTo>
                <a:lnTo>
                  <a:pt x="0" y="867448"/>
                </a:lnTo>
                <a:close/>
                <a:moveTo>
                  <a:pt x="75430" y="829733"/>
                </a:moveTo>
                <a:lnTo>
                  <a:pt x="113145" y="829733"/>
                </a:lnTo>
                <a:lnTo>
                  <a:pt x="113145" y="867448"/>
                </a:lnTo>
                <a:lnTo>
                  <a:pt x="75430" y="867448"/>
                </a:lnTo>
                <a:close/>
                <a:moveTo>
                  <a:pt x="150861" y="829733"/>
                </a:moveTo>
                <a:lnTo>
                  <a:pt x="188576" y="829733"/>
                </a:lnTo>
                <a:lnTo>
                  <a:pt x="188576" y="867448"/>
                </a:lnTo>
                <a:lnTo>
                  <a:pt x="150861" y="867448"/>
                </a:lnTo>
                <a:close/>
                <a:moveTo>
                  <a:pt x="226291" y="829733"/>
                </a:moveTo>
                <a:lnTo>
                  <a:pt x="339436" y="829733"/>
                </a:lnTo>
                <a:lnTo>
                  <a:pt x="339436" y="867448"/>
                </a:lnTo>
                <a:lnTo>
                  <a:pt x="226291" y="867448"/>
                </a:lnTo>
                <a:close/>
                <a:moveTo>
                  <a:pt x="490297" y="829733"/>
                </a:moveTo>
                <a:lnTo>
                  <a:pt x="528012" y="829733"/>
                </a:lnTo>
                <a:lnTo>
                  <a:pt x="528012" y="867448"/>
                </a:lnTo>
                <a:lnTo>
                  <a:pt x="490297" y="867448"/>
                </a:lnTo>
                <a:close/>
                <a:moveTo>
                  <a:pt x="792018" y="829733"/>
                </a:moveTo>
                <a:lnTo>
                  <a:pt x="829733" y="829733"/>
                </a:lnTo>
                <a:lnTo>
                  <a:pt x="829733" y="867448"/>
                </a:lnTo>
                <a:lnTo>
                  <a:pt x="792018" y="867448"/>
                </a:lnTo>
                <a:close/>
                <a:moveTo>
                  <a:pt x="905164" y="829733"/>
                </a:moveTo>
                <a:lnTo>
                  <a:pt x="942879" y="829733"/>
                </a:lnTo>
                <a:lnTo>
                  <a:pt x="942879" y="867448"/>
                </a:lnTo>
                <a:lnTo>
                  <a:pt x="905164" y="867448"/>
                </a:lnTo>
                <a:close/>
                <a:moveTo>
                  <a:pt x="980594" y="829733"/>
                </a:moveTo>
                <a:lnTo>
                  <a:pt x="1131455" y="829733"/>
                </a:lnTo>
                <a:lnTo>
                  <a:pt x="1131455" y="867448"/>
                </a:lnTo>
                <a:lnTo>
                  <a:pt x="980594" y="867448"/>
                </a:lnTo>
                <a:close/>
                <a:moveTo>
                  <a:pt x="1169170" y="829733"/>
                </a:moveTo>
                <a:lnTo>
                  <a:pt x="1206885" y="829733"/>
                </a:lnTo>
                <a:lnTo>
                  <a:pt x="1206885" y="867448"/>
                </a:lnTo>
                <a:lnTo>
                  <a:pt x="1169170" y="867448"/>
                </a:lnTo>
                <a:close/>
                <a:moveTo>
                  <a:pt x="0" y="867448"/>
                </a:moveTo>
                <a:lnTo>
                  <a:pt x="37715" y="867448"/>
                </a:lnTo>
                <a:lnTo>
                  <a:pt x="37715" y="905164"/>
                </a:lnTo>
                <a:lnTo>
                  <a:pt x="0" y="905164"/>
                </a:lnTo>
                <a:close/>
                <a:moveTo>
                  <a:pt x="113145" y="867448"/>
                </a:moveTo>
                <a:lnTo>
                  <a:pt x="226291" y="867448"/>
                </a:lnTo>
                <a:lnTo>
                  <a:pt x="226291" y="905164"/>
                </a:lnTo>
                <a:lnTo>
                  <a:pt x="113145" y="905164"/>
                </a:lnTo>
                <a:close/>
                <a:moveTo>
                  <a:pt x="264006" y="867448"/>
                </a:moveTo>
                <a:lnTo>
                  <a:pt x="339436" y="867448"/>
                </a:lnTo>
                <a:lnTo>
                  <a:pt x="339436" y="905164"/>
                </a:lnTo>
                <a:lnTo>
                  <a:pt x="264006" y="905164"/>
                </a:lnTo>
                <a:close/>
                <a:moveTo>
                  <a:pt x="377152" y="867448"/>
                </a:moveTo>
                <a:lnTo>
                  <a:pt x="414867" y="867448"/>
                </a:lnTo>
                <a:lnTo>
                  <a:pt x="414867" y="905164"/>
                </a:lnTo>
                <a:lnTo>
                  <a:pt x="377152" y="905164"/>
                </a:lnTo>
                <a:close/>
                <a:moveTo>
                  <a:pt x="452582" y="867448"/>
                </a:moveTo>
                <a:lnTo>
                  <a:pt x="490297" y="867448"/>
                </a:lnTo>
                <a:lnTo>
                  <a:pt x="490297" y="905164"/>
                </a:lnTo>
                <a:lnTo>
                  <a:pt x="452582" y="905164"/>
                </a:lnTo>
                <a:close/>
                <a:moveTo>
                  <a:pt x="528012" y="867448"/>
                </a:moveTo>
                <a:lnTo>
                  <a:pt x="565727" y="867448"/>
                </a:lnTo>
                <a:lnTo>
                  <a:pt x="565727" y="905164"/>
                </a:lnTo>
                <a:lnTo>
                  <a:pt x="528012" y="905164"/>
                </a:lnTo>
                <a:close/>
                <a:moveTo>
                  <a:pt x="603442" y="867448"/>
                </a:moveTo>
                <a:lnTo>
                  <a:pt x="641158" y="867448"/>
                </a:lnTo>
                <a:lnTo>
                  <a:pt x="641158" y="905164"/>
                </a:lnTo>
                <a:lnTo>
                  <a:pt x="603442" y="905164"/>
                </a:lnTo>
                <a:close/>
                <a:moveTo>
                  <a:pt x="678873" y="867448"/>
                </a:moveTo>
                <a:lnTo>
                  <a:pt x="829733" y="867448"/>
                </a:lnTo>
                <a:lnTo>
                  <a:pt x="829733" y="905164"/>
                </a:lnTo>
                <a:lnTo>
                  <a:pt x="678873" y="905164"/>
                </a:lnTo>
                <a:close/>
                <a:moveTo>
                  <a:pt x="867448" y="867448"/>
                </a:moveTo>
                <a:lnTo>
                  <a:pt x="905164" y="867448"/>
                </a:lnTo>
                <a:lnTo>
                  <a:pt x="905164" y="905164"/>
                </a:lnTo>
                <a:lnTo>
                  <a:pt x="867448" y="905164"/>
                </a:lnTo>
                <a:close/>
                <a:moveTo>
                  <a:pt x="1018309" y="867448"/>
                </a:moveTo>
                <a:lnTo>
                  <a:pt x="1056024" y="867448"/>
                </a:lnTo>
                <a:lnTo>
                  <a:pt x="1056024" y="905164"/>
                </a:lnTo>
                <a:lnTo>
                  <a:pt x="1018309" y="905164"/>
                </a:lnTo>
                <a:close/>
                <a:moveTo>
                  <a:pt x="1131455" y="867448"/>
                </a:moveTo>
                <a:lnTo>
                  <a:pt x="1169170" y="867448"/>
                </a:lnTo>
                <a:lnTo>
                  <a:pt x="1169170" y="905164"/>
                </a:lnTo>
                <a:lnTo>
                  <a:pt x="1131455" y="905164"/>
                </a:lnTo>
                <a:close/>
                <a:moveTo>
                  <a:pt x="1206885" y="867448"/>
                </a:moveTo>
                <a:lnTo>
                  <a:pt x="1244600" y="867448"/>
                </a:lnTo>
                <a:lnTo>
                  <a:pt x="1244600" y="905164"/>
                </a:lnTo>
                <a:lnTo>
                  <a:pt x="1206885" y="905164"/>
                </a:lnTo>
                <a:close/>
                <a:moveTo>
                  <a:pt x="0" y="905164"/>
                </a:moveTo>
                <a:lnTo>
                  <a:pt x="37715" y="905164"/>
                </a:lnTo>
                <a:lnTo>
                  <a:pt x="37715" y="942879"/>
                </a:lnTo>
                <a:lnTo>
                  <a:pt x="0" y="942879"/>
                </a:lnTo>
                <a:close/>
                <a:moveTo>
                  <a:pt x="226291" y="905164"/>
                </a:moveTo>
                <a:lnTo>
                  <a:pt x="301721" y="905164"/>
                </a:lnTo>
                <a:lnTo>
                  <a:pt x="301721" y="942879"/>
                </a:lnTo>
                <a:lnTo>
                  <a:pt x="226291" y="942879"/>
                </a:lnTo>
                <a:close/>
                <a:moveTo>
                  <a:pt x="339436" y="905164"/>
                </a:moveTo>
                <a:lnTo>
                  <a:pt x="377152" y="905164"/>
                </a:lnTo>
                <a:lnTo>
                  <a:pt x="377152" y="942879"/>
                </a:lnTo>
                <a:lnTo>
                  <a:pt x="339436" y="942879"/>
                </a:lnTo>
                <a:close/>
                <a:moveTo>
                  <a:pt x="641158" y="905164"/>
                </a:moveTo>
                <a:lnTo>
                  <a:pt x="678873" y="905164"/>
                </a:lnTo>
                <a:lnTo>
                  <a:pt x="678873" y="942879"/>
                </a:lnTo>
                <a:lnTo>
                  <a:pt x="641158" y="942879"/>
                </a:lnTo>
                <a:close/>
                <a:moveTo>
                  <a:pt x="754303" y="905164"/>
                </a:moveTo>
                <a:lnTo>
                  <a:pt x="792018" y="905164"/>
                </a:lnTo>
                <a:lnTo>
                  <a:pt x="792018" y="942879"/>
                </a:lnTo>
                <a:lnTo>
                  <a:pt x="754303" y="942879"/>
                </a:lnTo>
                <a:close/>
                <a:moveTo>
                  <a:pt x="867448" y="905164"/>
                </a:moveTo>
                <a:lnTo>
                  <a:pt x="1093739" y="905164"/>
                </a:lnTo>
                <a:lnTo>
                  <a:pt x="1093739" y="942879"/>
                </a:lnTo>
                <a:lnTo>
                  <a:pt x="867448" y="942879"/>
                </a:lnTo>
                <a:close/>
                <a:moveTo>
                  <a:pt x="1169170" y="905164"/>
                </a:moveTo>
                <a:lnTo>
                  <a:pt x="1206885" y="905164"/>
                </a:lnTo>
                <a:lnTo>
                  <a:pt x="1206885" y="942879"/>
                </a:lnTo>
                <a:lnTo>
                  <a:pt x="1169170" y="942879"/>
                </a:lnTo>
                <a:close/>
                <a:moveTo>
                  <a:pt x="301721" y="942879"/>
                </a:moveTo>
                <a:lnTo>
                  <a:pt x="339436" y="942879"/>
                </a:lnTo>
                <a:lnTo>
                  <a:pt x="339436" y="980594"/>
                </a:lnTo>
                <a:lnTo>
                  <a:pt x="301721" y="980594"/>
                </a:lnTo>
                <a:close/>
                <a:moveTo>
                  <a:pt x="377152" y="942879"/>
                </a:moveTo>
                <a:lnTo>
                  <a:pt x="452582" y="942879"/>
                </a:lnTo>
                <a:lnTo>
                  <a:pt x="452582" y="980594"/>
                </a:lnTo>
                <a:lnTo>
                  <a:pt x="377152" y="980594"/>
                </a:lnTo>
                <a:close/>
                <a:moveTo>
                  <a:pt x="490297" y="942879"/>
                </a:moveTo>
                <a:lnTo>
                  <a:pt x="528012" y="942879"/>
                </a:lnTo>
                <a:lnTo>
                  <a:pt x="528012" y="980594"/>
                </a:lnTo>
                <a:lnTo>
                  <a:pt x="490297" y="980594"/>
                </a:lnTo>
                <a:close/>
                <a:moveTo>
                  <a:pt x="603442" y="942879"/>
                </a:moveTo>
                <a:lnTo>
                  <a:pt x="754303" y="942879"/>
                </a:lnTo>
                <a:lnTo>
                  <a:pt x="754303" y="980594"/>
                </a:lnTo>
                <a:lnTo>
                  <a:pt x="603442" y="980594"/>
                </a:lnTo>
                <a:close/>
                <a:moveTo>
                  <a:pt x="792018" y="942879"/>
                </a:moveTo>
                <a:lnTo>
                  <a:pt x="867448" y="942879"/>
                </a:lnTo>
                <a:lnTo>
                  <a:pt x="867448" y="980594"/>
                </a:lnTo>
                <a:lnTo>
                  <a:pt x="792018" y="980594"/>
                </a:lnTo>
                <a:close/>
                <a:moveTo>
                  <a:pt x="905164" y="942879"/>
                </a:moveTo>
                <a:lnTo>
                  <a:pt x="942879" y="942879"/>
                </a:lnTo>
                <a:lnTo>
                  <a:pt x="942879" y="980594"/>
                </a:lnTo>
                <a:lnTo>
                  <a:pt x="905164" y="980594"/>
                </a:lnTo>
                <a:close/>
                <a:moveTo>
                  <a:pt x="1056024" y="942879"/>
                </a:moveTo>
                <a:lnTo>
                  <a:pt x="1093739" y="942879"/>
                </a:lnTo>
                <a:lnTo>
                  <a:pt x="1093739" y="980594"/>
                </a:lnTo>
                <a:lnTo>
                  <a:pt x="1056024" y="980594"/>
                </a:lnTo>
                <a:close/>
                <a:moveTo>
                  <a:pt x="1131455" y="942879"/>
                </a:moveTo>
                <a:lnTo>
                  <a:pt x="1169170" y="942879"/>
                </a:lnTo>
                <a:lnTo>
                  <a:pt x="1169170" y="980594"/>
                </a:lnTo>
                <a:lnTo>
                  <a:pt x="1131455" y="980594"/>
                </a:lnTo>
                <a:close/>
                <a:moveTo>
                  <a:pt x="1206885" y="942879"/>
                </a:moveTo>
                <a:lnTo>
                  <a:pt x="1244600" y="942879"/>
                </a:lnTo>
                <a:lnTo>
                  <a:pt x="1244600" y="980594"/>
                </a:lnTo>
                <a:lnTo>
                  <a:pt x="1206885" y="980594"/>
                </a:lnTo>
                <a:close/>
                <a:moveTo>
                  <a:pt x="0" y="980594"/>
                </a:moveTo>
                <a:lnTo>
                  <a:pt x="264006" y="980594"/>
                </a:lnTo>
                <a:lnTo>
                  <a:pt x="264006" y="1018309"/>
                </a:lnTo>
                <a:lnTo>
                  <a:pt x="0" y="1018309"/>
                </a:lnTo>
                <a:close/>
                <a:moveTo>
                  <a:pt x="339436" y="980594"/>
                </a:moveTo>
                <a:lnTo>
                  <a:pt x="377152" y="980594"/>
                </a:lnTo>
                <a:lnTo>
                  <a:pt x="377152" y="1018309"/>
                </a:lnTo>
                <a:lnTo>
                  <a:pt x="339436" y="1018309"/>
                </a:lnTo>
                <a:close/>
                <a:moveTo>
                  <a:pt x="490297" y="980594"/>
                </a:moveTo>
                <a:lnTo>
                  <a:pt x="528012" y="980594"/>
                </a:lnTo>
                <a:lnTo>
                  <a:pt x="528012" y="1018309"/>
                </a:lnTo>
                <a:lnTo>
                  <a:pt x="490297" y="1018309"/>
                </a:lnTo>
                <a:close/>
                <a:moveTo>
                  <a:pt x="565727" y="980594"/>
                </a:moveTo>
                <a:lnTo>
                  <a:pt x="603442" y="980594"/>
                </a:lnTo>
                <a:lnTo>
                  <a:pt x="603442" y="1018309"/>
                </a:lnTo>
                <a:lnTo>
                  <a:pt x="565727" y="1018309"/>
                </a:lnTo>
                <a:close/>
                <a:moveTo>
                  <a:pt x="641158" y="980594"/>
                </a:moveTo>
                <a:lnTo>
                  <a:pt x="678873" y="980594"/>
                </a:lnTo>
                <a:lnTo>
                  <a:pt x="678873" y="1018309"/>
                </a:lnTo>
                <a:lnTo>
                  <a:pt x="641158" y="1018309"/>
                </a:lnTo>
                <a:close/>
                <a:moveTo>
                  <a:pt x="867448" y="980594"/>
                </a:moveTo>
                <a:lnTo>
                  <a:pt x="942879" y="980594"/>
                </a:lnTo>
                <a:lnTo>
                  <a:pt x="942879" y="1018309"/>
                </a:lnTo>
                <a:lnTo>
                  <a:pt x="867448" y="1018309"/>
                </a:lnTo>
                <a:close/>
                <a:moveTo>
                  <a:pt x="980594" y="980594"/>
                </a:moveTo>
                <a:lnTo>
                  <a:pt x="1018309" y="980594"/>
                </a:lnTo>
                <a:lnTo>
                  <a:pt x="1018309" y="1018309"/>
                </a:lnTo>
                <a:lnTo>
                  <a:pt x="980594" y="1018309"/>
                </a:lnTo>
                <a:close/>
                <a:moveTo>
                  <a:pt x="1056024" y="980594"/>
                </a:moveTo>
                <a:lnTo>
                  <a:pt x="1093739" y="980594"/>
                </a:lnTo>
                <a:lnTo>
                  <a:pt x="1093739" y="1018309"/>
                </a:lnTo>
                <a:lnTo>
                  <a:pt x="1056024" y="1018309"/>
                </a:lnTo>
                <a:close/>
                <a:moveTo>
                  <a:pt x="1131455" y="980594"/>
                </a:moveTo>
                <a:lnTo>
                  <a:pt x="1206885" y="980594"/>
                </a:lnTo>
                <a:lnTo>
                  <a:pt x="1206885" y="1018309"/>
                </a:lnTo>
                <a:lnTo>
                  <a:pt x="1131455" y="1018309"/>
                </a:lnTo>
                <a:close/>
                <a:moveTo>
                  <a:pt x="0" y="1018309"/>
                </a:moveTo>
                <a:lnTo>
                  <a:pt x="37715" y="1018309"/>
                </a:lnTo>
                <a:lnTo>
                  <a:pt x="37715" y="1056024"/>
                </a:lnTo>
                <a:lnTo>
                  <a:pt x="0" y="1056024"/>
                </a:lnTo>
                <a:close/>
                <a:moveTo>
                  <a:pt x="226291" y="1018309"/>
                </a:moveTo>
                <a:lnTo>
                  <a:pt x="264006" y="1018309"/>
                </a:lnTo>
                <a:lnTo>
                  <a:pt x="264006" y="1056024"/>
                </a:lnTo>
                <a:lnTo>
                  <a:pt x="226291" y="1056024"/>
                </a:lnTo>
                <a:close/>
                <a:moveTo>
                  <a:pt x="301721" y="1018309"/>
                </a:moveTo>
                <a:lnTo>
                  <a:pt x="414867" y="1018309"/>
                </a:lnTo>
                <a:lnTo>
                  <a:pt x="414867" y="1056024"/>
                </a:lnTo>
                <a:lnTo>
                  <a:pt x="301721" y="1056024"/>
                </a:lnTo>
                <a:close/>
                <a:moveTo>
                  <a:pt x="490297" y="1018309"/>
                </a:moveTo>
                <a:lnTo>
                  <a:pt x="528012" y="1018309"/>
                </a:lnTo>
                <a:lnTo>
                  <a:pt x="528012" y="1056024"/>
                </a:lnTo>
                <a:lnTo>
                  <a:pt x="490297" y="1056024"/>
                </a:lnTo>
                <a:close/>
                <a:moveTo>
                  <a:pt x="603442" y="1018309"/>
                </a:moveTo>
                <a:lnTo>
                  <a:pt x="716588" y="1018309"/>
                </a:lnTo>
                <a:lnTo>
                  <a:pt x="716588" y="1056024"/>
                </a:lnTo>
                <a:lnTo>
                  <a:pt x="603442" y="1056024"/>
                </a:lnTo>
                <a:close/>
                <a:moveTo>
                  <a:pt x="792018" y="1018309"/>
                </a:moveTo>
                <a:lnTo>
                  <a:pt x="942879" y="1018309"/>
                </a:lnTo>
                <a:lnTo>
                  <a:pt x="942879" y="1056024"/>
                </a:lnTo>
                <a:lnTo>
                  <a:pt x="792018" y="1056024"/>
                </a:lnTo>
                <a:close/>
                <a:moveTo>
                  <a:pt x="1056024" y="1018309"/>
                </a:moveTo>
                <a:lnTo>
                  <a:pt x="1206885" y="1018309"/>
                </a:lnTo>
                <a:lnTo>
                  <a:pt x="1206885" y="1056024"/>
                </a:lnTo>
                <a:lnTo>
                  <a:pt x="1056024" y="1056024"/>
                </a:lnTo>
                <a:close/>
                <a:moveTo>
                  <a:pt x="0" y="1056024"/>
                </a:moveTo>
                <a:lnTo>
                  <a:pt x="37715" y="1056024"/>
                </a:lnTo>
                <a:lnTo>
                  <a:pt x="37715" y="1093739"/>
                </a:lnTo>
                <a:lnTo>
                  <a:pt x="0" y="1093739"/>
                </a:lnTo>
                <a:close/>
                <a:moveTo>
                  <a:pt x="75430" y="1056024"/>
                </a:moveTo>
                <a:lnTo>
                  <a:pt x="188576" y="1056024"/>
                </a:lnTo>
                <a:lnTo>
                  <a:pt x="188576" y="1093739"/>
                </a:lnTo>
                <a:lnTo>
                  <a:pt x="75430" y="1093739"/>
                </a:lnTo>
                <a:close/>
                <a:moveTo>
                  <a:pt x="226291" y="1056024"/>
                </a:moveTo>
                <a:lnTo>
                  <a:pt x="264006" y="1056024"/>
                </a:lnTo>
                <a:lnTo>
                  <a:pt x="264006" y="1093739"/>
                </a:lnTo>
                <a:lnTo>
                  <a:pt x="226291" y="1093739"/>
                </a:lnTo>
                <a:close/>
                <a:moveTo>
                  <a:pt x="301721" y="1056024"/>
                </a:moveTo>
                <a:lnTo>
                  <a:pt x="377152" y="1056024"/>
                </a:lnTo>
                <a:lnTo>
                  <a:pt x="377152" y="1093739"/>
                </a:lnTo>
                <a:lnTo>
                  <a:pt x="301721" y="1093739"/>
                </a:lnTo>
                <a:close/>
                <a:moveTo>
                  <a:pt x="528012" y="1056024"/>
                </a:moveTo>
                <a:lnTo>
                  <a:pt x="565727" y="1056024"/>
                </a:lnTo>
                <a:lnTo>
                  <a:pt x="565727" y="1093739"/>
                </a:lnTo>
                <a:lnTo>
                  <a:pt x="528012" y="1093739"/>
                </a:lnTo>
                <a:close/>
                <a:moveTo>
                  <a:pt x="603442" y="1056024"/>
                </a:moveTo>
                <a:lnTo>
                  <a:pt x="641158" y="1056024"/>
                </a:lnTo>
                <a:lnTo>
                  <a:pt x="641158" y="1093739"/>
                </a:lnTo>
                <a:lnTo>
                  <a:pt x="603442" y="1093739"/>
                </a:lnTo>
                <a:close/>
                <a:moveTo>
                  <a:pt x="829733" y="1056024"/>
                </a:moveTo>
                <a:lnTo>
                  <a:pt x="867448" y="1056024"/>
                </a:lnTo>
                <a:lnTo>
                  <a:pt x="867448" y="1093739"/>
                </a:lnTo>
                <a:lnTo>
                  <a:pt x="829733" y="1093739"/>
                </a:lnTo>
                <a:close/>
                <a:moveTo>
                  <a:pt x="905164" y="1056024"/>
                </a:moveTo>
                <a:lnTo>
                  <a:pt x="1131455" y="1056024"/>
                </a:lnTo>
                <a:lnTo>
                  <a:pt x="1131455" y="1093739"/>
                </a:lnTo>
                <a:lnTo>
                  <a:pt x="905164" y="1093739"/>
                </a:lnTo>
                <a:close/>
                <a:moveTo>
                  <a:pt x="1169170" y="1056024"/>
                </a:moveTo>
                <a:lnTo>
                  <a:pt x="1206885" y="1056024"/>
                </a:lnTo>
                <a:lnTo>
                  <a:pt x="1206885" y="1093739"/>
                </a:lnTo>
                <a:lnTo>
                  <a:pt x="1169170" y="1093739"/>
                </a:lnTo>
                <a:close/>
                <a:moveTo>
                  <a:pt x="0" y="1093739"/>
                </a:moveTo>
                <a:lnTo>
                  <a:pt x="37715" y="1093739"/>
                </a:lnTo>
                <a:lnTo>
                  <a:pt x="37715" y="1131455"/>
                </a:lnTo>
                <a:lnTo>
                  <a:pt x="0" y="1131455"/>
                </a:lnTo>
                <a:close/>
                <a:moveTo>
                  <a:pt x="75430" y="1093739"/>
                </a:moveTo>
                <a:lnTo>
                  <a:pt x="188576" y="1093739"/>
                </a:lnTo>
                <a:lnTo>
                  <a:pt x="188576" y="1131455"/>
                </a:lnTo>
                <a:lnTo>
                  <a:pt x="75430" y="1131455"/>
                </a:lnTo>
                <a:close/>
                <a:moveTo>
                  <a:pt x="226291" y="1093739"/>
                </a:moveTo>
                <a:lnTo>
                  <a:pt x="264006" y="1093739"/>
                </a:lnTo>
                <a:lnTo>
                  <a:pt x="264006" y="1131455"/>
                </a:lnTo>
                <a:lnTo>
                  <a:pt x="226291" y="1131455"/>
                </a:lnTo>
                <a:close/>
                <a:moveTo>
                  <a:pt x="301721" y="1093739"/>
                </a:moveTo>
                <a:lnTo>
                  <a:pt x="414867" y="1093739"/>
                </a:lnTo>
                <a:lnTo>
                  <a:pt x="414867" y="1131455"/>
                </a:lnTo>
                <a:lnTo>
                  <a:pt x="301721" y="1131455"/>
                </a:lnTo>
                <a:close/>
                <a:moveTo>
                  <a:pt x="452582" y="1093739"/>
                </a:moveTo>
                <a:lnTo>
                  <a:pt x="528012" y="1093739"/>
                </a:lnTo>
                <a:lnTo>
                  <a:pt x="528012" y="1131455"/>
                </a:lnTo>
                <a:lnTo>
                  <a:pt x="452582" y="1131455"/>
                </a:lnTo>
                <a:close/>
                <a:moveTo>
                  <a:pt x="565727" y="1093739"/>
                </a:moveTo>
                <a:lnTo>
                  <a:pt x="603442" y="1093739"/>
                </a:lnTo>
                <a:lnTo>
                  <a:pt x="603442" y="1131455"/>
                </a:lnTo>
                <a:lnTo>
                  <a:pt x="565727" y="1131455"/>
                </a:lnTo>
                <a:close/>
                <a:moveTo>
                  <a:pt x="641158" y="1093739"/>
                </a:moveTo>
                <a:lnTo>
                  <a:pt x="829733" y="1093739"/>
                </a:lnTo>
                <a:lnTo>
                  <a:pt x="829733" y="1131455"/>
                </a:lnTo>
                <a:lnTo>
                  <a:pt x="641158" y="1131455"/>
                </a:lnTo>
                <a:close/>
                <a:moveTo>
                  <a:pt x="867448" y="1093739"/>
                </a:moveTo>
                <a:lnTo>
                  <a:pt x="980594" y="1093739"/>
                </a:lnTo>
                <a:lnTo>
                  <a:pt x="980594" y="1131455"/>
                </a:lnTo>
                <a:lnTo>
                  <a:pt x="867448" y="1131455"/>
                </a:lnTo>
                <a:close/>
                <a:moveTo>
                  <a:pt x="1056024" y="1093739"/>
                </a:moveTo>
                <a:lnTo>
                  <a:pt x="1131455" y="1093739"/>
                </a:lnTo>
                <a:lnTo>
                  <a:pt x="1131455" y="1131455"/>
                </a:lnTo>
                <a:lnTo>
                  <a:pt x="1056024" y="1131455"/>
                </a:lnTo>
                <a:close/>
                <a:moveTo>
                  <a:pt x="1169170" y="1093739"/>
                </a:moveTo>
                <a:lnTo>
                  <a:pt x="1244600" y="1093739"/>
                </a:lnTo>
                <a:lnTo>
                  <a:pt x="1244600" y="1131455"/>
                </a:lnTo>
                <a:lnTo>
                  <a:pt x="1169170" y="1131455"/>
                </a:lnTo>
                <a:close/>
                <a:moveTo>
                  <a:pt x="0" y="1131455"/>
                </a:moveTo>
                <a:lnTo>
                  <a:pt x="37715" y="1131455"/>
                </a:lnTo>
                <a:lnTo>
                  <a:pt x="37715" y="1169170"/>
                </a:lnTo>
                <a:lnTo>
                  <a:pt x="0" y="1169170"/>
                </a:lnTo>
                <a:close/>
                <a:moveTo>
                  <a:pt x="75430" y="1131455"/>
                </a:moveTo>
                <a:lnTo>
                  <a:pt x="188576" y="1131455"/>
                </a:lnTo>
                <a:lnTo>
                  <a:pt x="188576" y="1169170"/>
                </a:lnTo>
                <a:lnTo>
                  <a:pt x="75430" y="1169170"/>
                </a:lnTo>
                <a:close/>
                <a:moveTo>
                  <a:pt x="226291" y="1131455"/>
                </a:moveTo>
                <a:lnTo>
                  <a:pt x="264006" y="1131455"/>
                </a:lnTo>
                <a:lnTo>
                  <a:pt x="264006" y="1169170"/>
                </a:lnTo>
                <a:lnTo>
                  <a:pt x="226291" y="1169170"/>
                </a:lnTo>
                <a:close/>
                <a:moveTo>
                  <a:pt x="301721" y="1131455"/>
                </a:moveTo>
                <a:lnTo>
                  <a:pt x="339436" y="1131455"/>
                </a:lnTo>
                <a:lnTo>
                  <a:pt x="339436" y="1169170"/>
                </a:lnTo>
                <a:lnTo>
                  <a:pt x="301721" y="1169170"/>
                </a:lnTo>
                <a:close/>
                <a:moveTo>
                  <a:pt x="377152" y="1131455"/>
                </a:moveTo>
                <a:lnTo>
                  <a:pt x="414867" y="1131455"/>
                </a:lnTo>
                <a:lnTo>
                  <a:pt x="414867" y="1169170"/>
                </a:lnTo>
                <a:lnTo>
                  <a:pt x="377152" y="1169170"/>
                </a:lnTo>
                <a:close/>
                <a:moveTo>
                  <a:pt x="490297" y="1131455"/>
                </a:moveTo>
                <a:lnTo>
                  <a:pt x="528012" y="1131455"/>
                </a:lnTo>
                <a:lnTo>
                  <a:pt x="528012" y="1169170"/>
                </a:lnTo>
                <a:lnTo>
                  <a:pt x="490297" y="1169170"/>
                </a:lnTo>
                <a:close/>
                <a:moveTo>
                  <a:pt x="565727" y="1131455"/>
                </a:moveTo>
                <a:lnTo>
                  <a:pt x="641158" y="1131455"/>
                </a:lnTo>
                <a:lnTo>
                  <a:pt x="641158" y="1169170"/>
                </a:lnTo>
                <a:lnTo>
                  <a:pt x="565727" y="1169170"/>
                </a:lnTo>
                <a:close/>
                <a:moveTo>
                  <a:pt x="754303" y="1131455"/>
                </a:moveTo>
                <a:lnTo>
                  <a:pt x="829733" y="1131455"/>
                </a:lnTo>
                <a:lnTo>
                  <a:pt x="829733" y="1169170"/>
                </a:lnTo>
                <a:lnTo>
                  <a:pt x="754303" y="1169170"/>
                </a:lnTo>
                <a:close/>
                <a:moveTo>
                  <a:pt x="905164" y="1131455"/>
                </a:moveTo>
                <a:lnTo>
                  <a:pt x="942879" y="1131455"/>
                </a:lnTo>
                <a:lnTo>
                  <a:pt x="942879" y="1169170"/>
                </a:lnTo>
                <a:lnTo>
                  <a:pt x="905164" y="1169170"/>
                </a:lnTo>
                <a:close/>
                <a:moveTo>
                  <a:pt x="980594" y="1131455"/>
                </a:moveTo>
                <a:lnTo>
                  <a:pt x="1056024" y="1131455"/>
                </a:lnTo>
                <a:lnTo>
                  <a:pt x="1056024" y="1169170"/>
                </a:lnTo>
                <a:lnTo>
                  <a:pt x="980594" y="1169170"/>
                </a:lnTo>
                <a:close/>
                <a:moveTo>
                  <a:pt x="1093739" y="1131455"/>
                </a:moveTo>
                <a:lnTo>
                  <a:pt x="1131455" y="1131455"/>
                </a:lnTo>
                <a:lnTo>
                  <a:pt x="1131455" y="1169170"/>
                </a:lnTo>
                <a:lnTo>
                  <a:pt x="1093739" y="1169170"/>
                </a:lnTo>
                <a:close/>
                <a:moveTo>
                  <a:pt x="0" y="1169170"/>
                </a:moveTo>
                <a:lnTo>
                  <a:pt x="37715" y="1169170"/>
                </a:lnTo>
                <a:lnTo>
                  <a:pt x="37715" y="1206885"/>
                </a:lnTo>
                <a:lnTo>
                  <a:pt x="0" y="1206885"/>
                </a:lnTo>
                <a:close/>
                <a:moveTo>
                  <a:pt x="226291" y="1169170"/>
                </a:moveTo>
                <a:lnTo>
                  <a:pt x="264006" y="1169170"/>
                </a:lnTo>
                <a:lnTo>
                  <a:pt x="264006" y="1206885"/>
                </a:lnTo>
                <a:lnTo>
                  <a:pt x="226291" y="1206885"/>
                </a:lnTo>
                <a:close/>
                <a:moveTo>
                  <a:pt x="339436" y="1169170"/>
                </a:moveTo>
                <a:lnTo>
                  <a:pt x="414867" y="1169170"/>
                </a:lnTo>
                <a:lnTo>
                  <a:pt x="414867" y="1206885"/>
                </a:lnTo>
                <a:lnTo>
                  <a:pt x="339436" y="1206885"/>
                </a:lnTo>
                <a:close/>
                <a:moveTo>
                  <a:pt x="565727" y="1169170"/>
                </a:moveTo>
                <a:lnTo>
                  <a:pt x="603442" y="1169170"/>
                </a:lnTo>
                <a:lnTo>
                  <a:pt x="603442" y="1206885"/>
                </a:lnTo>
                <a:lnTo>
                  <a:pt x="565727" y="1206885"/>
                </a:lnTo>
                <a:close/>
                <a:moveTo>
                  <a:pt x="792018" y="1169170"/>
                </a:moveTo>
                <a:lnTo>
                  <a:pt x="867448" y="1169170"/>
                </a:lnTo>
                <a:lnTo>
                  <a:pt x="867448" y="1206885"/>
                </a:lnTo>
                <a:lnTo>
                  <a:pt x="792018" y="1206885"/>
                </a:lnTo>
                <a:close/>
                <a:moveTo>
                  <a:pt x="980594" y="1169170"/>
                </a:moveTo>
                <a:lnTo>
                  <a:pt x="1018309" y="1169170"/>
                </a:lnTo>
                <a:lnTo>
                  <a:pt x="1018309" y="1206885"/>
                </a:lnTo>
                <a:lnTo>
                  <a:pt x="980594" y="1206885"/>
                </a:lnTo>
                <a:close/>
                <a:moveTo>
                  <a:pt x="1056024" y="1169170"/>
                </a:moveTo>
                <a:lnTo>
                  <a:pt x="1169170" y="1169170"/>
                </a:lnTo>
                <a:lnTo>
                  <a:pt x="1169170" y="1206885"/>
                </a:lnTo>
                <a:lnTo>
                  <a:pt x="1056024" y="1206885"/>
                </a:lnTo>
                <a:close/>
                <a:moveTo>
                  <a:pt x="0" y="1206885"/>
                </a:moveTo>
                <a:lnTo>
                  <a:pt x="264006" y="1206885"/>
                </a:lnTo>
                <a:lnTo>
                  <a:pt x="264006" y="1244600"/>
                </a:lnTo>
                <a:lnTo>
                  <a:pt x="0" y="1244600"/>
                </a:lnTo>
                <a:close/>
                <a:moveTo>
                  <a:pt x="301721" y="1206885"/>
                </a:moveTo>
                <a:lnTo>
                  <a:pt x="339436" y="1206885"/>
                </a:lnTo>
                <a:lnTo>
                  <a:pt x="339436" y="1244600"/>
                </a:lnTo>
                <a:lnTo>
                  <a:pt x="301721" y="1244600"/>
                </a:lnTo>
                <a:close/>
                <a:moveTo>
                  <a:pt x="377152" y="1206885"/>
                </a:moveTo>
                <a:lnTo>
                  <a:pt x="414867" y="1206885"/>
                </a:lnTo>
                <a:lnTo>
                  <a:pt x="414867" y="1244600"/>
                </a:lnTo>
                <a:lnTo>
                  <a:pt x="377152" y="1244600"/>
                </a:lnTo>
                <a:close/>
                <a:moveTo>
                  <a:pt x="452582" y="1206885"/>
                </a:moveTo>
                <a:lnTo>
                  <a:pt x="490297" y="1206885"/>
                </a:lnTo>
                <a:lnTo>
                  <a:pt x="490297" y="1244600"/>
                </a:lnTo>
                <a:lnTo>
                  <a:pt x="452582" y="1244600"/>
                </a:lnTo>
                <a:close/>
                <a:moveTo>
                  <a:pt x="528012" y="1206885"/>
                </a:moveTo>
                <a:lnTo>
                  <a:pt x="603442" y="1206885"/>
                </a:lnTo>
                <a:lnTo>
                  <a:pt x="603442" y="1244600"/>
                </a:lnTo>
                <a:lnTo>
                  <a:pt x="528012" y="1244600"/>
                </a:lnTo>
                <a:close/>
                <a:moveTo>
                  <a:pt x="641158" y="1206885"/>
                </a:moveTo>
                <a:lnTo>
                  <a:pt x="716588" y="1206885"/>
                </a:lnTo>
                <a:lnTo>
                  <a:pt x="716588" y="1244600"/>
                </a:lnTo>
                <a:lnTo>
                  <a:pt x="641158" y="1244600"/>
                </a:lnTo>
                <a:close/>
                <a:moveTo>
                  <a:pt x="754303" y="1206885"/>
                </a:moveTo>
                <a:lnTo>
                  <a:pt x="792018" y="1206885"/>
                </a:lnTo>
                <a:lnTo>
                  <a:pt x="792018" y="1244600"/>
                </a:lnTo>
                <a:lnTo>
                  <a:pt x="754303" y="1244600"/>
                </a:lnTo>
                <a:close/>
                <a:moveTo>
                  <a:pt x="867448" y="1206885"/>
                </a:moveTo>
                <a:lnTo>
                  <a:pt x="980594" y="1206885"/>
                </a:lnTo>
                <a:lnTo>
                  <a:pt x="980594" y="1244600"/>
                </a:lnTo>
                <a:lnTo>
                  <a:pt x="867448" y="1244600"/>
                </a:lnTo>
                <a:close/>
                <a:moveTo>
                  <a:pt x="1018309" y="1206885"/>
                </a:moveTo>
                <a:lnTo>
                  <a:pt x="1056024" y="1206885"/>
                </a:lnTo>
                <a:lnTo>
                  <a:pt x="1056024" y="1244600"/>
                </a:lnTo>
                <a:lnTo>
                  <a:pt x="1018309" y="1244600"/>
                </a:lnTo>
                <a:close/>
                <a:moveTo>
                  <a:pt x="1093739" y="1206885"/>
                </a:moveTo>
                <a:lnTo>
                  <a:pt x="1131455" y="1206885"/>
                </a:lnTo>
                <a:lnTo>
                  <a:pt x="1131455" y="1244600"/>
                </a:lnTo>
                <a:lnTo>
                  <a:pt x="1093739" y="1244600"/>
                </a:lnTo>
                <a:close/>
                <a:moveTo>
                  <a:pt x="1169170" y="1206885"/>
                </a:moveTo>
                <a:lnTo>
                  <a:pt x="1206885" y="1206885"/>
                </a:lnTo>
                <a:lnTo>
                  <a:pt x="1206885" y="1244600"/>
                </a:lnTo>
                <a:lnTo>
                  <a:pt x="1169170" y="1244600"/>
                </a:lnTo>
                <a:close/>
              </a:path>
            </a:pathLst>
          </a:custGeom>
          <a:solidFill>
            <a:srgbClr val="0B091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텍스트"/>
          <p:cNvSpPr txBox="1"/>
          <p:nvPr/>
        </p:nvSpPr>
        <p:spPr>
          <a:xfrm>
            <a:off x="2559050" y="4524375"/>
            <a:ext cx="5677222" cy="238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dirty="0">
                <a:solidFill>
                  <a:srgbClr val="EEEAFB"/>
                </a:solidFill>
                <a:latin typeface="Menlo"/>
                <a:ea typeface="Paperlogy 6 SemiBold"/>
                <a:cs typeface="Paperlogy 6 SemiBold"/>
              </a:rPr>
              <a:t>haemin001015-lgtm.github.io/running-ai-safety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59050" y="4283075"/>
            <a:ext cx="1258838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D84B6"/>
                </a:solidFill>
                <a:latin typeface="Paperlogy 6 SemiBold"/>
                <a:ea typeface="Paperlogy 6 SemiBold"/>
                <a:cs typeface="Paperlogy 6 SemiBold"/>
              </a:rPr>
              <a:t>시뮬레이션 사이트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8075761" y="4524375"/>
            <a:ext cx="2397056" cy="238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EEAFB"/>
                </a:solidFill>
                <a:latin typeface="Menlo"/>
                <a:ea typeface="Paperlogy 6 SemiBold"/>
                <a:cs typeface="Paperlogy 6 SemiBold"/>
              </a:rPr>
              <a:t>cyouthlab@naver.com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8075761" y="4283075"/>
            <a:ext cx="420638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D84B6"/>
                </a:solidFill>
                <a:latin typeface="Paperlogy 6 SemiBold"/>
                <a:ea typeface="Paperlogy 6 SemiBold"/>
                <a:cs typeface="Paperlogy 6 SemiBold"/>
              </a:rPr>
              <a:t>문의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806450" y="6415088"/>
            <a:ext cx="163274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러닝으로 만드는 AI 생활안전망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0944076" y="6415088"/>
            <a:ext cx="581174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36">
                <a:solidFill>
                  <a:srgbClr val="5E5588"/>
                </a:solidFill>
                <a:latin typeface="Paperlogy 6 SemiBold"/>
                <a:ea typeface="Paperlogy 6 SemiBold"/>
                <a:cs typeface="Paperlogy 6 SemiBold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2175</Words>
  <Application>Microsoft Macintosh PowerPoint</Application>
  <PresentationFormat>와이드스크린</PresentationFormat>
  <Paragraphs>576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9" baseType="lpstr">
      <vt:lpstr>Paperlogy 3 Light</vt:lpstr>
      <vt:lpstr>Paperlogy 7 Bold</vt:lpstr>
      <vt:lpstr>Paperlogy 6 SemiBold</vt:lpstr>
      <vt:lpstr>Arial</vt:lpstr>
      <vt:lpstr>Paperlogy 9 Black</vt:lpstr>
      <vt:lpstr>Calibri</vt:lpstr>
      <vt:lpstr>Paperlogy 4 Regular</vt:lpstr>
      <vt:lpstr>Menlo</vt:lpstr>
      <vt:lpstr>Paperlogy 8 ExtraBold</vt:lpstr>
      <vt:lpstr>Paperlogy 5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러닝으로 만드는 AI 생활안전망</dc:title>
  <dc:subject/>
  <dc:creator>중앙청년LAB × 성균관대학교 AXIS Lab</dc:creator>
  <cp:keywords/>
  <dc:description>generated using python-pptx</dc:description>
  <cp:lastModifiedBy>홍혜민</cp:lastModifiedBy>
  <cp:revision>7</cp:revision>
  <dcterms:created xsi:type="dcterms:W3CDTF">2013-01-27T09:14:16Z</dcterms:created>
  <dcterms:modified xsi:type="dcterms:W3CDTF">2026-09-12T03:49:31Z</dcterms:modified>
  <cp:category/>
</cp:coreProperties>
</file>